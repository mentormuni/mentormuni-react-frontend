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room: "I am not here to sell you a training package. I am here to show you the operating system underneath placement season." Say the three college names out loud. Two lines is all this slide owes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replaces a customer-logo slide. Do not apologise for being early — sell being early. If asked "who else uses this?", answer straight: we are signing our founding campuses this season, which is exactly why the terms on the costing slide are what they are. Never invent a customer.
Be ready to name the practitioners if challenged. If you cannot, cut the bottom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Read the three quotes and pause. Ask: "Which of these have you said out loud this year?" The moment a TPO admits one, you have earned the next twenty minutes. Land the last line hard — you are explicitly not blaming their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read all six. Ask "which two of these are true on your campus?" and let their answer steer the rest of the demo. Number six is the slide that gets you a meeting with the Director.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slide. Say the headline verbatim — it is the line you want them repeating to their Director after you leave. Go left-to-right down the six rows quickly. Everything after this is proof of the right-hand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words: Measure, Plan, Practice, See. If they remember nothing else, they remember four words. The closing line is the differentiator — every competitor does one or two of these; nobody closes the loop back to the TPO.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arrow with your hand, left to right. Then stop on the last line — it pre-empts the most common objection in a campus sale.
Say "we do not access it", never "we cannot see it". We operate the platform; the honest claim is a policy commitment, not a technical impossibility.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killer line: "You have not opened a spreadsheet, called a single HOD, or asked anyone for an update — and you already know your campus is at 64 with two students in trouble."
Then ask: "How long does it take you to get to this screen today?" Write their answer down in front of them. That is your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Kills the "we bought it and never rolled it out" fear. Nobody has to be trained to receive an email and set a password. This slide sets up the three-day onboarding promise later — flag it now so it lands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"our students will never use it" objection dies. No form, no app-store download, no training session — an email, a password, and they are in. The whole batch can be onboarded before their next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Highest-ROI screen for the TPO personally. Do not assert how long shortlisting takes them — ASK: "When Infosys asks for eighty eligible names, what does that take you today?" Then point at the CSV button and stay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slide into the student portal. "You publish once, and the system does the notifying AND the preparing." Then say "let me show you what happens on the student's phone the moment you press that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HOD buy-in is what makes a rollout survive past month two. Frame it as "we are giving your HODs something, not watching them."
Point at the 44% and the 37%: "These two will fail round one of your next drive. Today you meet them in December. Here you meet them in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12-day streak and the "Accenture in 21 days" line. "This is why they come back tomorrow."
Expect the adoption objection. Answer honestly: that is the real risk in every campus rollout, which is why the pilot is scoped to one branch and why we report weekly active students to you from week one. Do not claim a retention number we have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economics line: "How many mock interview panels can you realistically run for six hundred students? Two rounds each? This gives every student a scored round every day, and scores every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out loud: "Remember the drive you published four screens ago? This is what appeared on three hundred phones that evening. You did one thing; the system did three hundred."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quietly solves a political problem every TPO has: shortlist disputes. The criterion becomes visible and objective before the drive, not argued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TPO in India has lost a capable student to nerves in an HR round. Ask: "Have you had a student who was technically strong and still froze?" They always have, and they usually remember the name. This is the emotional close — do not rush past it into features.
If a Director asks about duty of care on a high fear score: it is a preparation tool, not a clinical assessment, the student always sees their own result, and we will align escalation wording with their student-welfare policy at onboarding.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open with the ₹8 lakh number. Put your finger on ₹2,00,000 and leave it there — that is a number a Director can approve without a tender, and it is the only number you are asking for today.
The ladder sells for you: they can see what "it worked" costs next year, and the per-student rate halves as they grow.
CRITICAL — agree the success metric here, in the room, and write it down. It must be something THE COLLEGE already tracks (round-one clearance, shortlist turnaround, students eligible on drive day), never our own readiness score. If the test is our number, a sharp Director will read it as rigged, and they will be right.
All figures are per academic year. Confirm GST treatment before you send the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that matters is three. Every campus has been burned by software that needed a committee and a semester. Say it plainly: "If we start Monday, your students are preparing by Wednesday evening."
Be straight about the one dependency: day three delivers readiness only as fast as students actually sit the baseline. We send the invites and the reminders; a word from the TPO or HOD moves it far faster. Promise the setup in three days — not that all six hundred will have finished testing by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Ask the question, then stay silent — the pause is the close.
Leave with three things written down or you did not close: the name of the branch, the success metric they chose, and a date for the provisioning call.
If they say "we will discuss internally", counter with: "Of course. What would you need from me to make that discussion a yes?" — then build the follow-up around exactly that.
SWAP THE GMAIL for a dedicated sales alias before this deck leaves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the appendix. It exists so that when someone asks "what about security?", you jump to one slide, answer it, and come back. A deck you never finish presenting reads as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rubbish a vendor the TPO personally hired. If they name an incumbent (Superset, AMCAT, CoCubes, eLitmus, Unstop, TCS iON), ask what it does well, agree, then ask what it tells them about a student who is NOT ready yet. That gap is where we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Director slide, not the TPO slide. If a Dean or Director walks in, jump here immediately — admissions is their language, readiness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only the row belonging to whoever is in the room. Reading all five is how you lose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a pen on the table and fill the middle column WITH them. A TPO who has just written six numbers in your column owns the business case; you no longer have to argue it.
For reference: an individual student pays ₹9,999 for our six-week program. The CS pilot is ₹2,000 per student. Use that anchor only after they have totalled their own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state a placement-uplift figure as a claim. Ask for their batch size, do the two-point arithmetic on paper in front of them, and let it be THEIR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 who blocks a campus deal is usually not in the room — it is the IT head or the registrar who reads the proposal later. Leave this slide with them specifically.
Say "we do not access it", never "we cannot see it", and offer to write it into the agreement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 is ours, not yours — you will never log in here. I am showing it so you know exactly where the wall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as first-line support that frees your real mentors for the students who need people. Never sell it as a human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jp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6C8E"/>
        </a:solidFill>
      </p:bgPr>
    </p:bg>
    <p:spTree>
      <p:nvGrpSpPr>
        <p:cNvPr id="1" name=""/>
        <p:cNvGrpSpPr/>
        <p:nvPr/>
      </p:nvGrpSpPr>
      <p:grpSpPr>
        <a:xfrm>
          <a:off x="0" y="0"/>
          <a:ext cx="0" cy="0"/>
          <a:chOff x="0" y="0"/>
          <a:chExt cx="0" cy="0"/>
        </a:xfrm>
      </p:grpSpPr>
      <p:sp>
        <p:nvSpPr>
          <p:cNvPr id="2" name="Shape 0"/>
          <p:cNvSpPr/>
          <p:nvPr/>
        </p:nvSpPr>
        <p:spPr>
          <a:xfrm>
            <a:off x="8595360" y="-2011680"/>
            <a:ext cx="6766560" cy="6766560"/>
          </a:xfrm>
          <a:prstGeom prst="ellipse">
            <a:avLst/>
          </a:prstGeom>
          <a:solidFill>
            <a:srgbClr val="FFFFFF">
              <a:alpha val="8000"/>
            </a:srgbClr>
          </a:solidFill>
          <a:ln/>
        </p:spPr>
      </p:sp>
      <p:sp>
        <p:nvSpPr>
          <p:cNvPr id="3" name="Shape 1"/>
          <p:cNvSpPr/>
          <p:nvPr/>
        </p:nvSpPr>
        <p:spPr>
          <a:xfrm>
            <a:off x="10058400" y="3108960"/>
            <a:ext cx="4754880" cy="4754880"/>
          </a:xfrm>
          <a:prstGeom prst="ellipse">
            <a:avLst/>
          </a:prstGeom>
          <a:solidFill>
            <a:srgbClr val="08AF94">
              <a:alpha val="20000"/>
            </a:srgbClr>
          </a:solidFill>
          <a:ln/>
        </p:spPr>
      </p:sp>
      <p:pic>
        <p:nvPicPr>
          <p:cNvPr id="4" name="Image 0" descr="/private/tmp/claude-501/-Users-rahul-Downloads-Frontend/d0ec5f7e-3815-469d-b386-d6cd0373fe94/scratchpad/logo-lg.png">    </p:cNvPr>
          <p:cNvPicPr>
            <a:picLocks noChangeAspect="1"/>
          </p:cNvPicPr>
          <p:nvPr/>
        </p:nvPicPr>
        <p:blipFill>
          <a:blip r:embed="rId1"/>
          <a:stretch>
            <a:fillRect/>
          </a:stretch>
        </p:blipFill>
        <p:spPr>
          <a:xfrm>
            <a:off x="822960" y="658368"/>
            <a:ext cx="1143000" cy="1143000"/>
          </a:xfrm>
          <a:prstGeom prst="rect">
            <a:avLst/>
          </a:prstGeom>
        </p:spPr>
      </p:pic>
      <p:sp>
        <p:nvSpPr>
          <p:cNvPr id="5" name="Text 2"/>
          <p:cNvSpPr txBox="1"/>
          <p:nvPr/>
        </p:nvSpPr>
        <p:spPr>
          <a:xfrm>
            <a:off x="822960" y="2084832"/>
            <a:ext cx="8686800" cy="1005840"/>
          </a:xfrm>
          <a:prstGeom prst="rect">
            <a:avLst/>
          </a:prstGeom>
          <a:noFill/>
          <a:ln/>
        </p:spPr>
        <p:txBody>
          <a:bodyPr wrap="square" lIns="0" tIns="0" rIns="0" bIns="0" rtlCol="0" anchor="ctr"/>
          <a:lstStyle/>
          <a:p>
            <a:pPr indent="0" marL="0">
              <a:buNone/>
            </a:pPr>
            <a:r>
              <a:rPr lang="en-US" sz="5800" b="1" dirty="0">
                <a:solidFill>
                  <a:srgbClr val="FFFFFF"/>
                </a:solidFill>
                <a:latin typeface="Calibri" pitchFamily="34" charset="0"/>
                <a:ea typeface="Calibri" pitchFamily="34" charset="-122"/>
                <a:cs typeface="Calibri" pitchFamily="34" charset="-120"/>
              </a:rPr>
              <a:t>MentorMuni</a:t>
            </a:r>
            <a:endParaRPr lang="en-US" sz="5800" dirty="0"/>
          </a:p>
        </p:txBody>
      </p:sp>
      <p:sp>
        <p:nvSpPr>
          <p:cNvPr id="6" name="Text 3"/>
          <p:cNvSpPr txBox="1"/>
          <p:nvPr/>
        </p:nvSpPr>
        <p:spPr>
          <a:xfrm>
            <a:off x="822960" y="3090672"/>
            <a:ext cx="8778240" cy="457200"/>
          </a:xfrm>
          <a:prstGeom prst="rect">
            <a:avLst/>
          </a:prstGeom>
          <a:noFill/>
          <a:ln/>
        </p:spPr>
        <p:txBody>
          <a:bodyPr wrap="square" lIns="0" tIns="0" rIns="0" bIns="0" rtlCol="0" anchor="ctr"/>
          <a:lstStyle/>
          <a:p>
            <a:pPr indent="0" marL="0">
              <a:buNone/>
            </a:pPr>
            <a:r>
              <a:rPr lang="en-US" sz="2300" b="1" dirty="0">
                <a:solidFill>
                  <a:srgbClr val="A8E5D6"/>
                </a:solidFill>
                <a:latin typeface="Calibri" pitchFamily="34" charset="0"/>
                <a:ea typeface="Calibri" pitchFamily="34" charset="-122"/>
                <a:cs typeface="Calibri" pitchFamily="34" charset="-120"/>
              </a:rPr>
              <a:t>Placement Platform for Engineering Colleges</a:t>
            </a:r>
            <a:endParaRPr lang="en-US" sz="2300" dirty="0"/>
          </a:p>
        </p:txBody>
      </p:sp>
      <p:sp>
        <p:nvSpPr>
          <p:cNvPr id="7" name="Text 4"/>
          <p:cNvSpPr txBox="1"/>
          <p:nvPr/>
        </p:nvSpPr>
        <p:spPr>
          <a:xfrm>
            <a:off x="822960" y="3712464"/>
            <a:ext cx="8138160" cy="548640"/>
          </a:xfrm>
          <a:prstGeom prst="rect">
            <a:avLst/>
          </a:prstGeom>
          <a:noFill/>
          <a:ln/>
        </p:spPr>
        <p:txBody>
          <a:bodyPr wrap="square" lIns="0" tIns="0" rIns="0" bIns="0" rtlCol="0" anchor="ctr"/>
          <a:lstStyle/>
          <a:p>
            <a:pPr indent="0" marL="0">
              <a:lnSpc>
                <a:spcPts val="2400"/>
              </a:lnSpc>
              <a:buNone/>
            </a:pPr>
            <a:r>
              <a:rPr lang="en-US" sz="1600" dirty="0">
                <a:solidFill>
                  <a:srgbClr val="C4E4F2"/>
                </a:solidFill>
                <a:latin typeface="Calibri" pitchFamily="34" charset="0"/>
                <a:ea typeface="Calibri" pitchFamily="34" charset="-122"/>
                <a:cs typeface="Calibri" pitchFamily="34" charset="-120"/>
              </a:rPr>
              <a:t>We make every student drive-ready — and give your placement office one live number to run the season on.</a:t>
            </a:r>
            <a:endParaRPr lang="en-US" sz="1600" dirty="0"/>
          </a:p>
        </p:txBody>
      </p:sp>
      <p:sp>
        <p:nvSpPr>
          <p:cNvPr id="8" name="Shape 5"/>
          <p:cNvSpPr/>
          <p:nvPr/>
        </p:nvSpPr>
        <p:spPr>
          <a:xfrm>
            <a:off x="822960" y="4617720"/>
            <a:ext cx="7589520" cy="0"/>
          </a:xfrm>
          <a:prstGeom prst="line">
            <a:avLst/>
          </a:prstGeom>
          <a:noFill/>
          <a:ln w="12700">
            <a:solidFill>
              <a:srgbClr val="3E90AC"/>
            </a:solidFill>
            <a:prstDash val="solid"/>
          </a:ln>
        </p:spPr>
      </p:sp>
      <p:sp>
        <p:nvSpPr>
          <p:cNvPr id="9" name="Text 6"/>
          <p:cNvSpPr txBox="1"/>
          <p:nvPr/>
        </p:nvSpPr>
        <p:spPr>
          <a:xfrm>
            <a:off x="822960" y="4846320"/>
            <a:ext cx="1828800" cy="219456"/>
          </a:xfrm>
          <a:prstGeom prst="rect">
            <a:avLst/>
          </a:prstGeom>
          <a:noFill/>
          <a:ln/>
        </p:spPr>
        <p:txBody>
          <a:bodyPr wrap="square" lIns="0" tIns="0" rIns="0" bIns="0" rtlCol="0" anchor="ctr"/>
          <a:lstStyle/>
          <a:p>
            <a:pPr indent="0" marL="0">
              <a:buNone/>
            </a:pPr>
            <a:r>
              <a:rPr lang="en-US" sz="900" b="1" spc="160" kern="0" dirty="0">
                <a:solidFill>
                  <a:srgbClr val="A8E5D6"/>
                </a:solidFill>
                <a:latin typeface="Calibri" pitchFamily="34" charset="0"/>
                <a:ea typeface="Calibri" pitchFamily="34" charset="-122"/>
                <a:cs typeface="Calibri" pitchFamily="34" charset="-120"/>
              </a:rPr>
              <a:t>PREPARED FOR</a:t>
            </a:r>
            <a:endParaRPr lang="en-US" sz="900" dirty="0"/>
          </a:p>
        </p:txBody>
      </p:sp>
      <p:sp>
        <p:nvSpPr>
          <p:cNvPr id="10" name="Text 7"/>
          <p:cNvSpPr txBox="1"/>
          <p:nvPr/>
        </p:nvSpPr>
        <p:spPr>
          <a:xfrm>
            <a:off x="822960" y="5084064"/>
            <a:ext cx="18288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Training &amp; Placement Office</a:t>
            </a:r>
            <a:endParaRPr lang="en-US" sz="1200" dirty="0"/>
          </a:p>
        </p:txBody>
      </p:sp>
      <p:sp>
        <p:nvSpPr>
          <p:cNvPr id="11" name="Text 8"/>
          <p:cNvSpPr txBox="1"/>
          <p:nvPr/>
        </p:nvSpPr>
        <p:spPr>
          <a:xfrm>
            <a:off x="2761488" y="4846320"/>
            <a:ext cx="1828800" cy="219456"/>
          </a:xfrm>
          <a:prstGeom prst="rect">
            <a:avLst/>
          </a:prstGeom>
          <a:noFill/>
          <a:ln/>
        </p:spPr>
        <p:txBody>
          <a:bodyPr wrap="square" lIns="0" tIns="0" rIns="0" bIns="0" rtlCol="0" anchor="ctr"/>
          <a:lstStyle/>
          <a:p>
            <a:pPr indent="0" marL="0">
              <a:buNone/>
            </a:pPr>
            <a:r>
              <a:rPr lang="en-US" sz="900" b="1" spc="160" kern="0" dirty="0">
                <a:solidFill>
                  <a:srgbClr val="A8E5D6"/>
                </a:solidFill>
                <a:latin typeface="Calibri" pitchFamily="34" charset="0"/>
                <a:ea typeface="Calibri" pitchFamily="34" charset="-122"/>
                <a:cs typeface="Calibri" pitchFamily="34" charset="-120"/>
              </a:rPr>
              <a:t>CAMPUSES</a:t>
            </a:r>
            <a:endParaRPr lang="en-US" sz="900" dirty="0"/>
          </a:p>
        </p:txBody>
      </p:sp>
      <p:sp>
        <p:nvSpPr>
          <p:cNvPr id="12" name="Text 9"/>
          <p:cNvSpPr txBox="1"/>
          <p:nvPr/>
        </p:nvSpPr>
        <p:spPr>
          <a:xfrm>
            <a:off x="2761488" y="5084064"/>
            <a:ext cx="18288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Medi-Caps · IIST · Shri Vaishnav</a:t>
            </a:r>
            <a:endParaRPr lang="en-US" sz="1200" dirty="0"/>
          </a:p>
        </p:txBody>
      </p:sp>
      <p:sp>
        <p:nvSpPr>
          <p:cNvPr id="13" name="Text 10"/>
          <p:cNvSpPr txBox="1"/>
          <p:nvPr/>
        </p:nvSpPr>
        <p:spPr>
          <a:xfrm>
            <a:off x="4700016" y="4846320"/>
            <a:ext cx="1828800" cy="219456"/>
          </a:xfrm>
          <a:prstGeom prst="rect">
            <a:avLst/>
          </a:prstGeom>
          <a:noFill/>
          <a:ln/>
        </p:spPr>
        <p:txBody>
          <a:bodyPr wrap="square" lIns="0" tIns="0" rIns="0" bIns="0" rtlCol="0" anchor="ctr"/>
          <a:lstStyle/>
          <a:p>
            <a:pPr indent="0" marL="0">
              <a:buNone/>
            </a:pPr>
            <a:r>
              <a:rPr lang="en-US" sz="900" b="1" spc="160" kern="0" dirty="0">
                <a:solidFill>
                  <a:srgbClr val="A8E5D6"/>
                </a:solidFill>
                <a:latin typeface="Calibri" pitchFamily="34" charset="0"/>
                <a:ea typeface="Calibri" pitchFamily="34" charset="-122"/>
                <a:cs typeface="Calibri" pitchFamily="34" charset="-120"/>
              </a:rPr>
              <a:t>CITY</a:t>
            </a:r>
            <a:endParaRPr lang="en-US" sz="900" dirty="0"/>
          </a:p>
        </p:txBody>
      </p:sp>
      <p:sp>
        <p:nvSpPr>
          <p:cNvPr id="14" name="Text 11"/>
          <p:cNvSpPr txBox="1"/>
          <p:nvPr/>
        </p:nvSpPr>
        <p:spPr>
          <a:xfrm>
            <a:off x="4700016" y="5084064"/>
            <a:ext cx="18288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Indore, Madhya Pradesh</a:t>
            </a:r>
            <a:endParaRPr lang="en-US" sz="1200" dirty="0"/>
          </a:p>
        </p:txBody>
      </p:sp>
      <p:sp>
        <p:nvSpPr>
          <p:cNvPr id="15" name="Text 12"/>
          <p:cNvSpPr txBox="1"/>
          <p:nvPr/>
        </p:nvSpPr>
        <p:spPr>
          <a:xfrm>
            <a:off x="6638544" y="4846320"/>
            <a:ext cx="1828800" cy="219456"/>
          </a:xfrm>
          <a:prstGeom prst="rect">
            <a:avLst/>
          </a:prstGeom>
          <a:noFill/>
          <a:ln/>
        </p:spPr>
        <p:txBody>
          <a:bodyPr wrap="square" lIns="0" tIns="0" rIns="0" bIns="0" rtlCol="0" anchor="ctr"/>
          <a:lstStyle/>
          <a:p>
            <a:pPr indent="0" marL="0">
              <a:buNone/>
            </a:pPr>
            <a:r>
              <a:rPr lang="en-US" sz="900" b="1" spc="160" kern="0" dirty="0">
                <a:solidFill>
                  <a:srgbClr val="A8E5D6"/>
                </a:solidFill>
                <a:latin typeface="Calibri" pitchFamily="34" charset="0"/>
                <a:ea typeface="Calibri" pitchFamily="34" charset="-122"/>
                <a:cs typeface="Calibri" pitchFamily="34" charset="-120"/>
              </a:rPr>
              <a:t>SESSION</a:t>
            </a:r>
            <a:endParaRPr lang="en-US" sz="900" dirty="0"/>
          </a:p>
        </p:txBody>
      </p:sp>
      <p:sp>
        <p:nvSpPr>
          <p:cNvPr id="16" name="Text 13"/>
          <p:cNvSpPr txBox="1"/>
          <p:nvPr/>
        </p:nvSpPr>
        <p:spPr>
          <a:xfrm>
            <a:off x="6638544" y="5084064"/>
            <a:ext cx="18288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Live product walkthrough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7F1F7"/>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384048"/>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WHY MENTORMUNI</a:t>
            </a:r>
            <a:endParaRPr lang="en-US" sz="1150" dirty="0"/>
          </a:p>
        </p:txBody>
      </p:sp>
      <p:sp>
        <p:nvSpPr>
          <p:cNvPr id="6" name="Text 3"/>
          <p:cNvSpPr txBox="1"/>
          <p:nvPr/>
        </p:nvSpPr>
        <p:spPr>
          <a:xfrm>
            <a:off x="640080" y="658368"/>
            <a:ext cx="8595360" cy="1371600"/>
          </a:xfrm>
          <a:prstGeom prst="rect">
            <a:avLst/>
          </a:prstGeom>
          <a:noFill/>
          <a:ln/>
        </p:spPr>
        <p:txBody>
          <a:bodyPr wrap="square" lIns="0" tIns="0" rIns="0" bIns="0" rtlCol="0" anchor="t"/>
          <a:lstStyle/>
          <a:p>
            <a:pPr indent="0" marL="0">
              <a:buNone/>
            </a:pPr>
            <a:r>
              <a:rPr lang="en-US" sz="3000" b="1" dirty="0">
                <a:solidFill>
                  <a:srgbClr val="0B4257"/>
                </a:solidFill>
                <a:latin typeface="Calibri" pitchFamily="34" charset="0"/>
                <a:ea typeface="Calibri" pitchFamily="34" charset="-122"/>
                <a:cs typeface="Calibri" pitchFamily="34" charset="-120"/>
              </a:rPr>
              <a:t>Two years ago this product</a:t>
            </a:r>
            <a:endParaRPr lang="en-US" sz="3000" dirty="0"/>
          </a:p>
          <a:p>
            <a:pPr indent="0" marL="0">
              <a:buNone/>
            </a:pPr>
            <a:r>
              <a:rPr lang="en-US" sz="3000" b="1" dirty="0">
                <a:solidFill>
                  <a:srgbClr val="0B4257"/>
                </a:solidFill>
                <a:latin typeface="Calibri" pitchFamily="34" charset="0"/>
                <a:ea typeface="Calibri" pitchFamily="34" charset="-122"/>
                <a:cs typeface="Calibri" pitchFamily="34" charset="-120"/>
              </a:rPr>
              <a:t>was not buildable.</a:t>
            </a:r>
            <a:endParaRPr lang="en-US" sz="3000" dirty="0"/>
          </a:p>
        </p:txBody>
      </p:sp>
      <p:sp>
        <p:nvSpPr>
          <p:cNvPr id="7" name="Shape 4"/>
          <p:cNvSpPr/>
          <p:nvPr/>
        </p:nvSpPr>
        <p:spPr>
          <a:xfrm>
            <a:off x="640080" y="2331720"/>
            <a:ext cx="3429000" cy="256032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8" name="Shape 5"/>
          <p:cNvSpPr/>
          <p:nvPr/>
        </p:nvSpPr>
        <p:spPr>
          <a:xfrm>
            <a:off x="932688" y="2578608"/>
            <a:ext cx="384048" cy="384048"/>
          </a:xfrm>
          <a:prstGeom prst="ellipse">
            <a:avLst/>
          </a:prstGeom>
          <a:solidFill>
            <a:srgbClr val="08AF94"/>
          </a:solidFill>
          <a:ln/>
        </p:spPr>
      </p:sp>
      <p:sp>
        <p:nvSpPr>
          <p:cNvPr id="9" name="Text 6"/>
          <p:cNvSpPr txBox="1"/>
          <p:nvPr/>
        </p:nvSpPr>
        <p:spPr>
          <a:xfrm>
            <a:off x="932688" y="257860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7"/>
          <p:cNvSpPr txBox="1"/>
          <p:nvPr/>
        </p:nvSpPr>
        <p:spPr>
          <a:xfrm>
            <a:off x="932688" y="3090672"/>
            <a:ext cx="2834640" cy="329184"/>
          </a:xfrm>
          <a:prstGeom prst="rect">
            <a:avLst/>
          </a:prstGeom>
          <a:noFill/>
          <a:ln/>
        </p:spPr>
        <p:txBody>
          <a:bodyPr wrap="square" lIns="0" tIns="0" rIns="0" bIns="0" rtlCol="0" anchor="ctr"/>
          <a:lstStyle/>
          <a:p>
            <a:pPr indent="0" marL="0">
              <a:buNone/>
            </a:pPr>
            <a:r>
              <a:rPr lang="en-US" sz="1600" b="1" dirty="0">
                <a:solidFill>
                  <a:srgbClr val="0B4257"/>
                </a:solidFill>
                <a:latin typeface="Calibri" pitchFamily="34" charset="0"/>
                <a:ea typeface="Calibri" pitchFamily="34" charset="-122"/>
                <a:cs typeface="Calibri" pitchFamily="34" charset="-120"/>
              </a:rPr>
              <a:t>What changed</a:t>
            </a:r>
            <a:endParaRPr lang="en-US" sz="1600" dirty="0"/>
          </a:p>
        </p:txBody>
      </p:sp>
      <p:sp>
        <p:nvSpPr>
          <p:cNvPr id="11" name="Text 8"/>
          <p:cNvSpPr txBox="1"/>
          <p:nvPr/>
        </p:nvSpPr>
        <p:spPr>
          <a:xfrm>
            <a:off x="932688" y="3474720"/>
            <a:ext cx="2880360" cy="1298448"/>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Real-time voice AI matured. A scored, spoken mock interview for every student, every day, was economically impossible eighteen months ago. It is possible now.</a:t>
            </a:r>
            <a:endParaRPr lang="en-US" sz="1150" dirty="0"/>
          </a:p>
        </p:txBody>
      </p:sp>
      <p:sp>
        <p:nvSpPr>
          <p:cNvPr id="12" name="Shape 9"/>
          <p:cNvSpPr/>
          <p:nvPr/>
        </p:nvSpPr>
        <p:spPr>
          <a:xfrm>
            <a:off x="4343400" y="2331720"/>
            <a:ext cx="3429000" cy="256032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3" name="Shape 10"/>
          <p:cNvSpPr/>
          <p:nvPr/>
        </p:nvSpPr>
        <p:spPr>
          <a:xfrm>
            <a:off x="4636008" y="2578608"/>
            <a:ext cx="384048" cy="384048"/>
          </a:xfrm>
          <a:prstGeom prst="ellipse">
            <a:avLst/>
          </a:prstGeom>
          <a:solidFill>
            <a:srgbClr val="0991BE"/>
          </a:solidFill>
          <a:ln/>
        </p:spPr>
      </p:sp>
      <p:sp>
        <p:nvSpPr>
          <p:cNvPr id="14" name="Text 11"/>
          <p:cNvSpPr txBox="1"/>
          <p:nvPr/>
        </p:nvSpPr>
        <p:spPr>
          <a:xfrm>
            <a:off x="4636008" y="257860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2"/>
          <p:cNvSpPr txBox="1"/>
          <p:nvPr/>
        </p:nvSpPr>
        <p:spPr>
          <a:xfrm>
            <a:off x="4636008" y="3090672"/>
            <a:ext cx="2834640" cy="329184"/>
          </a:xfrm>
          <a:prstGeom prst="rect">
            <a:avLst/>
          </a:prstGeom>
          <a:noFill/>
          <a:ln/>
        </p:spPr>
        <p:txBody>
          <a:bodyPr wrap="square" lIns="0" tIns="0" rIns="0" bIns="0" rtlCol="0" anchor="ctr"/>
          <a:lstStyle/>
          <a:p>
            <a:pPr indent="0" marL="0">
              <a:buNone/>
            </a:pPr>
            <a:r>
              <a:rPr lang="en-US" sz="1600" b="1" dirty="0">
                <a:solidFill>
                  <a:srgbClr val="0B4257"/>
                </a:solidFill>
                <a:latin typeface="Calibri" pitchFamily="34" charset="0"/>
                <a:ea typeface="Calibri" pitchFamily="34" charset="-122"/>
                <a:cs typeface="Calibri" pitchFamily="34" charset="-120"/>
              </a:rPr>
              <a:t>What recruiters changed</a:t>
            </a:r>
            <a:endParaRPr lang="en-US" sz="1600" dirty="0"/>
          </a:p>
        </p:txBody>
      </p:sp>
      <p:sp>
        <p:nvSpPr>
          <p:cNvPr id="16" name="Text 13"/>
          <p:cNvSpPr txBox="1"/>
          <p:nvPr/>
        </p:nvSpPr>
        <p:spPr>
          <a:xfrm>
            <a:off x="4636008" y="3474720"/>
            <a:ext cx="2880360" cy="1298448"/>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Aptitude, coding and communication are filtered before a human ever sees your student. The elimination happens in rounds you cannot currently see or measure.</a:t>
            </a:r>
            <a:endParaRPr lang="en-US" sz="1150" dirty="0"/>
          </a:p>
        </p:txBody>
      </p:sp>
      <p:sp>
        <p:nvSpPr>
          <p:cNvPr id="17" name="Shape 14"/>
          <p:cNvSpPr/>
          <p:nvPr/>
        </p:nvSpPr>
        <p:spPr>
          <a:xfrm>
            <a:off x="8046720" y="2331720"/>
            <a:ext cx="3429000" cy="256032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8" name="Shape 15"/>
          <p:cNvSpPr/>
          <p:nvPr/>
        </p:nvSpPr>
        <p:spPr>
          <a:xfrm>
            <a:off x="8339328" y="2578608"/>
            <a:ext cx="384048" cy="384048"/>
          </a:xfrm>
          <a:prstGeom prst="ellipse">
            <a:avLst/>
          </a:prstGeom>
          <a:solidFill>
            <a:srgbClr val="C2660A"/>
          </a:solidFill>
          <a:ln/>
        </p:spPr>
      </p:sp>
      <p:sp>
        <p:nvSpPr>
          <p:cNvPr id="19" name="Text 16"/>
          <p:cNvSpPr txBox="1"/>
          <p:nvPr/>
        </p:nvSpPr>
        <p:spPr>
          <a:xfrm>
            <a:off x="8339328" y="257860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0" name="Text 17"/>
          <p:cNvSpPr txBox="1"/>
          <p:nvPr/>
        </p:nvSpPr>
        <p:spPr>
          <a:xfrm>
            <a:off x="8339328" y="3090672"/>
            <a:ext cx="2834640" cy="329184"/>
          </a:xfrm>
          <a:prstGeom prst="rect">
            <a:avLst/>
          </a:prstGeom>
          <a:noFill/>
          <a:ln/>
        </p:spPr>
        <p:txBody>
          <a:bodyPr wrap="square" lIns="0" tIns="0" rIns="0" bIns="0" rtlCol="0" anchor="ctr"/>
          <a:lstStyle/>
          <a:p>
            <a:pPr indent="0" marL="0">
              <a:buNone/>
            </a:pPr>
            <a:r>
              <a:rPr lang="en-US" sz="1600" b="1" dirty="0">
                <a:solidFill>
                  <a:srgbClr val="0B4257"/>
                </a:solidFill>
                <a:latin typeface="Calibri" pitchFamily="34" charset="0"/>
                <a:ea typeface="Calibri" pitchFamily="34" charset="-122"/>
                <a:cs typeface="Calibri" pitchFamily="34" charset="-120"/>
              </a:rPr>
              <a:t>What that means for you</a:t>
            </a:r>
            <a:endParaRPr lang="en-US" sz="1600" dirty="0"/>
          </a:p>
        </p:txBody>
      </p:sp>
      <p:sp>
        <p:nvSpPr>
          <p:cNvPr id="21" name="Text 18"/>
          <p:cNvSpPr txBox="1"/>
          <p:nvPr/>
        </p:nvSpPr>
        <p:spPr>
          <a:xfrm>
            <a:off x="8339328" y="3474720"/>
            <a:ext cx="2880360" cy="1298448"/>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Every serious campus will run a placement OS within three years. The question is whether yours starts this season or after two more batches graduate.</a:t>
            </a:r>
            <a:endParaRPr lang="en-US" sz="1150" dirty="0"/>
          </a:p>
        </p:txBody>
      </p:sp>
      <p:sp>
        <p:nvSpPr>
          <p:cNvPr id="22" name="Shape 19"/>
          <p:cNvSpPr/>
          <p:nvPr/>
        </p:nvSpPr>
        <p:spPr>
          <a:xfrm>
            <a:off x="640080" y="5138928"/>
            <a:ext cx="10908792" cy="822960"/>
          </a:xfrm>
          <a:prstGeom prst="roundRect">
            <a:avLst>
              <a:gd name="adj" fmla="val 6667"/>
            </a:avLst>
          </a:prstGeom>
          <a:solidFill>
            <a:srgbClr val="0A6C8E"/>
          </a:solidFill>
          <a:ln/>
        </p:spPr>
      </p:sp>
      <p:sp>
        <p:nvSpPr>
          <p:cNvPr id="23" name="Text 20"/>
          <p:cNvSpPr txBox="1"/>
          <p:nvPr/>
        </p:nvSpPr>
        <p:spPr>
          <a:xfrm>
            <a:off x="960120" y="5138928"/>
            <a:ext cx="10241280" cy="8229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Built with industry practitioners — the assessments and mock rounds are designed around what actually eliminates students in Indian campus drives, not around a syllabus.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7F1F7"/>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566928"/>
            <a:ext cx="8229600" cy="274320"/>
          </a:xfrm>
          <a:prstGeom prst="rect">
            <a:avLst/>
          </a:prstGeom>
          <a:noFill/>
          <a:ln/>
        </p:spPr>
        <p:txBody>
          <a:bodyPr wrap="square" lIns="0" tIns="0" rIns="0" bIns="0" rtlCol="0" anchor="ctr"/>
          <a:lstStyle/>
          <a:p>
            <a:pPr indent="0" marL="0">
              <a:buNone/>
            </a:pPr>
            <a:r>
              <a:rPr lang="en-US" sz="1150" b="1" spc="260" kern="0" dirty="0">
                <a:solidFill>
                  <a:srgbClr val="B85C00"/>
                </a:solidFill>
                <a:latin typeface="Calibri" pitchFamily="34" charset="0"/>
                <a:ea typeface="Calibri" pitchFamily="34" charset="-122"/>
                <a:cs typeface="Calibri" pitchFamily="34" charset="-120"/>
              </a:rPr>
              <a:t>THE PROBLEM IN COLLEGES TODAY</a:t>
            </a:r>
            <a:endParaRPr lang="en-US" sz="1150" dirty="0"/>
          </a:p>
        </p:txBody>
      </p:sp>
      <p:sp>
        <p:nvSpPr>
          <p:cNvPr id="6" name="Text 3"/>
          <p:cNvSpPr txBox="1"/>
          <p:nvPr/>
        </p:nvSpPr>
        <p:spPr>
          <a:xfrm>
            <a:off x="640080" y="896112"/>
            <a:ext cx="8595360" cy="1554480"/>
          </a:xfrm>
          <a:prstGeom prst="rect">
            <a:avLst/>
          </a:prstGeom>
          <a:noFill/>
          <a:ln/>
        </p:spPr>
        <p:txBody>
          <a:bodyPr wrap="square" lIns="0" tIns="0" rIns="0" bIns="0" rtlCol="0" anchor="t"/>
          <a:lstStyle/>
          <a:p>
            <a:pPr indent="0" marL="0">
              <a:buNone/>
            </a:pPr>
            <a:r>
              <a:rPr lang="en-US" sz="3200" b="1" dirty="0">
                <a:solidFill>
                  <a:srgbClr val="0B4257"/>
                </a:solidFill>
                <a:latin typeface="Calibri" pitchFamily="34" charset="0"/>
                <a:ea typeface="Calibri" pitchFamily="34" charset="-122"/>
                <a:cs typeface="Calibri" pitchFamily="34" charset="-120"/>
              </a:rPr>
              <a:t>The drive is in 21 days.</a:t>
            </a:r>
            <a:endParaRPr lang="en-US" sz="3200" dirty="0"/>
          </a:p>
          <a:p>
            <a:pPr indent="0" marL="0">
              <a:buNone/>
            </a:pPr>
            <a:r>
              <a:rPr lang="en-US" sz="3200" b="1" dirty="0">
                <a:solidFill>
                  <a:srgbClr val="0B4257"/>
                </a:solidFill>
                <a:latin typeface="Calibri" pitchFamily="34" charset="0"/>
                <a:ea typeface="Calibri" pitchFamily="34" charset="-122"/>
                <a:cs typeface="Calibri" pitchFamily="34" charset="-120"/>
              </a:rPr>
              <a:t>Who on this campus is actually ready?</a:t>
            </a:r>
            <a:endParaRPr lang="en-US" sz="3200" dirty="0"/>
          </a:p>
        </p:txBody>
      </p:sp>
      <p:sp>
        <p:nvSpPr>
          <p:cNvPr id="7" name="Shape 4"/>
          <p:cNvSpPr/>
          <p:nvPr/>
        </p:nvSpPr>
        <p:spPr>
          <a:xfrm>
            <a:off x="640080" y="2880360"/>
            <a:ext cx="3429000" cy="2148840"/>
          </a:xfrm>
          <a:prstGeom prst="roundRect">
            <a:avLst>
              <a:gd name="adj" fmla="val 1489"/>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8" name="Shape 5"/>
          <p:cNvSpPr/>
          <p:nvPr/>
        </p:nvSpPr>
        <p:spPr>
          <a:xfrm>
            <a:off x="932688" y="3154680"/>
            <a:ext cx="146304" cy="146304"/>
          </a:xfrm>
          <a:prstGeom prst="ellipse">
            <a:avLst/>
          </a:prstGeom>
          <a:solidFill>
            <a:srgbClr val="B85C00"/>
          </a:solidFill>
          <a:ln/>
        </p:spPr>
      </p:sp>
      <p:sp>
        <p:nvSpPr>
          <p:cNvPr id="9" name="Text 6"/>
          <p:cNvSpPr txBox="1"/>
          <p:nvPr/>
        </p:nvSpPr>
        <p:spPr>
          <a:xfrm>
            <a:off x="932688" y="3401568"/>
            <a:ext cx="2834640" cy="914400"/>
          </a:xfrm>
          <a:prstGeom prst="rect">
            <a:avLst/>
          </a:prstGeom>
          <a:noFill/>
          <a:ln/>
        </p:spPr>
        <p:txBody>
          <a:bodyPr wrap="square" lIns="0" tIns="0" rIns="0" bIns="0" rtlCol="0" anchor="ctr"/>
          <a:lstStyle/>
          <a:p>
            <a:pPr indent="0" marL="0">
              <a:lnSpc>
                <a:spcPts val="2100"/>
              </a:lnSpc>
              <a:buNone/>
            </a:pPr>
            <a:r>
              <a:rPr lang="en-US" sz="1600" b="1" dirty="0">
                <a:solidFill>
                  <a:srgbClr val="0B4257"/>
                </a:solidFill>
                <a:latin typeface="Calibri" pitchFamily="34" charset="0"/>
                <a:ea typeface="Calibri" pitchFamily="34" charset="-122"/>
                <a:cs typeface="Calibri" pitchFamily="34" charset="-120"/>
              </a:rPr>
              <a:t>“We will know after the first round.”</a:t>
            </a:r>
            <a:endParaRPr lang="en-US" sz="1600" dirty="0"/>
          </a:p>
        </p:txBody>
      </p:sp>
      <p:sp>
        <p:nvSpPr>
          <p:cNvPr id="10" name="Text 7"/>
          <p:cNvSpPr txBox="1"/>
          <p:nvPr/>
        </p:nvSpPr>
        <p:spPr>
          <a:xfrm>
            <a:off x="932688" y="4315968"/>
            <a:ext cx="2834640" cy="548640"/>
          </a:xfrm>
          <a:prstGeom prst="rect">
            <a:avLst/>
          </a:prstGeom>
          <a:noFill/>
          <a:ln/>
        </p:spPr>
        <p:txBody>
          <a:bodyPr wrap="square" lIns="0" tIns="0" rIns="0" bIns="0" rtlCol="0" anchor="ctr"/>
          <a:lstStyle/>
          <a:p>
            <a:pPr indent="0" marL="0">
              <a:lnSpc>
                <a:spcPts val="1700"/>
              </a:lnSpc>
              <a:buNone/>
            </a:pPr>
            <a:r>
              <a:rPr lang="en-US" sz="1250" dirty="0">
                <a:solidFill>
                  <a:srgbClr val="5A7482"/>
                </a:solidFill>
                <a:latin typeface="Calibri" pitchFamily="34" charset="0"/>
                <a:ea typeface="Calibri" pitchFamily="34" charset="-122"/>
                <a:cs typeface="Calibri" pitchFamily="34" charset="-120"/>
              </a:rPr>
              <a:t>That is three weeks too late to fix anything.</a:t>
            </a:r>
            <a:endParaRPr lang="en-US" sz="1250" dirty="0"/>
          </a:p>
        </p:txBody>
      </p:sp>
      <p:sp>
        <p:nvSpPr>
          <p:cNvPr id="11" name="Shape 8"/>
          <p:cNvSpPr/>
          <p:nvPr/>
        </p:nvSpPr>
        <p:spPr>
          <a:xfrm>
            <a:off x="4343400" y="2880360"/>
            <a:ext cx="3429000" cy="2148840"/>
          </a:xfrm>
          <a:prstGeom prst="roundRect">
            <a:avLst>
              <a:gd name="adj" fmla="val 1489"/>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2" name="Shape 9"/>
          <p:cNvSpPr/>
          <p:nvPr/>
        </p:nvSpPr>
        <p:spPr>
          <a:xfrm>
            <a:off x="4636008" y="3154680"/>
            <a:ext cx="146304" cy="146304"/>
          </a:xfrm>
          <a:prstGeom prst="ellipse">
            <a:avLst/>
          </a:prstGeom>
          <a:solidFill>
            <a:srgbClr val="C2660A"/>
          </a:solidFill>
          <a:ln/>
        </p:spPr>
      </p:sp>
      <p:sp>
        <p:nvSpPr>
          <p:cNvPr id="13" name="Text 10"/>
          <p:cNvSpPr txBox="1"/>
          <p:nvPr/>
        </p:nvSpPr>
        <p:spPr>
          <a:xfrm>
            <a:off x="4636008" y="3401568"/>
            <a:ext cx="2834640" cy="914400"/>
          </a:xfrm>
          <a:prstGeom prst="rect">
            <a:avLst/>
          </a:prstGeom>
          <a:noFill/>
          <a:ln/>
        </p:spPr>
        <p:txBody>
          <a:bodyPr wrap="square" lIns="0" tIns="0" rIns="0" bIns="0" rtlCol="0" anchor="ctr"/>
          <a:lstStyle/>
          <a:p>
            <a:pPr indent="0" marL="0">
              <a:lnSpc>
                <a:spcPts val="2100"/>
              </a:lnSpc>
              <a:buNone/>
            </a:pPr>
            <a:r>
              <a:rPr lang="en-US" sz="1600" b="1" dirty="0">
                <a:solidFill>
                  <a:srgbClr val="0B4257"/>
                </a:solidFill>
                <a:latin typeface="Calibri" pitchFamily="34" charset="0"/>
                <a:ea typeface="Calibri" pitchFamily="34" charset="-122"/>
                <a:cs typeface="Calibri" pitchFamily="34" charset="-120"/>
              </a:rPr>
              <a:t>“The HODs said their students are fine.”</a:t>
            </a:r>
            <a:endParaRPr lang="en-US" sz="1600" dirty="0"/>
          </a:p>
        </p:txBody>
      </p:sp>
      <p:sp>
        <p:nvSpPr>
          <p:cNvPr id="14" name="Text 11"/>
          <p:cNvSpPr txBox="1"/>
          <p:nvPr/>
        </p:nvSpPr>
        <p:spPr>
          <a:xfrm>
            <a:off x="4636008" y="4315968"/>
            <a:ext cx="2834640" cy="548640"/>
          </a:xfrm>
          <a:prstGeom prst="rect">
            <a:avLst/>
          </a:prstGeom>
          <a:noFill/>
          <a:ln/>
        </p:spPr>
        <p:txBody>
          <a:bodyPr wrap="square" lIns="0" tIns="0" rIns="0" bIns="0" rtlCol="0" anchor="ctr"/>
          <a:lstStyle/>
          <a:p>
            <a:pPr indent="0" marL="0">
              <a:lnSpc>
                <a:spcPts val="1700"/>
              </a:lnSpc>
              <a:buNone/>
            </a:pPr>
            <a:r>
              <a:rPr lang="en-US" sz="1250" dirty="0">
                <a:solidFill>
                  <a:srgbClr val="5A7482"/>
                </a:solidFill>
                <a:latin typeface="Calibri" pitchFamily="34" charset="0"/>
                <a:ea typeface="Calibri" pitchFamily="34" charset="-122"/>
                <a:cs typeface="Calibri" pitchFamily="34" charset="-120"/>
              </a:rPr>
              <a:t>Said from memory, not from data.</a:t>
            </a:r>
            <a:endParaRPr lang="en-US" sz="1250" dirty="0"/>
          </a:p>
        </p:txBody>
      </p:sp>
      <p:sp>
        <p:nvSpPr>
          <p:cNvPr id="15" name="Shape 12"/>
          <p:cNvSpPr/>
          <p:nvPr/>
        </p:nvSpPr>
        <p:spPr>
          <a:xfrm>
            <a:off x="8046720" y="2880360"/>
            <a:ext cx="3429000" cy="2148840"/>
          </a:xfrm>
          <a:prstGeom prst="roundRect">
            <a:avLst>
              <a:gd name="adj" fmla="val 1489"/>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6" name="Shape 13"/>
          <p:cNvSpPr/>
          <p:nvPr/>
        </p:nvSpPr>
        <p:spPr>
          <a:xfrm>
            <a:off x="8339328" y="3154680"/>
            <a:ext cx="146304" cy="146304"/>
          </a:xfrm>
          <a:prstGeom prst="ellipse">
            <a:avLst/>
          </a:prstGeom>
          <a:solidFill>
            <a:srgbClr val="0991BE"/>
          </a:solidFill>
          <a:ln/>
        </p:spPr>
      </p:sp>
      <p:sp>
        <p:nvSpPr>
          <p:cNvPr id="17" name="Text 14"/>
          <p:cNvSpPr txBox="1"/>
          <p:nvPr/>
        </p:nvSpPr>
        <p:spPr>
          <a:xfrm>
            <a:off x="8339328" y="3401568"/>
            <a:ext cx="2834640" cy="914400"/>
          </a:xfrm>
          <a:prstGeom prst="rect">
            <a:avLst/>
          </a:prstGeom>
          <a:noFill/>
          <a:ln/>
        </p:spPr>
        <p:txBody>
          <a:bodyPr wrap="square" lIns="0" tIns="0" rIns="0" bIns="0" rtlCol="0" anchor="ctr"/>
          <a:lstStyle/>
          <a:p>
            <a:pPr indent="0" marL="0">
              <a:lnSpc>
                <a:spcPts val="2100"/>
              </a:lnSpc>
              <a:buNone/>
            </a:pPr>
            <a:r>
              <a:rPr lang="en-US" sz="1600" b="1" dirty="0">
                <a:solidFill>
                  <a:srgbClr val="0B4257"/>
                </a:solidFill>
                <a:latin typeface="Calibri" pitchFamily="34" charset="0"/>
                <a:ea typeface="Calibri" pitchFamily="34" charset="-122"/>
                <a:cs typeface="Calibri" pitchFamily="34" charset="-120"/>
              </a:rPr>
              <a:t>“We ran the aptitude test in August.”</a:t>
            </a:r>
            <a:endParaRPr lang="en-US" sz="1600" dirty="0"/>
          </a:p>
        </p:txBody>
      </p:sp>
      <p:sp>
        <p:nvSpPr>
          <p:cNvPr id="18" name="Text 15"/>
          <p:cNvSpPr txBox="1"/>
          <p:nvPr/>
        </p:nvSpPr>
        <p:spPr>
          <a:xfrm>
            <a:off x="8339328" y="4315968"/>
            <a:ext cx="2834640" cy="548640"/>
          </a:xfrm>
          <a:prstGeom prst="rect">
            <a:avLst/>
          </a:prstGeom>
          <a:noFill/>
          <a:ln/>
        </p:spPr>
        <p:txBody>
          <a:bodyPr wrap="square" lIns="0" tIns="0" rIns="0" bIns="0" rtlCol="0" anchor="ctr"/>
          <a:lstStyle/>
          <a:p>
            <a:pPr indent="0" marL="0">
              <a:lnSpc>
                <a:spcPts val="1700"/>
              </a:lnSpc>
              <a:buNone/>
            </a:pPr>
            <a:r>
              <a:rPr lang="en-US" sz="1250" dirty="0">
                <a:solidFill>
                  <a:srgbClr val="5A7482"/>
                </a:solidFill>
                <a:latin typeface="Calibri" pitchFamily="34" charset="0"/>
                <a:ea typeface="Calibri" pitchFamily="34" charset="-122"/>
                <a:cs typeface="Calibri" pitchFamily="34" charset="-120"/>
              </a:rPr>
              <a:t>One score, one day, six months stale.</a:t>
            </a:r>
            <a:endParaRPr lang="en-US" sz="1250" dirty="0"/>
          </a:p>
        </p:txBody>
      </p:sp>
      <p:sp>
        <p:nvSpPr>
          <p:cNvPr id="19" name="Text 16"/>
          <p:cNvSpPr txBox="1"/>
          <p:nvPr/>
        </p:nvSpPr>
        <p:spPr>
          <a:xfrm>
            <a:off x="640080" y="5349240"/>
            <a:ext cx="10515600" cy="640080"/>
          </a:xfrm>
          <a:prstGeom prst="rect">
            <a:avLst/>
          </a:prstGeom>
          <a:noFill/>
          <a:ln/>
        </p:spPr>
        <p:txBody>
          <a:bodyPr wrap="square" lIns="0" tIns="0" rIns="0" bIns="0" rtlCol="0" anchor="ctr"/>
          <a:lstStyle/>
          <a:p>
            <a:pPr indent="0" marL="0">
              <a:lnSpc>
                <a:spcPts val="2200"/>
              </a:lnSpc>
              <a:buNone/>
            </a:pPr>
            <a:r>
              <a:rPr lang="en-US" sz="1500" i="1" dirty="0">
                <a:solidFill>
                  <a:srgbClr val="0E5F7D"/>
                </a:solidFill>
                <a:latin typeface="Calibri" pitchFamily="34" charset="0"/>
                <a:ea typeface="Calibri" pitchFamily="34" charset="-122"/>
                <a:cs typeface="Calibri" pitchFamily="34" charset="-120"/>
              </a:rPr>
              <a:t>None of these are people problems. Your TPO works harder than anyone on campus. The problem is that the campus has no shared, live picture of readiness.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384048"/>
            <a:ext cx="8229600" cy="274320"/>
          </a:xfrm>
          <a:prstGeom prst="rect">
            <a:avLst/>
          </a:prstGeom>
          <a:noFill/>
          <a:ln/>
        </p:spPr>
        <p:txBody>
          <a:bodyPr wrap="square" lIns="0" tIns="0" rIns="0" bIns="0" rtlCol="0" anchor="ctr"/>
          <a:lstStyle/>
          <a:p>
            <a:pPr indent="0" marL="0">
              <a:buNone/>
            </a:pPr>
            <a:r>
              <a:rPr lang="en-US" sz="1150" b="1" spc="260" kern="0" dirty="0">
                <a:solidFill>
                  <a:srgbClr val="B85C00"/>
                </a:solidFill>
                <a:latin typeface="Calibri" pitchFamily="34" charset="0"/>
                <a:ea typeface="Calibri" pitchFamily="34" charset="-122"/>
                <a:cs typeface="Calibri" pitchFamily="34" charset="-120"/>
              </a:rPr>
              <a:t>THE PROBLEM</a:t>
            </a:r>
            <a:endParaRPr lang="en-US" sz="1150" dirty="0"/>
          </a:p>
        </p:txBody>
      </p:sp>
      <p:sp>
        <p:nvSpPr>
          <p:cNvPr id="6" name="Text 3"/>
          <p:cNvSpPr txBox="1"/>
          <p:nvPr/>
        </p:nvSpPr>
        <p:spPr>
          <a:xfrm>
            <a:off x="640080" y="640080"/>
            <a:ext cx="8595360" cy="960120"/>
          </a:xfrm>
          <a:prstGeom prst="rect">
            <a:avLst/>
          </a:prstGeom>
          <a:noFill/>
          <a:ln/>
        </p:spPr>
        <p:txBody>
          <a:bodyPr wrap="square" lIns="0" tIns="0" rIns="0" bIns="0" rtlCol="0" anchor="t"/>
          <a:lstStyle/>
          <a:p>
            <a:pPr indent="0" marL="0">
              <a:buNone/>
            </a:pPr>
            <a:r>
              <a:rPr lang="en-US" sz="2900" b="1" dirty="0">
                <a:solidFill>
                  <a:srgbClr val="0B4257"/>
                </a:solidFill>
                <a:latin typeface="Calibri" pitchFamily="34" charset="0"/>
                <a:ea typeface="Calibri" pitchFamily="34" charset="-122"/>
                <a:cs typeface="Calibri" pitchFamily="34" charset="-120"/>
              </a:rPr>
              <a:t>The six problems every placement cell fights</a:t>
            </a:r>
            <a:endParaRPr lang="en-US" sz="2900" dirty="0"/>
          </a:p>
        </p:txBody>
      </p:sp>
      <p:sp>
        <p:nvSpPr>
          <p:cNvPr id="7" name="Text 4"/>
          <p:cNvSpPr txBox="1"/>
          <p:nvPr/>
        </p:nvSpPr>
        <p:spPr>
          <a:xfrm>
            <a:off x="640080" y="1609344"/>
            <a:ext cx="10881360" cy="384048"/>
          </a:xfrm>
          <a:prstGeom prst="rect">
            <a:avLst/>
          </a:prstGeom>
          <a:noFill/>
          <a:ln/>
        </p:spPr>
        <p:txBody>
          <a:bodyPr wrap="square" lIns="0" tIns="0" rIns="0" bIns="0" rtlCol="0" anchor="t"/>
          <a:lstStyle/>
          <a:p>
            <a:pPr indent="0" marL="0">
              <a:buNone/>
            </a:pPr>
            <a:r>
              <a:rPr lang="en-US" sz="1450" dirty="0">
                <a:solidFill>
                  <a:srgbClr val="5A7482"/>
                </a:solidFill>
                <a:latin typeface="Calibri" pitchFamily="34" charset="0"/>
                <a:ea typeface="Calibri" pitchFamily="34" charset="-122"/>
                <a:cs typeface="Calibri" pitchFamily="34" charset="-120"/>
              </a:rPr>
              <a:t>Ranked by how much placement percentage they quietly cost you each year.</a:t>
            </a:r>
            <a:endParaRPr lang="en-US" sz="1450" dirty="0"/>
          </a:p>
        </p:txBody>
      </p:sp>
      <p:sp>
        <p:nvSpPr>
          <p:cNvPr id="8" name="Shape 5"/>
          <p:cNvSpPr/>
          <p:nvPr/>
        </p:nvSpPr>
        <p:spPr>
          <a:xfrm>
            <a:off x="640080" y="2011680"/>
            <a:ext cx="3429000" cy="1920240"/>
          </a:xfrm>
          <a:prstGeom prst="roundRect">
            <a:avLst>
              <a:gd name="adj" fmla="val 1667"/>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9" name="Shape 6"/>
          <p:cNvSpPr/>
          <p:nvPr/>
        </p:nvSpPr>
        <p:spPr>
          <a:xfrm>
            <a:off x="914400" y="2267712"/>
            <a:ext cx="365760" cy="365760"/>
          </a:xfrm>
          <a:prstGeom prst="ellipse">
            <a:avLst/>
          </a:prstGeom>
          <a:solidFill>
            <a:srgbClr val="B85C00"/>
          </a:solidFill>
          <a:ln/>
        </p:spPr>
      </p:sp>
      <p:sp>
        <p:nvSpPr>
          <p:cNvPr id="10" name="Text 7"/>
          <p:cNvSpPr txBox="1"/>
          <p:nvPr/>
        </p:nvSpPr>
        <p:spPr>
          <a:xfrm>
            <a:off x="914400" y="226771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txBox="1"/>
          <p:nvPr/>
        </p:nvSpPr>
        <p:spPr>
          <a:xfrm>
            <a:off x="1389888" y="2267712"/>
            <a:ext cx="2468880" cy="566928"/>
          </a:xfrm>
          <a:prstGeom prst="rect">
            <a:avLst/>
          </a:prstGeom>
          <a:noFill/>
          <a:ln/>
        </p:spPr>
        <p:txBody>
          <a:bodyPr wrap="square" lIns="0" tIns="0" rIns="0" bIns="0" rtlCol="0" anchor="ctr"/>
          <a:lstStyle/>
          <a:p>
            <a:pPr indent="0" marL="0">
              <a:lnSpc>
                <a:spcPts val="1800"/>
              </a:lnSpc>
              <a:buNone/>
            </a:pPr>
            <a:r>
              <a:rPr lang="en-US" sz="1450" b="1" dirty="0">
                <a:solidFill>
                  <a:srgbClr val="0B4257"/>
                </a:solidFill>
                <a:latin typeface="Calibri" pitchFamily="34" charset="0"/>
                <a:ea typeface="Calibri" pitchFamily="34" charset="-122"/>
                <a:cs typeface="Calibri" pitchFamily="34" charset="-120"/>
              </a:rPr>
              <a:t>No single source of truth</a:t>
            </a:r>
            <a:endParaRPr lang="en-US" sz="1450" dirty="0"/>
          </a:p>
        </p:txBody>
      </p:sp>
      <p:sp>
        <p:nvSpPr>
          <p:cNvPr id="12" name="Text 9"/>
          <p:cNvSpPr txBox="1"/>
          <p:nvPr/>
        </p:nvSpPr>
        <p:spPr>
          <a:xfrm>
            <a:off x="914400" y="2926080"/>
            <a:ext cx="2880360" cy="91440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Readiness lives in five spreadsheets, three WhatsApp groups, and one person's head. Nobody can answer "how many are drive-ready?" in under a week.</a:t>
            </a:r>
            <a:endParaRPr lang="en-US" sz="1150" dirty="0"/>
          </a:p>
        </p:txBody>
      </p:sp>
      <p:sp>
        <p:nvSpPr>
          <p:cNvPr id="13" name="Shape 10"/>
          <p:cNvSpPr/>
          <p:nvPr/>
        </p:nvSpPr>
        <p:spPr>
          <a:xfrm>
            <a:off x="4343400" y="2011680"/>
            <a:ext cx="3429000" cy="1920240"/>
          </a:xfrm>
          <a:prstGeom prst="roundRect">
            <a:avLst>
              <a:gd name="adj" fmla="val 1667"/>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4" name="Shape 11"/>
          <p:cNvSpPr/>
          <p:nvPr/>
        </p:nvSpPr>
        <p:spPr>
          <a:xfrm>
            <a:off x="4617720" y="2267712"/>
            <a:ext cx="365760" cy="365760"/>
          </a:xfrm>
          <a:prstGeom prst="ellipse">
            <a:avLst/>
          </a:prstGeom>
          <a:solidFill>
            <a:srgbClr val="B85C00"/>
          </a:solidFill>
          <a:ln/>
        </p:spPr>
      </p:sp>
      <p:sp>
        <p:nvSpPr>
          <p:cNvPr id="15" name="Text 12"/>
          <p:cNvSpPr txBox="1"/>
          <p:nvPr/>
        </p:nvSpPr>
        <p:spPr>
          <a:xfrm>
            <a:off x="4617720" y="226771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6" name="Text 13"/>
          <p:cNvSpPr txBox="1"/>
          <p:nvPr/>
        </p:nvSpPr>
        <p:spPr>
          <a:xfrm>
            <a:off x="5093208" y="2267712"/>
            <a:ext cx="2468880" cy="566928"/>
          </a:xfrm>
          <a:prstGeom prst="rect">
            <a:avLst/>
          </a:prstGeom>
          <a:noFill/>
          <a:ln/>
        </p:spPr>
        <p:txBody>
          <a:bodyPr wrap="square" lIns="0" tIns="0" rIns="0" bIns="0" rtlCol="0" anchor="ctr"/>
          <a:lstStyle/>
          <a:p>
            <a:pPr indent="0" marL="0">
              <a:lnSpc>
                <a:spcPts val="1800"/>
              </a:lnSpc>
              <a:buNone/>
            </a:pPr>
            <a:r>
              <a:rPr lang="en-US" sz="1450" b="1" dirty="0">
                <a:solidFill>
                  <a:srgbClr val="0B4257"/>
                </a:solidFill>
                <a:latin typeface="Calibri" pitchFamily="34" charset="0"/>
                <a:ea typeface="Calibri" pitchFamily="34" charset="-122"/>
                <a:cs typeface="Calibri" pitchFamily="34" charset="-120"/>
              </a:rPr>
              <a:t>Readiness is discovered too late</a:t>
            </a:r>
            <a:endParaRPr lang="en-US" sz="1450" dirty="0"/>
          </a:p>
        </p:txBody>
      </p:sp>
      <p:sp>
        <p:nvSpPr>
          <p:cNvPr id="17" name="Text 14"/>
          <p:cNvSpPr txBox="1"/>
          <p:nvPr/>
        </p:nvSpPr>
        <p:spPr>
          <a:xfrm>
            <a:off x="4617720" y="2926080"/>
            <a:ext cx="2880360" cy="91440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The first honest signal arrives in the company's first round. By then there is no time left to intervene.</a:t>
            </a:r>
            <a:endParaRPr lang="en-US" sz="1150" dirty="0"/>
          </a:p>
        </p:txBody>
      </p:sp>
      <p:sp>
        <p:nvSpPr>
          <p:cNvPr id="18" name="Shape 15"/>
          <p:cNvSpPr/>
          <p:nvPr/>
        </p:nvSpPr>
        <p:spPr>
          <a:xfrm>
            <a:off x="8046720" y="2011680"/>
            <a:ext cx="3429000" cy="1920240"/>
          </a:xfrm>
          <a:prstGeom prst="roundRect">
            <a:avLst>
              <a:gd name="adj" fmla="val 1667"/>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9" name="Shape 16"/>
          <p:cNvSpPr/>
          <p:nvPr/>
        </p:nvSpPr>
        <p:spPr>
          <a:xfrm>
            <a:off x="8321040" y="2267712"/>
            <a:ext cx="365760" cy="365760"/>
          </a:xfrm>
          <a:prstGeom prst="ellipse">
            <a:avLst/>
          </a:prstGeom>
          <a:solidFill>
            <a:srgbClr val="C2660A"/>
          </a:solidFill>
          <a:ln/>
        </p:spPr>
      </p:sp>
      <p:sp>
        <p:nvSpPr>
          <p:cNvPr id="20" name="Text 17"/>
          <p:cNvSpPr txBox="1"/>
          <p:nvPr/>
        </p:nvSpPr>
        <p:spPr>
          <a:xfrm>
            <a:off x="8321040" y="226771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1" name="Text 18"/>
          <p:cNvSpPr txBox="1"/>
          <p:nvPr/>
        </p:nvSpPr>
        <p:spPr>
          <a:xfrm>
            <a:off x="8796528" y="2267712"/>
            <a:ext cx="2468880" cy="566928"/>
          </a:xfrm>
          <a:prstGeom prst="rect">
            <a:avLst/>
          </a:prstGeom>
          <a:noFill/>
          <a:ln/>
        </p:spPr>
        <p:txBody>
          <a:bodyPr wrap="square" lIns="0" tIns="0" rIns="0" bIns="0" rtlCol="0" anchor="ctr"/>
          <a:lstStyle/>
          <a:p>
            <a:pPr indent="0" marL="0">
              <a:lnSpc>
                <a:spcPts val="1800"/>
              </a:lnSpc>
              <a:buNone/>
            </a:pPr>
            <a:r>
              <a:rPr lang="en-US" sz="1450" b="1" dirty="0">
                <a:solidFill>
                  <a:srgbClr val="0B4257"/>
                </a:solidFill>
                <a:latin typeface="Calibri" pitchFamily="34" charset="0"/>
                <a:ea typeface="Calibri" pitchFamily="34" charset="-122"/>
                <a:cs typeface="Calibri" pitchFamily="34" charset="-120"/>
              </a:rPr>
              <a:t>The TPO is the bottleneck</a:t>
            </a:r>
            <a:endParaRPr lang="en-US" sz="1450" dirty="0"/>
          </a:p>
        </p:txBody>
      </p:sp>
      <p:sp>
        <p:nvSpPr>
          <p:cNvPr id="22" name="Text 19"/>
          <p:cNvSpPr txBox="1"/>
          <p:nvPr/>
        </p:nvSpPr>
        <p:spPr>
          <a:xfrm>
            <a:off x="8321040" y="2926080"/>
            <a:ext cx="2880360" cy="91440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Collecting resumes, chasing branches, building shortlists, sending reminders — all manual, all on two or three people.</a:t>
            </a:r>
            <a:endParaRPr lang="en-US" sz="1150" dirty="0"/>
          </a:p>
        </p:txBody>
      </p:sp>
      <p:sp>
        <p:nvSpPr>
          <p:cNvPr id="23" name="Shape 20"/>
          <p:cNvSpPr/>
          <p:nvPr/>
        </p:nvSpPr>
        <p:spPr>
          <a:xfrm>
            <a:off x="640080" y="4160520"/>
            <a:ext cx="3429000" cy="1920240"/>
          </a:xfrm>
          <a:prstGeom prst="roundRect">
            <a:avLst>
              <a:gd name="adj" fmla="val 1667"/>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24" name="Shape 21"/>
          <p:cNvSpPr/>
          <p:nvPr/>
        </p:nvSpPr>
        <p:spPr>
          <a:xfrm>
            <a:off x="914400" y="4416552"/>
            <a:ext cx="365760" cy="365760"/>
          </a:xfrm>
          <a:prstGeom prst="ellipse">
            <a:avLst/>
          </a:prstGeom>
          <a:solidFill>
            <a:srgbClr val="C2660A"/>
          </a:solidFill>
          <a:ln/>
        </p:spPr>
      </p:sp>
      <p:sp>
        <p:nvSpPr>
          <p:cNvPr id="25" name="Text 22"/>
          <p:cNvSpPr txBox="1"/>
          <p:nvPr/>
        </p:nvSpPr>
        <p:spPr>
          <a:xfrm>
            <a:off x="914400" y="441655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6" name="Text 23"/>
          <p:cNvSpPr txBox="1"/>
          <p:nvPr/>
        </p:nvSpPr>
        <p:spPr>
          <a:xfrm>
            <a:off x="1389888" y="4416552"/>
            <a:ext cx="2468880" cy="566928"/>
          </a:xfrm>
          <a:prstGeom prst="rect">
            <a:avLst/>
          </a:prstGeom>
          <a:noFill/>
          <a:ln/>
        </p:spPr>
        <p:txBody>
          <a:bodyPr wrap="square" lIns="0" tIns="0" rIns="0" bIns="0" rtlCol="0" anchor="ctr"/>
          <a:lstStyle/>
          <a:p>
            <a:pPr indent="0" marL="0">
              <a:lnSpc>
                <a:spcPts val="1800"/>
              </a:lnSpc>
              <a:buNone/>
            </a:pPr>
            <a:r>
              <a:rPr lang="en-US" sz="1450" b="1" dirty="0">
                <a:solidFill>
                  <a:srgbClr val="0B4257"/>
                </a:solidFill>
                <a:latin typeface="Calibri" pitchFamily="34" charset="0"/>
                <a:ea typeface="Calibri" pitchFamily="34" charset="-122"/>
                <a:cs typeface="Calibri" pitchFamily="34" charset="-120"/>
              </a:rPr>
              <a:t>HODs are blind to their own branch</a:t>
            </a:r>
            <a:endParaRPr lang="en-US" sz="1450" dirty="0"/>
          </a:p>
        </p:txBody>
      </p:sp>
      <p:sp>
        <p:nvSpPr>
          <p:cNvPr id="27" name="Text 24"/>
          <p:cNvSpPr txBox="1"/>
          <p:nvPr/>
        </p:nvSpPr>
        <p:spPr>
          <a:xfrm>
            <a:off x="914400" y="5074920"/>
            <a:ext cx="2880360" cy="91440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Departments own the students but see none of the readiness data, so intervention never starts where it should.</a:t>
            </a:r>
            <a:endParaRPr lang="en-US" sz="1150" dirty="0"/>
          </a:p>
        </p:txBody>
      </p:sp>
      <p:sp>
        <p:nvSpPr>
          <p:cNvPr id="28" name="Shape 25"/>
          <p:cNvSpPr/>
          <p:nvPr/>
        </p:nvSpPr>
        <p:spPr>
          <a:xfrm>
            <a:off x="4343400" y="4160520"/>
            <a:ext cx="3429000" cy="1920240"/>
          </a:xfrm>
          <a:prstGeom prst="roundRect">
            <a:avLst>
              <a:gd name="adj" fmla="val 1667"/>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29" name="Shape 26"/>
          <p:cNvSpPr/>
          <p:nvPr/>
        </p:nvSpPr>
        <p:spPr>
          <a:xfrm>
            <a:off x="4617720" y="4416552"/>
            <a:ext cx="365760" cy="365760"/>
          </a:xfrm>
          <a:prstGeom prst="ellipse">
            <a:avLst/>
          </a:prstGeom>
          <a:solidFill>
            <a:srgbClr val="0991BE"/>
          </a:solidFill>
          <a:ln/>
        </p:spPr>
      </p:sp>
      <p:sp>
        <p:nvSpPr>
          <p:cNvPr id="30" name="Text 27"/>
          <p:cNvSpPr txBox="1"/>
          <p:nvPr/>
        </p:nvSpPr>
        <p:spPr>
          <a:xfrm>
            <a:off x="4617720" y="441655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31" name="Text 28"/>
          <p:cNvSpPr txBox="1"/>
          <p:nvPr/>
        </p:nvSpPr>
        <p:spPr>
          <a:xfrm>
            <a:off x="5093208" y="4416552"/>
            <a:ext cx="2468880" cy="566928"/>
          </a:xfrm>
          <a:prstGeom prst="rect">
            <a:avLst/>
          </a:prstGeom>
          <a:noFill/>
          <a:ln/>
        </p:spPr>
        <p:txBody>
          <a:bodyPr wrap="square" lIns="0" tIns="0" rIns="0" bIns="0" rtlCol="0" anchor="ctr"/>
          <a:lstStyle/>
          <a:p>
            <a:pPr indent="0" marL="0">
              <a:lnSpc>
                <a:spcPts val="1800"/>
              </a:lnSpc>
              <a:buNone/>
            </a:pPr>
            <a:r>
              <a:rPr lang="en-US" sz="1450" b="1" dirty="0">
                <a:solidFill>
                  <a:srgbClr val="0B4257"/>
                </a:solidFill>
                <a:latin typeface="Calibri" pitchFamily="34" charset="0"/>
                <a:ea typeface="Calibri" pitchFamily="34" charset="-122"/>
                <a:cs typeface="Calibri" pitchFamily="34" charset="-120"/>
              </a:rPr>
              <a:t>Students prepare randomly</a:t>
            </a:r>
            <a:endParaRPr lang="en-US" sz="1450" dirty="0"/>
          </a:p>
        </p:txBody>
      </p:sp>
      <p:sp>
        <p:nvSpPr>
          <p:cNvPr id="32" name="Text 29"/>
          <p:cNvSpPr txBox="1"/>
          <p:nvPr/>
        </p:nvSpPr>
        <p:spPr>
          <a:xfrm>
            <a:off x="4617720" y="5074920"/>
            <a:ext cx="2880360" cy="91440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Free YouTube, random PDFs, last-night cramming. No plan, no feedback, no idea what a real interview feels like.</a:t>
            </a:r>
            <a:endParaRPr lang="en-US" sz="1150" dirty="0"/>
          </a:p>
        </p:txBody>
      </p:sp>
      <p:sp>
        <p:nvSpPr>
          <p:cNvPr id="33" name="Shape 30"/>
          <p:cNvSpPr/>
          <p:nvPr/>
        </p:nvSpPr>
        <p:spPr>
          <a:xfrm>
            <a:off x="8046720" y="4160520"/>
            <a:ext cx="3429000" cy="1920240"/>
          </a:xfrm>
          <a:prstGeom prst="roundRect">
            <a:avLst>
              <a:gd name="adj" fmla="val 1667"/>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34" name="Shape 31"/>
          <p:cNvSpPr/>
          <p:nvPr/>
        </p:nvSpPr>
        <p:spPr>
          <a:xfrm>
            <a:off x="8321040" y="4416552"/>
            <a:ext cx="365760" cy="365760"/>
          </a:xfrm>
          <a:prstGeom prst="ellipse">
            <a:avLst/>
          </a:prstGeom>
          <a:solidFill>
            <a:srgbClr val="0991BE"/>
          </a:solidFill>
          <a:ln/>
        </p:spPr>
      </p:sp>
      <p:sp>
        <p:nvSpPr>
          <p:cNvPr id="35" name="Text 32"/>
          <p:cNvSpPr txBox="1"/>
          <p:nvPr/>
        </p:nvSpPr>
        <p:spPr>
          <a:xfrm>
            <a:off x="8321040" y="441655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6" name="Text 33"/>
          <p:cNvSpPr txBox="1"/>
          <p:nvPr/>
        </p:nvSpPr>
        <p:spPr>
          <a:xfrm>
            <a:off x="8796528" y="4416552"/>
            <a:ext cx="2468880" cy="566928"/>
          </a:xfrm>
          <a:prstGeom prst="rect">
            <a:avLst/>
          </a:prstGeom>
          <a:noFill/>
          <a:ln/>
        </p:spPr>
        <p:txBody>
          <a:bodyPr wrap="square" lIns="0" tIns="0" rIns="0" bIns="0" rtlCol="0" anchor="ctr"/>
          <a:lstStyle/>
          <a:p>
            <a:pPr indent="0" marL="0">
              <a:lnSpc>
                <a:spcPts val="1800"/>
              </a:lnSpc>
              <a:buNone/>
            </a:pPr>
            <a:r>
              <a:rPr lang="en-US" sz="1450" b="1" dirty="0">
                <a:solidFill>
                  <a:srgbClr val="0B4257"/>
                </a:solidFill>
                <a:latin typeface="Calibri" pitchFamily="34" charset="0"/>
                <a:ea typeface="Calibri" pitchFamily="34" charset="-122"/>
                <a:cs typeface="Calibri" pitchFamily="34" charset="-120"/>
              </a:rPr>
              <a:t>Management has no leading indicator</a:t>
            </a:r>
            <a:endParaRPr lang="en-US" sz="1450" dirty="0"/>
          </a:p>
        </p:txBody>
      </p:sp>
      <p:sp>
        <p:nvSpPr>
          <p:cNvPr id="37" name="Text 34"/>
          <p:cNvSpPr txBox="1"/>
          <p:nvPr/>
        </p:nvSpPr>
        <p:spPr>
          <a:xfrm>
            <a:off x="8321040" y="5074920"/>
            <a:ext cx="2880360" cy="91440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The board sees placement % once a year — after it is already final. Nothing to steer with mid-season.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7F1F7"/>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502920"/>
            <a:ext cx="8229600" cy="274320"/>
          </a:xfrm>
          <a:prstGeom prst="rect">
            <a:avLst/>
          </a:prstGeom>
          <a:noFill/>
          <a:ln/>
        </p:spPr>
        <p:txBody>
          <a:bodyPr wrap="square" lIns="0" tIns="0" rIns="0" bIns="0" rtlCol="0" anchor="ctr"/>
          <a:lstStyle/>
          <a:p>
            <a:pPr indent="0" marL="0">
              <a:buNone/>
            </a:pPr>
            <a:r>
              <a:rPr lang="en-US" sz="1150" b="1" spc="260" kern="0" dirty="0">
                <a:solidFill>
                  <a:srgbClr val="08AF94"/>
                </a:solidFill>
                <a:latin typeface="Calibri" pitchFamily="34" charset="0"/>
                <a:ea typeface="Calibri" pitchFamily="34" charset="-122"/>
                <a:cs typeface="Calibri" pitchFamily="34" charset="-120"/>
              </a:rPr>
              <a:t>HOW MENTORMUNI SOLVES IT</a:t>
            </a:r>
            <a:endParaRPr lang="en-US" sz="1150" dirty="0"/>
          </a:p>
        </p:txBody>
      </p:sp>
      <p:sp>
        <p:nvSpPr>
          <p:cNvPr id="6" name="Text 3"/>
          <p:cNvSpPr txBox="1"/>
          <p:nvPr/>
        </p:nvSpPr>
        <p:spPr>
          <a:xfrm>
            <a:off x="640080" y="841248"/>
            <a:ext cx="8595360" cy="1463040"/>
          </a:xfrm>
          <a:prstGeom prst="rect">
            <a:avLst/>
          </a:prstGeom>
          <a:noFill/>
          <a:ln/>
        </p:spPr>
        <p:txBody>
          <a:bodyPr wrap="square" lIns="0" tIns="0" rIns="0" bIns="0" rtlCol="0" anchor="t"/>
          <a:lstStyle/>
          <a:p>
            <a:pPr indent="0" marL="0">
              <a:buNone/>
            </a:pPr>
            <a:r>
              <a:rPr lang="en-US" sz="3100" b="1" dirty="0">
                <a:solidFill>
                  <a:srgbClr val="0B4257"/>
                </a:solidFill>
                <a:latin typeface="Calibri" pitchFamily="34" charset="0"/>
                <a:ea typeface="Calibri" pitchFamily="34" charset="-122"/>
                <a:cs typeface="Calibri" pitchFamily="34" charset="-120"/>
              </a:rPr>
              <a:t>Stop running placement as an event.</a:t>
            </a:r>
            <a:endParaRPr lang="en-US" sz="3100" dirty="0"/>
          </a:p>
          <a:p>
            <a:pPr indent="0" marL="0">
              <a:buNone/>
            </a:pPr>
            <a:r>
              <a:rPr lang="en-US" sz="3100" b="1" dirty="0">
                <a:solidFill>
                  <a:srgbClr val="0B4257"/>
                </a:solidFill>
                <a:latin typeface="Calibri" pitchFamily="34" charset="0"/>
                <a:ea typeface="Calibri" pitchFamily="34" charset="-122"/>
                <a:cs typeface="Calibri" pitchFamily="34" charset="-120"/>
              </a:rPr>
              <a:t>Run it as an operating system.</a:t>
            </a:r>
            <a:endParaRPr lang="en-US" sz="3100" dirty="0"/>
          </a:p>
        </p:txBody>
      </p:sp>
      <p:sp>
        <p:nvSpPr>
          <p:cNvPr id="7" name="Text 4"/>
          <p:cNvSpPr txBox="1"/>
          <p:nvPr/>
        </p:nvSpPr>
        <p:spPr>
          <a:xfrm>
            <a:off x="777240" y="2514600"/>
            <a:ext cx="4572000" cy="274320"/>
          </a:xfrm>
          <a:prstGeom prst="rect">
            <a:avLst/>
          </a:prstGeom>
          <a:noFill/>
          <a:ln/>
        </p:spPr>
        <p:txBody>
          <a:bodyPr wrap="square" lIns="0" tIns="0" rIns="0" bIns="0" rtlCol="0" anchor="ctr"/>
          <a:lstStyle/>
          <a:p>
            <a:pPr indent="0" marL="0">
              <a:buNone/>
            </a:pPr>
            <a:r>
              <a:rPr lang="en-US" sz="1100" b="1" spc="240" kern="0" dirty="0">
                <a:solidFill>
                  <a:srgbClr val="B85C00"/>
                </a:solidFill>
                <a:latin typeface="Calibri" pitchFamily="34" charset="0"/>
                <a:ea typeface="Calibri" pitchFamily="34" charset="-122"/>
                <a:cs typeface="Calibri" pitchFamily="34" charset="-120"/>
              </a:rPr>
              <a:t>TODAY</a:t>
            </a:r>
            <a:endParaRPr lang="en-US" sz="1100" dirty="0"/>
          </a:p>
        </p:txBody>
      </p:sp>
      <p:sp>
        <p:nvSpPr>
          <p:cNvPr id="8" name="Text 5"/>
          <p:cNvSpPr txBox="1"/>
          <p:nvPr/>
        </p:nvSpPr>
        <p:spPr>
          <a:xfrm>
            <a:off x="6537960" y="2514600"/>
            <a:ext cx="4937760" cy="274320"/>
          </a:xfrm>
          <a:prstGeom prst="rect">
            <a:avLst/>
          </a:prstGeom>
          <a:noFill/>
          <a:ln/>
        </p:spPr>
        <p:txBody>
          <a:bodyPr wrap="square" lIns="0" tIns="0" rIns="0" bIns="0" rtlCol="0" anchor="ctr"/>
          <a:lstStyle/>
          <a:p>
            <a:pPr indent="0" marL="0">
              <a:buNone/>
            </a:pPr>
            <a:r>
              <a:rPr lang="en-US" sz="1100" b="1" spc="240" kern="0" dirty="0">
                <a:solidFill>
                  <a:srgbClr val="08AF94"/>
                </a:solidFill>
                <a:latin typeface="Calibri" pitchFamily="34" charset="0"/>
                <a:ea typeface="Calibri" pitchFamily="34" charset="-122"/>
                <a:cs typeface="Calibri" pitchFamily="34" charset="-120"/>
              </a:rPr>
              <a:t>WITH MENTORMUNI</a:t>
            </a:r>
            <a:endParaRPr lang="en-US" sz="1100" dirty="0"/>
          </a:p>
        </p:txBody>
      </p:sp>
      <p:sp>
        <p:nvSpPr>
          <p:cNvPr id="9" name="Text 6"/>
          <p:cNvSpPr txBox="1"/>
          <p:nvPr/>
        </p:nvSpPr>
        <p:spPr>
          <a:xfrm>
            <a:off x="777240" y="2880360"/>
            <a:ext cx="4572000" cy="457200"/>
          </a:xfrm>
          <a:prstGeom prst="rect">
            <a:avLst/>
          </a:prstGeom>
          <a:noFill/>
          <a:ln/>
        </p:spPr>
        <p:txBody>
          <a:bodyPr wrap="square" lIns="0" tIns="0" rIns="0" bIns="0" rtlCol="0" anchor="ctr"/>
          <a:lstStyle/>
          <a:p>
            <a:pPr indent="0" marL="0">
              <a:buNone/>
            </a:pPr>
            <a:r>
              <a:rPr lang="en-US" sz="1350" dirty="0">
                <a:solidFill>
                  <a:srgbClr val="5A7482"/>
                </a:solidFill>
                <a:latin typeface="Calibri" pitchFamily="34" charset="0"/>
                <a:ea typeface="Calibri" pitchFamily="34" charset="-122"/>
                <a:cs typeface="Calibri" pitchFamily="34" charset="-120"/>
              </a:rPr>
              <a:t>Readiness measured once a year</a:t>
            </a:r>
            <a:endParaRPr lang="en-US" sz="1350" dirty="0"/>
          </a:p>
        </p:txBody>
      </p:sp>
      <p:sp>
        <p:nvSpPr>
          <p:cNvPr id="10" name="Shape 7"/>
          <p:cNvSpPr/>
          <p:nvPr/>
        </p:nvSpPr>
        <p:spPr>
          <a:xfrm>
            <a:off x="5623560" y="3008376"/>
            <a:ext cx="502920" cy="201168"/>
          </a:xfrm>
          <a:prstGeom prst="rightArrow">
            <a:avLst/>
          </a:prstGeom>
          <a:solidFill>
            <a:srgbClr val="9FC3D4"/>
          </a:solidFill>
          <a:ln/>
        </p:spPr>
      </p:sp>
      <p:sp>
        <p:nvSpPr>
          <p:cNvPr id="11" name="Text 8"/>
          <p:cNvSpPr txBox="1"/>
          <p:nvPr/>
        </p:nvSpPr>
        <p:spPr>
          <a:xfrm>
            <a:off x="6537960" y="2880360"/>
            <a:ext cx="4937760" cy="457200"/>
          </a:xfrm>
          <a:prstGeom prst="rect">
            <a:avLst/>
          </a:prstGeom>
          <a:noFill/>
          <a:ln/>
        </p:spPr>
        <p:txBody>
          <a:bodyPr wrap="square" lIns="0" tIns="0" rIns="0" bIns="0" rtlCol="0" anchor="ctr"/>
          <a:lstStyle/>
          <a:p>
            <a:pPr indent="0" marL="0">
              <a:buNone/>
            </a:pPr>
            <a:r>
              <a:rPr lang="en-US" sz="1350" b="1" dirty="0">
                <a:solidFill>
                  <a:srgbClr val="0B4257"/>
                </a:solidFill>
                <a:latin typeface="Calibri" pitchFamily="34" charset="0"/>
                <a:ea typeface="Calibri" pitchFamily="34" charset="-122"/>
                <a:cs typeface="Calibri" pitchFamily="34" charset="-120"/>
              </a:rPr>
              <a:t>Readiness recalculated every single day</a:t>
            </a:r>
            <a:endParaRPr lang="en-US" sz="1350" dirty="0"/>
          </a:p>
        </p:txBody>
      </p:sp>
      <p:sp>
        <p:nvSpPr>
          <p:cNvPr id="12" name="Text 9"/>
          <p:cNvSpPr txBox="1"/>
          <p:nvPr/>
        </p:nvSpPr>
        <p:spPr>
          <a:xfrm>
            <a:off x="777240" y="3447288"/>
            <a:ext cx="4572000" cy="457200"/>
          </a:xfrm>
          <a:prstGeom prst="rect">
            <a:avLst/>
          </a:prstGeom>
          <a:noFill/>
          <a:ln/>
        </p:spPr>
        <p:txBody>
          <a:bodyPr wrap="square" lIns="0" tIns="0" rIns="0" bIns="0" rtlCol="0" anchor="ctr"/>
          <a:lstStyle/>
          <a:p>
            <a:pPr indent="0" marL="0">
              <a:buNone/>
            </a:pPr>
            <a:r>
              <a:rPr lang="en-US" sz="1350" dirty="0">
                <a:solidFill>
                  <a:srgbClr val="5A7482"/>
                </a:solidFill>
                <a:latin typeface="Calibri" pitchFamily="34" charset="0"/>
                <a:ea typeface="Calibri" pitchFamily="34" charset="-122"/>
                <a:cs typeface="Calibri" pitchFamily="34" charset="-120"/>
              </a:rPr>
              <a:t>Data lives in spreadsheets and memory</a:t>
            </a:r>
            <a:endParaRPr lang="en-US" sz="1350" dirty="0"/>
          </a:p>
        </p:txBody>
      </p:sp>
      <p:sp>
        <p:nvSpPr>
          <p:cNvPr id="13" name="Shape 10"/>
          <p:cNvSpPr/>
          <p:nvPr/>
        </p:nvSpPr>
        <p:spPr>
          <a:xfrm>
            <a:off x="5623560" y="3575304"/>
            <a:ext cx="502920" cy="201168"/>
          </a:xfrm>
          <a:prstGeom prst="rightArrow">
            <a:avLst/>
          </a:prstGeom>
          <a:solidFill>
            <a:srgbClr val="9FC3D4"/>
          </a:solidFill>
          <a:ln/>
        </p:spPr>
      </p:sp>
      <p:sp>
        <p:nvSpPr>
          <p:cNvPr id="14" name="Text 11"/>
          <p:cNvSpPr txBox="1"/>
          <p:nvPr/>
        </p:nvSpPr>
        <p:spPr>
          <a:xfrm>
            <a:off x="6537960" y="3447288"/>
            <a:ext cx="4937760" cy="457200"/>
          </a:xfrm>
          <a:prstGeom prst="rect">
            <a:avLst/>
          </a:prstGeom>
          <a:noFill/>
          <a:ln/>
        </p:spPr>
        <p:txBody>
          <a:bodyPr wrap="square" lIns="0" tIns="0" rIns="0" bIns="0" rtlCol="0" anchor="ctr"/>
          <a:lstStyle/>
          <a:p>
            <a:pPr indent="0" marL="0">
              <a:buNone/>
            </a:pPr>
            <a:r>
              <a:rPr lang="en-US" sz="1350" b="1" dirty="0">
                <a:solidFill>
                  <a:srgbClr val="0B4257"/>
                </a:solidFill>
                <a:latin typeface="Calibri" pitchFamily="34" charset="0"/>
                <a:ea typeface="Calibri" pitchFamily="34" charset="-122"/>
                <a:cs typeface="Calibri" pitchFamily="34" charset="-120"/>
              </a:rPr>
              <a:t>One live number per student, branch, and campus</a:t>
            </a:r>
            <a:endParaRPr lang="en-US" sz="1350" dirty="0"/>
          </a:p>
        </p:txBody>
      </p:sp>
      <p:sp>
        <p:nvSpPr>
          <p:cNvPr id="15" name="Text 12"/>
          <p:cNvSpPr txBox="1"/>
          <p:nvPr/>
        </p:nvSpPr>
        <p:spPr>
          <a:xfrm>
            <a:off x="777240" y="4014216"/>
            <a:ext cx="4572000" cy="457200"/>
          </a:xfrm>
          <a:prstGeom prst="rect">
            <a:avLst/>
          </a:prstGeom>
          <a:noFill/>
          <a:ln/>
        </p:spPr>
        <p:txBody>
          <a:bodyPr wrap="square" lIns="0" tIns="0" rIns="0" bIns="0" rtlCol="0" anchor="ctr"/>
          <a:lstStyle/>
          <a:p>
            <a:pPr indent="0" marL="0">
              <a:buNone/>
            </a:pPr>
            <a:r>
              <a:rPr lang="en-US" sz="1350" dirty="0">
                <a:solidFill>
                  <a:srgbClr val="5A7482"/>
                </a:solidFill>
                <a:latin typeface="Calibri" pitchFamily="34" charset="0"/>
                <a:ea typeface="Calibri" pitchFamily="34" charset="-122"/>
                <a:cs typeface="Calibri" pitchFamily="34" charset="-120"/>
              </a:rPr>
              <a:t>TPO chases every update manually</a:t>
            </a:r>
            <a:endParaRPr lang="en-US" sz="1350" dirty="0"/>
          </a:p>
        </p:txBody>
      </p:sp>
      <p:sp>
        <p:nvSpPr>
          <p:cNvPr id="16" name="Shape 13"/>
          <p:cNvSpPr/>
          <p:nvPr/>
        </p:nvSpPr>
        <p:spPr>
          <a:xfrm>
            <a:off x="5623560" y="4142232"/>
            <a:ext cx="502920" cy="201168"/>
          </a:xfrm>
          <a:prstGeom prst="rightArrow">
            <a:avLst/>
          </a:prstGeom>
          <a:solidFill>
            <a:srgbClr val="9FC3D4"/>
          </a:solidFill>
          <a:ln/>
        </p:spPr>
      </p:sp>
      <p:sp>
        <p:nvSpPr>
          <p:cNvPr id="17" name="Text 14"/>
          <p:cNvSpPr txBox="1"/>
          <p:nvPr/>
        </p:nvSpPr>
        <p:spPr>
          <a:xfrm>
            <a:off x="6537960" y="4014216"/>
            <a:ext cx="4937760" cy="457200"/>
          </a:xfrm>
          <a:prstGeom prst="rect">
            <a:avLst/>
          </a:prstGeom>
          <a:noFill/>
          <a:ln/>
        </p:spPr>
        <p:txBody>
          <a:bodyPr wrap="square" lIns="0" tIns="0" rIns="0" bIns="0" rtlCol="0" anchor="ctr"/>
          <a:lstStyle/>
          <a:p>
            <a:pPr indent="0" marL="0">
              <a:buNone/>
            </a:pPr>
            <a:r>
              <a:rPr lang="en-US" sz="1350" b="1" dirty="0">
                <a:solidFill>
                  <a:srgbClr val="0B4257"/>
                </a:solidFill>
                <a:latin typeface="Calibri" pitchFamily="34" charset="0"/>
                <a:ea typeface="Calibri" pitchFamily="34" charset="-122"/>
                <a:cs typeface="Calibri" pitchFamily="34" charset="-120"/>
              </a:rPr>
              <a:t>Roles, invites, and approvals run themselves</a:t>
            </a:r>
            <a:endParaRPr lang="en-US" sz="1350" dirty="0"/>
          </a:p>
        </p:txBody>
      </p:sp>
      <p:sp>
        <p:nvSpPr>
          <p:cNvPr id="18" name="Text 15"/>
          <p:cNvSpPr txBox="1"/>
          <p:nvPr/>
        </p:nvSpPr>
        <p:spPr>
          <a:xfrm>
            <a:off x="777240" y="4581144"/>
            <a:ext cx="4572000" cy="457200"/>
          </a:xfrm>
          <a:prstGeom prst="rect">
            <a:avLst/>
          </a:prstGeom>
          <a:noFill/>
          <a:ln/>
        </p:spPr>
        <p:txBody>
          <a:bodyPr wrap="square" lIns="0" tIns="0" rIns="0" bIns="0" rtlCol="0" anchor="ctr"/>
          <a:lstStyle/>
          <a:p>
            <a:pPr indent="0" marL="0">
              <a:buNone/>
            </a:pPr>
            <a:r>
              <a:rPr lang="en-US" sz="1350" dirty="0">
                <a:solidFill>
                  <a:srgbClr val="5A7482"/>
                </a:solidFill>
                <a:latin typeface="Calibri" pitchFamily="34" charset="0"/>
                <a:ea typeface="Calibri" pitchFamily="34" charset="-122"/>
                <a:cs typeface="Calibri" pitchFamily="34" charset="-120"/>
              </a:rPr>
              <a:t>HODs find out when the TPO tells them</a:t>
            </a:r>
            <a:endParaRPr lang="en-US" sz="1350" dirty="0"/>
          </a:p>
        </p:txBody>
      </p:sp>
      <p:sp>
        <p:nvSpPr>
          <p:cNvPr id="19" name="Shape 16"/>
          <p:cNvSpPr/>
          <p:nvPr/>
        </p:nvSpPr>
        <p:spPr>
          <a:xfrm>
            <a:off x="5623560" y="4709160"/>
            <a:ext cx="502920" cy="201168"/>
          </a:xfrm>
          <a:prstGeom prst="rightArrow">
            <a:avLst/>
          </a:prstGeom>
          <a:solidFill>
            <a:srgbClr val="9FC3D4"/>
          </a:solidFill>
          <a:ln/>
        </p:spPr>
      </p:sp>
      <p:sp>
        <p:nvSpPr>
          <p:cNvPr id="20" name="Text 17"/>
          <p:cNvSpPr txBox="1"/>
          <p:nvPr/>
        </p:nvSpPr>
        <p:spPr>
          <a:xfrm>
            <a:off x="6537960" y="4581144"/>
            <a:ext cx="4937760" cy="457200"/>
          </a:xfrm>
          <a:prstGeom prst="rect">
            <a:avLst/>
          </a:prstGeom>
          <a:noFill/>
          <a:ln/>
        </p:spPr>
        <p:txBody>
          <a:bodyPr wrap="square" lIns="0" tIns="0" rIns="0" bIns="0" rtlCol="0" anchor="ctr"/>
          <a:lstStyle/>
          <a:p>
            <a:pPr indent="0" marL="0">
              <a:buNone/>
            </a:pPr>
            <a:r>
              <a:rPr lang="en-US" sz="1350" b="1" dirty="0">
                <a:solidFill>
                  <a:srgbClr val="0B4257"/>
                </a:solidFill>
                <a:latin typeface="Calibri" pitchFamily="34" charset="0"/>
                <a:ea typeface="Calibri" pitchFamily="34" charset="-122"/>
                <a:cs typeface="Calibri" pitchFamily="34" charset="-120"/>
              </a:rPr>
              <a:t>HODs see their own branch in real time</a:t>
            </a:r>
            <a:endParaRPr lang="en-US" sz="1350" dirty="0"/>
          </a:p>
        </p:txBody>
      </p:sp>
      <p:sp>
        <p:nvSpPr>
          <p:cNvPr id="21" name="Text 18"/>
          <p:cNvSpPr txBox="1"/>
          <p:nvPr/>
        </p:nvSpPr>
        <p:spPr>
          <a:xfrm>
            <a:off x="777240" y="5148072"/>
            <a:ext cx="4572000" cy="457200"/>
          </a:xfrm>
          <a:prstGeom prst="rect">
            <a:avLst/>
          </a:prstGeom>
          <a:noFill/>
          <a:ln/>
        </p:spPr>
        <p:txBody>
          <a:bodyPr wrap="square" lIns="0" tIns="0" rIns="0" bIns="0" rtlCol="0" anchor="ctr"/>
          <a:lstStyle/>
          <a:p>
            <a:pPr indent="0" marL="0">
              <a:buNone/>
            </a:pPr>
            <a:r>
              <a:rPr lang="en-US" sz="1350" dirty="0">
                <a:solidFill>
                  <a:srgbClr val="5A7482"/>
                </a:solidFill>
                <a:latin typeface="Calibri" pitchFamily="34" charset="0"/>
                <a:ea typeface="Calibri" pitchFamily="34" charset="-122"/>
                <a:cs typeface="Calibri" pitchFamily="34" charset="-120"/>
              </a:rPr>
              <a:t>Students prepare on guesswork</a:t>
            </a:r>
            <a:endParaRPr lang="en-US" sz="1350" dirty="0"/>
          </a:p>
        </p:txBody>
      </p:sp>
      <p:sp>
        <p:nvSpPr>
          <p:cNvPr id="22" name="Shape 19"/>
          <p:cNvSpPr/>
          <p:nvPr/>
        </p:nvSpPr>
        <p:spPr>
          <a:xfrm>
            <a:off x="5623560" y="5276088"/>
            <a:ext cx="502920" cy="201168"/>
          </a:xfrm>
          <a:prstGeom prst="rightArrow">
            <a:avLst/>
          </a:prstGeom>
          <a:solidFill>
            <a:srgbClr val="9FC3D4"/>
          </a:solidFill>
          <a:ln/>
        </p:spPr>
      </p:sp>
      <p:sp>
        <p:nvSpPr>
          <p:cNvPr id="23" name="Text 20"/>
          <p:cNvSpPr txBox="1"/>
          <p:nvPr/>
        </p:nvSpPr>
        <p:spPr>
          <a:xfrm>
            <a:off x="6537960" y="5148072"/>
            <a:ext cx="4937760" cy="457200"/>
          </a:xfrm>
          <a:prstGeom prst="rect">
            <a:avLst/>
          </a:prstGeom>
          <a:noFill/>
          <a:ln/>
        </p:spPr>
        <p:txBody>
          <a:bodyPr wrap="square" lIns="0" tIns="0" rIns="0" bIns="0" rtlCol="0" anchor="ctr"/>
          <a:lstStyle/>
          <a:p>
            <a:pPr indent="0" marL="0">
              <a:buNone/>
            </a:pPr>
            <a:r>
              <a:rPr lang="en-US" sz="1350" b="1" dirty="0">
                <a:solidFill>
                  <a:srgbClr val="0B4257"/>
                </a:solidFill>
                <a:latin typeface="Calibri" pitchFamily="34" charset="0"/>
                <a:ea typeface="Calibri" pitchFamily="34" charset="-122"/>
                <a:cs typeface="Calibri" pitchFamily="34" charset="-120"/>
              </a:rPr>
              <a:t>Every student gets a plan sized to today</a:t>
            </a:r>
            <a:endParaRPr lang="en-US" sz="1350" dirty="0"/>
          </a:p>
        </p:txBody>
      </p:sp>
      <p:sp>
        <p:nvSpPr>
          <p:cNvPr id="24" name="Text 21"/>
          <p:cNvSpPr txBox="1"/>
          <p:nvPr/>
        </p:nvSpPr>
        <p:spPr>
          <a:xfrm>
            <a:off x="777240" y="5715000"/>
            <a:ext cx="4572000" cy="457200"/>
          </a:xfrm>
          <a:prstGeom prst="rect">
            <a:avLst/>
          </a:prstGeom>
          <a:noFill/>
          <a:ln/>
        </p:spPr>
        <p:txBody>
          <a:bodyPr wrap="square" lIns="0" tIns="0" rIns="0" bIns="0" rtlCol="0" anchor="ctr"/>
          <a:lstStyle/>
          <a:p>
            <a:pPr indent="0" marL="0">
              <a:buNone/>
            </a:pPr>
            <a:r>
              <a:rPr lang="en-US" sz="1350" dirty="0">
                <a:solidFill>
                  <a:srgbClr val="5A7482"/>
                </a:solidFill>
                <a:latin typeface="Calibri" pitchFamily="34" charset="0"/>
                <a:ea typeface="Calibri" pitchFamily="34" charset="-122"/>
                <a:cs typeface="Calibri" pitchFamily="34" charset="-120"/>
              </a:rPr>
              <a:t>Management sees a result</a:t>
            </a:r>
            <a:endParaRPr lang="en-US" sz="1350" dirty="0"/>
          </a:p>
        </p:txBody>
      </p:sp>
      <p:sp>
        <p:nvSpPr>
          <p:cNvPr id="25" name="Shape 22"/>
          <p:cNvSpPr/>
          <p:nvPr/>
        </p:nvSpPr>
        <p:spPr>
          <a:xfrm>
            <a:off x="5623560" y="5843016"/>
            <a:ext cx="502920" cy="201168"/>
          </a:xfrm>
          <a:prstGeom prst="rightArrow">
            <a:avLst/>
          </a:prstGeom>
          <a:solidFill>
            <a:srgbClr val="9FC3D4"/>
          </a:solidFill>
          <a:ln/>
        </p:spPr>
      </p:sp>
      <p:sp>
        <p:nvSpPr>
          <p:cNvPr id="26" name="Text 23"/>
          <p:cNvSpPr txBox="1"/>
          <p:nvPr/>
        </p:nvSpPr>
        <p:spPr>
          <a:xfrm>
            <a:off x="6537960" y="5715000"/>
            <a:ext cx="4937760" cy="457200"/>
          </a:xfrm>
          <a:prstGeom prst="rect">
            <a:avLst/>
          </a:prstGeom>
          <a:noFill/>
          <a:ln/>
        </p:spPr>
        <p:txBody>
          <a:bodyPr wrap="square" lIns="0" tIns="0" rIns="0" bIns="0" rtlCol="0" anchor="ctr"/>
          <a:lstStyle/>
          <a:p>
            <a:pPr indent="0" marL="0">
              <a:buNone/>
            </a:pPr>
            <a:r>
              <a:rPr lang="en-US" sz="1350" b="1" dirty="0">
                <a:solidFill>
                  <a:srgbClr val="0B4257"/>
                </a:solidFill>
                <a:latin typeface="Calibri" pitchFamily="34" charset="0"/>
                <a:ea typeface="Calibri" pitchFamily="34" charset="-122"/>
                <a:cs typeface="Calibri" pitchFamily="34" charset="-120"/>
              </a:rPr>
              <a:t>Management sees a trend they can still change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384048"/>
            <a:ext cx="8229600" cy="274320"/>
          </a:xfrm>
          <a:prstGeom prst="rect">
            <a:avLst/>
          </a:prstGeom>
          <a:noFill/>
          <a:ln/>
        </p:spPr>
        <p:txBody>
          <a:bodyPr wrap="square" lIns="0" tIns="0" rIns="0" bIns="0" rtlCol="0" anchor="ctr"/>
          <a:lstStyle/>
          <a:p>
            <a:pPr indent="0" marL="0">
              <a:buNone/>
            </a:pPr>
            <a:r>
              <a:rPr lang="en-US" sz="1150" b="1" spc="260" kern="0" dirty="0">
                <a:solidFill>
                  <a:srgbClr val="08AF94"/>
                </a:solidFill>
                <a:latin typeface="Calibri" pitchFamily="34" charset="0"/>
                <a:ea typeface="Calibri" pitchFamily="34" charset="-122"/>
                <a:cs typeface="Calibri" pitchFamily="34" charset="-120"/>
              </a:rPr>
              <a:t>HOW MENTORMUNI SOLVES IT</a:t>
            </a:r>
            <a:endParaRPr lang="en-US" sz="1150" dirty="0"/>
          </a:p>
        </p:txBody>
      </p:sp>
      <p:sp>
        <p:nvSpPr>
          <p:cNvPr id="6" name="Text 3"/>
          <p:cNvSpPr txBox="1"/>
          <p:nvPr/>
        </p:nvSpPr>
        <p:spPr>
          <a:xfrm>
            <a:off x="640080" y="640080"/>
            <a:ext cx="8595360" cy="960120"/>
          </a:xfrm>
          <a:prstGeom prst="rect">
            <a:avLst/>
          </a:prstGeom>
          <a:noFill/>
          <a:ln/>
        </p:spPr>
        <p:txBody>
          <a:bodyPr wrap="square" lIns="0" tIns="0" rIns="0" bIns="0" rtlCol="0" anchor="t"/>
          <a:lstStyle/>
          <a:p>
            <a:pPr indent="0" marL="0">
              <a:buNone/>
            </a:pPr>
            <a:r>
              <a:rPr lang="en-US" sz="2900" b="1" dirty="0">
                <a:solidFill>
                  <a:srgbClr val="0B4257"/>
                </a:solidFill>
                <a:latin typeface="Calibri" pitchFamily="34" charset="0"/>
                <a:ea typeface="Calibri" pitchFamily="34" charset="-122"/>
                <a:cs typeface="Calibri" pitchFamily="34" charset="-120"/>
              </a:rPr>
              <a:t>Measure. Plan. Practice. See.</a:t>
            </a:r>
            <a:endParaRPr lang="en-US" sz="2900" dirty="0"/>
          </a:p>
        </p:txBody>
      </p:sp>
      <p:sp>
        <p:nvSpPr>
          <p:cNvPr id="7" name="Text 4"/>
          <p:cNvSpPr txBox="1"/>
          <p:nvPr/>
        </p:nvSpPr>
        <p:spPr>
          <a:xfrm>
            <a:off x="640080" y="1609344"/>
            <a:ext cx="10881360" cy="384048"/>
          </a:xfrm>
          <a:prstGeom prst="rect">
            <a:avLst/>
          </a:prstGeom>
          <a:noFill/>
          <a:ln/>
        </p:spPr>
        <p:txBody>
          <a:bodyPr wrap="square" lIns="0" tIns="0" rIns="0" bIns="0" rtlCol="0" anchor="t"/>
          <a:lstStyle/>
          <a:p>
            <a:pPr indent="0" marL="0">
              <a:buNone/>
            </a:pPr>
            <a:r>
              <a:rPr lang="en-US" sz="1450" dirty="0">
                <a:solidFill>
                  <a:srgbClr val="5A7482"/>
                </a:solidFill>
                <a:latin typeface="Calibri" pitchFamily="34" charset="0"/>
                <a:ea typeface="Calibri" pitchFamily="34" charset="-122"/>
                <a:cs typeface="Calibri" pitchFamily="34" charset="-120"/>
              </a:rPr>
              <a:t>Not a course. Not a portal. A running system with a live readiness score at the centre of it.</a:t>
            </a:r>
            <a:endParaRPr lang="en-US" sz="1450" dirty="0"/>
          </a:p>
        </p:txBody>
      </p:sp>
      <p:sp>
        <p:nvSpPr>
          <p:cNvPr id="8" name="Shape 5"/>
          <p:cNvSpPr/>
          <p:nvPr/>
        </p:nvSpPr>
        <p:spPr>
          <a:xfrm>
            <a:off x="640080" y="2103120"/>
            <a:ext cx="2560320" cy="288036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9" name="Shape 6"/>
          <p:cNvSpPr/>
          <p:nvPr/>
        </p:nvSpPr>
        <p:spPr>
          <a:xfrm>
            <a:off x="896112" y="2359152"/>
            <a:ext cx="457200" cy="457200"/>
          </a:xfrm>
          <a:prstGeom prst="ellipse">
            <a:avLst/>
          </a:prstGeom>
          <a:solidFill>
            <a:srgbClr val="0991BE"/>
          </a:solidFill>
          <a:ln/>
        </p:spPr>
      </p:sp>
      <p:sp>
        <p:nvSpPr>
          <p:cNvPr id="10" name="Text 7"/>
          <p:cNvSpPr txBox="1"/>
          <p:nvPr/>
        </p:nvSpPr>
        <p:spPr>
          <a:xfrm>
            <a:off x="896112" y="2359152"/>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txBox="1"/>
          <p:nvPr/>
        </p:nvSpPr>
        <p:spPr>
          <a:xfrm>
            <a:off x="896112" y="2944368"/>
            <a:ext cx="2103120" cy="384048"/>
          </a:xfrm>
          <a:prstGeom prst="rect">
            <a:avLst/>
          </a:prstGeom>
          <a:noFill/>
          <a:ln/>
        </p:spPr>
        <p:txBody>
          <a:bodyPr wrap="square" lIns="0" tIns="0" rIns="0" bIns="0" rtlCol="0" anchor="ctr"/>
          <a:lstStyle/>
          <a:p>
            <a:pPr indent="0" marL="0">
              <a:buNone/>
            </a:pPr>
            <a:r>
              <a:rPr lang="en-US" sz="1900" b="1" dirty="0">
                <a:solidFill>
                  <a:srgbClr val="0B4257"/>
                </a:solidFill>
                <a:latin typeface="Calibri" pitchFamily="34" charset="0"/>
                <a:ea typeface="Calibri" pitchFamily="34" charset="-122"/>
                <a:cs typeface="Calibri" pitchFamily="34" charset="-120"/>
              </a:rPr>
              <a:t>Measure</a:t>
            </a:r>
            <a:endParaRPr lang="en-US" sz="1900" dirty="0"/>
          </a:p>
        </p:txBody>
      </p:sp>
      <p:sp>
        <p:nvSpPr>
          <p:cNvPr id="12" name="Text 9"/>
          <p:cNvSpPr txBox="1"/>
          <p:nvPr/>
        </p:nvSpPr>
        <p:spPr>
          <a:xfrm>
            <a:off x="896112" y="3401568"/>
            <a:ext cx="2148840" cy="1463040"/>
          </a:xfrm>
          <a:prstGeom prst="rect">
            <a:avLst/>
          </a:prstGeom>
          <a:noFill/>
          <a:ln/>
        </p:spPr>
        <p:txBody>
          <a:bodyPr wrap="square" lIns="0" tIns="0" rIns="0" bIns="0" rtlCol="0" anchor="ctr"/>
          <a:lstStyle/>
          <a:p>
            <a:pPr indent="0" marL="0">
              <a:lnSpc>
                <a:spcPts val="1700"/>
              </a:lnSpc>
              <a:buNone/>
            </a:pPr>
            <a:r>
              <a:rPr lang="en-US" sz="1200" dirty="0">
                <a:solidFill>
                  <a:srgbClr val="5A7482"/>
                </a:solidFill>
                <a:latin typeface="Calibri" pitchFamily="34" charset="0"/>
                <a:ea typeface="Calibri" pitchFamily="34" charset="-122"/>
                <a:cs typeface="Calibri" pitchFamily="34" charset="-120"/>
              </a:rPr>
              <a:t>Eight baseline assessments — aptitude, skills, coding, resume, and AI mock interviews — produce one honest readiness score per student.</a:t>
            </a:r>
            <a:endParaRPr lang="en-US" sz="1200" dirty="0"/>
          </a:p>
        </p:txBody>
      </p:sp>
      <p:sp>
        <p:nvSpPr>
          <p:cNvPr id="13" name="Shape 10"/>
          <p:cNvSpPr/>
          <p:nvPr/>
        </p:nvSpPr>
        <p:spPr>
          <a:xfrm>
            <a:off x="3429000" y="2103120"/>
            <a:ext cx="2560320" cy="288036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4" name="Shape 11"/>
          <p:cNvSpPr/>
          <p:nvPr/>
        </p:nvSpPr>
        <p:spPr>
          <a:xfrm>
            <a:off x="3685032" y="2359152"/>
            <a:ext cx="457200" cy="457200"/>
          </a:xfrm>
          <a:prstGeom prst="ellipse">
            <a:avLst/>
          </a:prstGeom>
          <a:solidFill>
            <a:srgbClr val="0E5F7D"/>
          </a:solidFill>
          <a:ln/>
        </p:spPr>
      </p:sp>
      <p:sp>
        <p:nvSpPr>
          <p:cNvPr id="15" name="Text 12"/>
          <p:cNvSpPr txBox="1"/>
          <p:nvPr/>
        </p:nvSpPr>
        <p:spPr>
          <a:xfrm>
            <a:off x="3685032" y="2359152"/>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6" name="Text 13"/>
          <p:cNvSpPr txBox="1"/>
          <p:nvPr/>
        </p:nvSpPr>
        <p:spPr>
          <a:xfrm>
            <a:off x="3685032" y="2944368"/>
            <a:ext cx="2103120" cy="384048"/>
          </a:xfrm>
          <a:prstGeom prst="rect">
            <a:avLst/>
          </a:prstGeom>
          <a:noFill/>
          <a:ln/>
        </p:spPr>
        <p:txBody>
          <a:bodyPr wrap="square" lIns="0" tIns="0" rIns="0" bIns="0" rtlCol="0" anchor="ctr"/>
          <a:lstStyle/>
          <a:p>
            <a:pPr indent="0" marL="0">
              <a:buNone/>
            </a:pPr>
            <a:r>
              <a:rPr lang="en-US" sz="1900" b="1" dirty="0">
                <a:solidFill>
                  <a:srgbClr val="0B4257"/>
                </a:solidFill>
                <a:latin typeface="Calibri" pitchFamily="34" charset="0"/>
                <a:ea typeface="Calibri" pitchFamily="34" charset="-122"/>
                <a:cs typeface="Calibri" pitchFamily="34" charset="-120"/>
              </a:rPr>
              <a:t>Plan</a:t>
            </a:r>
            <a:endParaRPr lang="en-US" sz="1900" dirty="0"/>
          </a:p>
        </p:txBody>
      </p:sp>
      <p:sp>
        <p:nvSpPr>
          <p:cNvPr id="17" name="Text 14"/>
          <p:cNvSpPr txBox="1"/>
          <p:nvPr/>
        </p:nvSpPr>
        <p:spPr>
          <a:xfrm>
            <a:off x="3685032" y="3401568"/>
            <a:ext cx="2148840" cy="1463040"/>
          </a:xfrm>
          <a:prstGeom prst="rect">
            <a:avLst/>
          </a:prstGeom>
          <a:noFill/>
          <a:ln/>
        </p:spPr>
        <p:txBody>
          <a:bodyPr wrap="square" lIns="0" tIns="0" rIns="0" bIns="0" rtlCol="0" anchor="ctr"/>
          <a:lstStyle/>
          <a:p>
            <a:pPr indent="0" marL="0">
              <a:lnSpc>
                <a:spcPts val="1700"/>
              </a:lnSpc>
              <a:buNone/>
            </a:pPr>
            <a:r>
              <a:rPr lang="en-US" sz="1200" dirty="0">
                <a:solidFill>
                  <a:srgbClr val="5A7482"/>
                </a:solidFill>
                <a:latin typeface="Calibri" pitchFamily="34" charset="0"/>
                <a:ea typeface="Calibri" pitchFamily="34" charset="-122"/>
                <a:cs typeface="Calibri" pitchFamily="34" charset="-120"/>
              </a:rPr>
              <a:t>That score becomes a 90-day plan, broken into a daily mission sized to the time the student actually has.</a:t>
            </a:r>
            <a:endParaRPr lang="en-US" sz="1200" dirty="0"/>
          </a:p>
        </p:txBody>
      </p:sp>
      <p:sp>
        <p:nvSpPr>
          <p:cNvPr id="18" name="Shape 15"/>
          <p:cNvSpPr/>
          <p:nvPr/>
        </p:nvSpPr>
        <p:spPr>
          <a:xfrm>
            <a:off x="6217920" y="2103120"/>
            <a:ext cx="2560320" cy="288036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9" name="Shape 16"/>
          <p:cNvSpPr/>
          <p:nvPr/>
        </p:nvSpPr>
        <p:spPr>
          <a:xfrm>
            <a:off x="6473952" y="2359152"/>
            <a:ext cx="457200" cy="457200"/>
          </a:xfrm>
          <a:prstGeom prst="ellipse">
            <a:avLst/>
          </a:prstGeom>
          <a:solidFill>
            <a:srgbClr val="08AF94"/>
          </a:solidFill>
          <a:ln/>
        </p:spPr>
      </p:sp>
      <p:sp>
        <p:nvSpPr>
          <p:cNvPr id="20" name="Text 17"/>
          <p:cNvSpPr txBox="1"/>
          <p:nvPr/>
        </p:nvSpPr>
        <p:spPr>
          <a:xfrm>
            <a:off x="6473952" y="2359152"/>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1" name="Text 18"/>
          <p:cNvSpPr txBox="1"/>
          <p:nvPr/>
        </p:nvSpPr>
        <p:spPr>
          <a:xfrm>
            <a:off x="6473952" y="2944368"/>
            <a:ext cx="2103120" cy="384048"/>
          </a:xfrm>
          <a:prstGeom prst="rect">
            <a:avLst/>
          </a:prstGeom>
          <a:noFill/>
          <a:ln/>
        </p:spPr>
        <p:txBody>
          <a:bodyPr wrap="square" lIns="0" tIns="0" rIns="0" bIns="0" rtlCol="0" anchor="ctr"/>
          <a:lstStyle/>
          <a:p>
            <a:pPr indent="0" marL="0">
              <a:buNone/>
            </a:pPr>
            <a:r>
              <a:rPr lang="en-US" sz="1900" b="1" dirty="0">
                <a:solidFill>
                  <a:srgbClr val="0B4257"/>
                </a:solidFill>
                <a:latin typeface="Calibri" pitchFamily="34" charset="0"/>
                <a:ea typeface="Calibri" pitchFamily="34" charset="-122"/>
                <a:cs typeface="Calibri" pitchFamily="34" charset="-120"/>
              </a:rPr>
              <a:t>Practice</a:t>
            </a:r>
            <a:endParaRPr lang="en-US" sz="1900" dirty="0"/>
          </a:p>
        </p:txBody>
      </p:sp>
      <p:sp>
        <p:nvSpPr>
          <p:cNvPr id="22" name="Text 19"/>
          <p:cNvSpPr txBox="1"/>
          <p:nvPr/>
        </p:nvSpPr>
        <p:spPr>
          <a:xfrm>
            <a:off x="6473952" y="3401568"/>
            <a:ext cx="2148840" cy="1463040"/>
          </a:xfrm>
          <a:prstGeom prst="rect">
            <a:avLst/>
          </a:prstGeom>
          <a:noFill/>
          <a:ln/>
        </p:spPr>
        <p:txBody>
          <a:bodyPr wrap="square" lIns="0" tIns="0" rIns="0" bIns="0" rtlCol="0" anchor="ctr"/>
          <a:lstStyle/>
          <a:p>
            <a:pPr indent="0" marL="0">
              <a:lnSpc>
                <a:spcPts val="1700"/>
              </a:lnSpc>
              <a:buNone/>
            </a:pPr>
            <a:r>
              <a:rPr lang="en-US" sz="1200" dirty="0">
                <a:solidFill>
                  <a:srgbClr val="5A7482"/>
                </a:solidFill>
                <a:latin typeface="Calibri" pitchFamily="34" charset="0"/>
                <a:ea typeface="Calibri" pitchFamily="34" charset="-122"/>
                <a:cs typeface="Calibri" pitchFamily="34" charset="-120"/>
              </a:rPr>
              <a:t>A scored AI voice mock interview every day, coding rounds, and company-specific drive sprints — no panel to schedule.</a:t>
            </a:r>
            <a:endParaRPr lang="en-US" sz="1200" dirty="0"/>
          </a:p>
        </p:txBody>
      </p:sp>
      <p:sp>
        <p:nvSpPr>
          <p:cNvPr id="23" name="Shape 20"/>
          <p:cNvSpPr/>
          <p:nvPr/>
        </p:nvSpPr>
        <p:spPr>
          <a:xfrm>
            <a:off x="9006840" y="2103120"/>
            <a:ext cx="2560320" cy="288036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24" name="Shape 21"/>
          <p:cNvSpPr/>
          <p:nvPr/>
        </p:nvSpPr>
        <p:spPr>
          <a:xfrm>
            <a:off x="9262872" y="2359152"/>
            <a:ext cx="457200" cy="457200"/>
          </a:xfrm>
          <a:prstGeom prst="ellipse">
            <a:avLst/>
          </a:prstGeom>
          <a:solidFill>
            <a:srgbClr val="C2660A"/>
          </a:solidFill>
          <a:ln/>
        </p:spPr>
      </p:sp>
      <p:sp>
        <p:nvSpPr>
          <p:cNvPr id="25" name="Text 22"/>
          <p:cNvSpPr txBox="1"/>
          <p:nvPr/>
        </p:nvSpPr>
        <p:spPr>
          <a:xfrm>
            <a:off x="9262872" y="2359152"/>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6" name="Text 23"/>
          <p:cNvSpPr txBox="1"/>
          <p:nvPr/>
        </p:nvSpPr>
        <p:spPr>
          <a:xfrm>
            <a:off x="9262872" y="2944368"/>
            <a:ext cx="2103120" cy="384048"/>
          </a:xfrm>
          <a:prstGeom prst="rect">
            <a:avLst/>
          </a:prstGeom>
          <a:noFill/>
          <a:ln/>
        </p:spPr>
        <p:txBody>
          <a:bodyPr wrap="square" lIns="0" tIns="0" rIns="0" bIns="0" rtlCol="0" anchor="ctr"/>
          <a:lstStyle/>
          <a:p>
            <a:pPr indent="0" marL="0">
              <a:buNone/>
            </a:pPr>
            <a:r>
              <a:rPr lang="en-US" sz="1900" b="1" dirty="0">
                <a:solidFill>
                  <a:srgbClr val="0B4257"/>
                </a:solidFill>
                <a:latin typeface="Calibri" pitchFamily="34" charset="0"/>
                <a:ea typeface="Calibri" pitchFamily="34" charset="-122"/>
                <a:cs typeface="Calibri" pitchFamily="34" charset="-120"/>
              </a:rPr>
              <a:t>See</a:t>
            </a:r>
            <a:endParaRPr lang="en-US" sz="1900" dirty="0"/>
          </a:p>
        </p:txBody>
      </p:sp>
      <p:sp>
        <p:nvSpPr>
          <p:cNvPr id="27" name="Text 24"/>
          <p:cNvSpPr txBox="1"/>
          <p:nvPr/>
        </p:nvSpPr>
        <p:spPr>
          <a:xfrm>
            <a:off x="9262872" y="3401568"/>
            <a:ext cx="2148840" cy="1463040"/>
          </a:xfrm>
          <a:prstGeom prst="rect">
            <a:avLst/>
          </a:prstGeom>
          <a:noFill/>
          <a:ln/>
        </p:spPr>
        <p:txBody>
          <a:bodyPr wrap="square" lIns="0" tIns="0" rIns="0" bIns="0" rtlCol="0" anchor="ctr"/>
          <a:lstStyle/>
          <a:p>
            <a:pPr indent="0" marL="0">
              <a:lnSpc>
                <a:spcPts val="1700"/>
              </a:lnSpc>
              <a:buNone/>
            </a:pPr>
            <a:r>
              <a:rPr lang="en-US" sz="1200" dirty="0">
                <a:solidFill>
                  <a:srgbClr val="5A7482"/>
                </a:solidFill>
                <a:latin typeface="Calibri" pitchFamily="34" charset="0"/>
                <a:ea typeface="Calibri" pitchFamily="34" charset="-122"/>
                <a:cs typeface="Calibri" pitchFamily="34" charset="-120"/>
              </a:rPr>
              <a:t>Every score rolls up live to the HOD, the TPO, and management, with the intervention already suggested.</a:t>
            </a:r>
            <a:endParaRPr lang="en-US" sz="1200" dirty="0"/>
          </a:p>
        </p:txBody>
      </p:sp>
      <p:sp>
        <p:nvSpPr>
          <p:cNvPr id="28" name="Shape 25"/>
          <p:cNvSpPr/>
          <p:nvPr/>
        </p:nvSpPr>
        <p:spPr>
          <a:xfrm>
            <a:off x="640080" y="5257800"/>
            <a:ext cx="10908792" cy="822960"/>
          </a:xfrm>
          <a:prstGeom prst="roundRect">
            <a:avLst>
              <a:gd name="adj" fmla="val 6667"/>
            </a:avLst>
          </a:prstGeom>
          <a:solidFill>
            <a:srgbClr val="E7F1F7"/>
          </a:solidFill>
          <a:ln w="12700">
            <a:solidFill>
              <a:srgbClr val="C4E4F2"/>
            </a:solidFill>
            <a:prstDash val="solid"/>
          </a:ln>
        </p:spPr>
      </p:sp>
      <p:sp>
        <p:nvSpPr>
          <p:cNvPr id="29" name="Text 26"/>
          <p:cNvSpPr txBox="1"/>
          <p:nvPr/>
        </p:nvSpPr>
        <p:spPr>
          <a:xfrm>
            <a:off x="960120" y="5394960"/>
            <a:ext cx="10241280" cy="548640"/>
          </a:xfrm>
          <a:prstGeom prst="rect">
            <a:avLst/>
          </a:prstGeom>
          <a:noFill/>
          <a:ln/>
        </p:spPr>
        <p:txBody>
          <a:bodyPr wrap="square" lIns="0" tIns="0" rIns="0" bIns="0" rtlCol="0" anchor="ctr"/>
          <a:lstStyle/>
          <a:p>
            <a:pPr indent="0" marL="0">
              <a:buNone/>
            </a:pPr>
            <a:r>
              <a:rPr lang="en-US" sz="1500" b="1" dirty="0">
                <a:solidFill>
                  <a:srgbClr val="0E5F7D"/>
                </a:solidFill>
                <a:latin typeface="Calibri" pitchFamily="34" charset="0"/>
                <a:ea typeface="Calibri" pitchFamily="34" charset="-122"/>
                <a:cs typeface="Calibri" pitchFamily="34" charset="-120"/>
              </a:rPr>
              <a:t>The loop closes: what the student does today changes what the TPO sees tomorrow. That is the whole product.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384048"/>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HOW MANY PORTALS, AND WHO EACH ONE SERVES</a:t>
            </a:r>
            <a:endParaRPr lang="en-US" sz="1150" dirty="0"/>
          </a:p>
        </p:txBody>
      </p:sp>
      <p:sp>
        <p:nvSpPr>
          <p:cNvPr id="6" name="Text 3"/>
          <p:cNvSpPr txBox="1"/>
          <p:nvPr/>
        </p:nvSpPr>
        <p:spPr>
          <a:xfrm>
            <a:off x="640080" y="640080"/>
            <a:ext cx="8595360" cy="960120"/>
          </a:xfrm>
          <a:prstGeom prst="rect">
            <a:avLst/>
          </a:prstGeom>
          <a:noFill/>
          <a:ln/>
        </p:spPr>
        <p:txBody>
          <a:bodyPr wrap="square" lIns="0" tIns="0" rIns="0" bIns="0" rtlCol="0" anchor="t"/>
          <a:lstStyle/>
          <a:p>
            <a:pPr indent="0" marL="0">
              <a:buNone/>
            </a:pPr>
            <a:r>
              <a:rPr lang="en-US" sz="2900" b="1" dirty="0">
                <a:solidFill>
                  <a:srgbClr val="0B4257"/>
                </a:solidFill>
                <a:latin typeface="Calibri" pitchFamily="34" charset="0"/>
                <a:ea typeface="Calibri" pitchFamily="34" charset="-122"/>
                <a:cs typeface="Calibri" pitchFamily="34" charset="-120"/>
              </a:rPr>
              <a:t>Three portals. Four roles. One number.</a:t>
            </a:r>
            <a:endParaRPr lang="en-US" sz="2900" dirty="0"/>
          </a:p>
        </p:txBody>
      </p:sp>
      <p:sp>
        <p:nvSpPr>
          <p:cNvPr id="7" name="Text 4"/>
          <p:cNvSpPr txBox="1"/>
          <p:nvPr/>
        </p:nvSpPr>
        <p:spPr>
          <a:xfrm>
            <a:off x="640080" y="1609344"/>
            <a:ext cx="10881360" cy="384048"/>
          </a:xfrm>
          <a:prstGeom prst="rect">
            <a:avLst/>
          </a:prstGeom>
          <a:noFill/>
          <a:ln/>
        </p:spPr>
        <p:txBody>
          <a:bodyPr wrap="square" lIns="0" tIns="0" rIns="0" bIns="0" rtlCol="0" anchor="t"/>
          <a:lstStyle/>
          <a:p>
            <a:pPr indent="0" marL="0">
              <a:buNone/>
            </a:pPr>
            <a:r>
              <a:rPr lang="en-US" sz="1450" dirty="0">
                <a:solidFill>
                  <a:srgbClr val="5A7482"/>
                </a:solidFill>
                <a:latin typeface="Calibri" pitchFamily="34" charset="0"/>
                <a:ea typeface="Calibri" pitchFamily="34" charset="-122"/>
                <a:cs typeface="Calibri" pitchFamily="34" charset="-120"/>
              </a:rPr>
              <a:t>Each level sees exactly what it should — and nothing it should not.</a:t>
            </a:r>
            <a:endParaRPr lang="en-US" sz="1450" dirty="0"/>
          </a:p>
        </p:txBody>
      </p:sp>
      <p:sp>
        <p:nvSpPr>
          <p:cNvPr id="8" name="Shape 5"/>
          <p:cNvSpPr/>
          <p:nvPr/>
        </p:nvSpPr>
        <p:spPr>
          <a:xfrm>
            <a:off x="640080" y="2103120"/>
            <a:ext cx="2560320" cy="306324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9" name="Shape 6"/>
          <p:cNvSpPr/>
          <p:nvPr/>
        </p:nvSpPr>
        <p:spPr>
          <a:xfrm>
            <a:off x="640080" y="2103120"/>
            <a:ext cx="2560320" cy="777240"/>
          </a:xfrm>
          <a:prstGeom prst="roundRect">
            <a:avLst>
              <a:gd name="adj" fmla="val 12941"/>
            </a:avLst>
          </a:prstGeom>
          <a:solidFill>
            <a:srgbClr val="0B4257"/>
          </a:solidFill>
          <a:ln/>
        </p:spPr>
      </p:sp>
      <p:sp>
        <p:nvSpPr>
          <p:cNvPr id="10" name="Text 7"/>
          <p:cNvSpPr txBox="1"/>
          <p:nvPr/>
        </p:nvSpPr>
        <p:spPr>
          <a:xfrm>
            <a:off x="868680" y="2212848"/>
            <a:ext cx="214884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Platform</a:t>
            </a:r>
            <a:endParaRPr lang="en-US" sz="1550" dirty="0"/>
          </a:p>
        </p:txBody>
      </p:sp>
      <p:sp>
        <p:nvSpPr>
          <p:cNvPr id="11" name="Text 8"/>
          <p:cNvSpPr txBox="1"/>
          <p:nvPr/>
        </p:nvSpPr>
        <p:spPr>
          <a:xfrm>
            <a:off x="868680" y="2542032"/>
            <a:ext cx="2148840" cy="256032"/>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MentorMuni ops</a:t>
            </a:r>
            <a:endParaRPr lang="en-US" sz="1100" dirty="0"/>
          </a:p>
        </p:txBody>
      </p:sp>
      <p:sp>
        <p:nvSpPr>
          <p:cNvPr id="12" name="Text 9"/>
          <p:cNvSpPr txBox="1"/>
          <p:nvPr/>
        </p:nvSpPr>
        <p:spPr>
          <a:xfrm>
            <a:off x="868680" y="3035808"/>
            <a:ext cx="2148840" cy="201168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Provisions your college as an isolated tenant</a:t>
            </a:r>
            <a:endParaRPr lang="en-US" sz="1150" dirty="0"/>
          </a:p>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Attaches your plan, seats, and validity</a:t>
            </a:r>
            <a:endParaRPr lang="en-US" sz="1150" dirty="0"/>
          </a:p>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Enables features · hands you the Org Admin key</a:t>
            </a:r>
            <a:endParaRPr lang="en-US" sz="1150" dirty="0"/>
          </a:p>
        </p:txBody>
      </p:sp>
      <p:sp>
        <p:nvSpPr>
          <p:cNvPr id="13" name="Shape 10"/>
          <p:cNvSpPr/>
          <p:nvPr/>
        </p:nvSpPr>
        <p:spPr>
          <a:xfrm>
            <a:off x="3264408" y="2395728"/>
            <a:ext cx="118872" cy="182880"/>
          </a:xfrm>
          <a:prstGeom prst="rightArrow">
            <a:avLst/>
          </a:prstGeom>
          <a:solidFill>
            <a:srgbClr val="A9C4D2"/>
          </a:solidFill>
          <a:ln/>
        </p:spPr>
      </p:sp>
      <p:sp>
        <p:nvSpPr>
          <p:cNvPr id="14" name="Shape 11"/>
          <p:cNvSpPr/>
          <p:nvPr/>
        </p:nvSpPr>
        <p:spPr>
          <a:xfrm>
            <a:off x="3429000" y="2103120"/>
            <a:ext cx="2560320" cy="306324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5" name="Shape 12"/>
          <p:cNvSpPr/>
          <p:nvPr/>
        </p:nvSpPr>
        <p:spPr>
          <a:xfrm>
            <a:off x="3429000" y="2103120"/>
            <a:ext cx="2560320" cy="777240"/>
          </a:xfrm>
          <a:prstGeom prst="roundRect">
            <a:avLst>
              <a:gd name="adj" fmla="val 12941"/>
            </a:avLst>
          </a:prstGeom>
          <a:solidFill>
            <a:srgbClr val="0991BE"/>
          </a:solidFill>
          <a:ln/>
        </p:spPr>
      </p:sp>
      <p:sp>
        <p:nvSpPr>
          <p:cNvPr id="16" name="Text 13"/>
          <p:cNvSpPr txBox="1"/>
          <p:nvPr/>
        </p:nvSpPr>
        <p:spPr>
          <a:xfrm>
            <a:off x="3657600" y="2212848"/>
            <a:ext cx="214884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Organization — TPO</a:t>
            </a:r>
            <a:endParaRPr lang="en-US" sz="1550" dirty="0"/>
          </a:p>
        </p:txBody>
      </p:sp>
      <p:sp>
        <p:nvSpPr>
          <p:cNvPr id="17" name="Text 14"/>
          <p:cNvSpPr txBox="1"/>
          <p:nvPr/>
        </p:nvSpPr>
        <p:spPr>
          <a:xfrm>
            <a:off x="3657600" y="2542032"/>
            <a:ext cx="2148840" cy="256032"/>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Placement office</a:t>
            </a:r>
            <a:endParaRPr lang="en-US" sz="1100" dirty="0"/>
          </a:p>
        </p:txBody>
      </p:sp>
      <p:sp>
        <p:nvSpPr>
          <p:cNvPr id="18" name="Text 15"/>
          <p:cNvSpPr txBox="1"/>
          <p:nvPr/>
        </p:nvSpPr>
        <p:spPr>
          <a:xfrm>
            <a:off x="3657600" y="3035808"/>
            <a:ext cx="2148840" cy="201168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Departments, HOD invites, and access control</a:t>
            </a:r>
            <a:endParaRPr lang="en-US" sz="1150" dirty="0"/>
          </a:p>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Enrollment approvals and campus roster</a:t>
            </a:r>
            <a:endParaRPr lang="en-US" sz="1150" dirty="0"/>
          </a:p>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Campus-wide performance, AI brief, CSV shortlist</a:t>
            </a:r>
            <a:endParaRPr lang="en-US" sz="1150" dirty="0"/>
          </a:p>
        </p:txBody>
      </p:sp>
      <p:sp>
        <p:nvSpPr>
          <p:cNvPr id="19" name="Shape 16"/>
          <p:cNvSpPr/>
          <p:nvPr/>
        </p:nvSpPr>
        <p:spPr>
          <a:xfrm>
            <a:off x="6053328" y="2395728"/>
            <a:ext cx="118872" cy="182880"/>
          </a:xfrm>
          <a:prstGeom prst="rightArrow">
            <a:avLst/>
          </a:prstGeom>
          <a:solidFill>
            <a:srgbClr val="A9C4D2"/>
          </a:solidFill>
          <a:ln/>
        </p:spPr>
      </p:sp>
      <p:sp>
        <p:nvSpPr>
          <p:cNvPr id="20" name="Shape 17"/>
          <p:cNvSpPr/>
          <p:nvPr/>
        </p:nvSpPr>
        <p:spPr>
          <a:xfrm>
            <a:off x="6217920" y="2103120"/>
            <a:ext cx="2560320" cy="306324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21" name="Shape 18"/>
          <p:cNvSpPr/>
          <p:nvPr/>
        </p:nvSpPr>
        <p:spPr>
          <a:xfrm>
            <a:off x="6217920" y="2103120"/>
            <a:ext cx="2560320" cy="777240"/>
          </a:xfrm>
          <a:prstGeom prst="roundRect">
            <a:avLst>
              <a:gd name="adj" fmla="val 12941"/>
            </a:avLst>
          </a:prstGeom>
          <a:solidFill>
            <a:srgbClr val="08AF94"/>
          </a:solidFill>
          <a:ln/>
        </p:spPr>
      </p:sp>
      <p:sp>
        <p:nvSpPr>
          <p:cNvPr id="22" name="Text 19"/>
          <p:cNvSpPr txBox="1"/>
          <p:nvPr/>
        </p:nvSpPr>
        <p:spPr>
          <a:xfrm>
            <a:off x="6446520" y="2212848"/>
            <a:ext cx="214884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Organization — HOD</a:t>
            </a:r>
            <a:endParaRPr lang="en-US" sz="1550" dirty="0"/>
          </a:p>
        </p:txBody>
      </p:sp>
      <p:sp>
        <p:nvSpPr>
          <p:cNvPr id="23" name="Text 20"/>
          <p:cNvSpPr txBox="1"/>
          <p:nvPr/>
        </p:nvSpPr>
        <p:spPr>
          <a:xfrm>
            <a:off x="6446520" y="2542032"/>
            <a:ext cx="2148840" cy="256032"/>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Department head</a:t>
            </a:r>
            <a:endParaRPr lang="en-US" sz="1100" dirty="0"/>
          </a:p>
        </p:txBody>
      </p:sp>
      <p:sp>
        <p:nvSpPr>
          <p:cNvPr id="24" name="Text 21"/>
          <p:cNvSpPr txBox="1"/>
          <p:nvPr/>
        </p:nvSpPr>
        <p:spPr>
          <a:xfrm>
            <a:off x="6446520" y="3035808"/>
            <a:ext cx="2148840" cy="201168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Own branch roster and readiness only</a:t>
            </a:r>
            <a:endParaRPr lang="en-US" sz="1150" dirty="0"/>
          </a:p>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Assign programs and mocks to weak students</a:t>
            </a:r>
            <a:endParaRPr lang="en-US" sz="1150" dirty="0"/>
          </a:p>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Notify the branch — no TPO round trip</a:t>
            </a:r>
            <a:endParaRPr lang="en-US" sz="1150" dirty="0"/>
          </a:p>
        </p:txBody>
      </p:sp>
      <p:sp>
        <p:nvSpPr>
          <p:cNvPr id="25" name="Shape 22"/>
          <p:cNvSpPr/>
          <p:nvPr/>
        </p:nvSpPr>
        <p:spPr>
          <a:xfrm>
            <a:off x="8842248" y="2395728"/>
            <a:ext cx="118872" cy="182880"/>
          </a:xfrm>
          <a:prstGeom prst="rightArrow">
            <a:avLst/>
          </a:prstGeom>
          <a:solidFill>
            <a:srgbClr val="A9C4D2"/>
          </a:solidFill>
          <a:ln/>
        </p:spPr>
      </p:sp>
      <p:sp>
        <p:nvSpPr>
          <p:cNvPr id="26" name="Shape 23"/>
          <p:cNvSpPr/>
          <p:nvPr/>
        </p:nvSpPr>
        <p:spPr>
          <a:xfrm>
            <a:off x="9006840" y="2103120"/>
            <a:ext cx="2560320" cy="306324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27" name="Shape 24"/>
          <p:cNvSpPr/>
          <p:nvPr/>
        </p:nvSpPr>
        <p:spPr>
          <a:xfrm>
            <a:off x="9006840" y="2103120"/>
            <a:ext cx="2560320" cy="777240"/>
          </a:xfrm>
          <a:prstGeom prst="roundRect">
            <a:avLst>
              <a:gd name="adj" fmla="val 12941"/>
            </a:avLst>
          </a:prstGeom>
          <a:solidFill>
            <a:srgbClr val="C2660A"/>
          </a:solidFill>
          <a:ln/>
        </p:spPr>
      </p:sp>
      <p:sp>
        <p:nvSpPr>
          <p:cNvPr id="28" name="Text 25"/>
          <p:cNvSpPr txBox="1"/>
          <p:nvPr/>
        </p:nvSpPr>
        <p:spPr>
          <a:xfrm>
            <a:off x="9235440" y="2212848"/>
            <a:ext cx="214884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Student</a:t>
            </a:r>
            <a:endParaRPr lang="en-US" sz="1550" dirty="0"/>
          </a:p>
        </p:txBody>
      </p:sp>
      <p:sp>
        <p:nvSpPr>
          <p:cNvPr id="29" name="Text 26"/>
          <p:cNvSpPr txBox="1"/>
          <p:nvPr/>
        </p:nvSpPr>
        <p:spPr>
          <a:xfrm>
            <a:off x="9235440" y="2542032"/>
            <a:ext cx="2148840" cy="256032"/>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The batch</a:t>
            </a:r>
            <a:endParaRPr lang="en-US" sz="1100" dirty="0"/>
          </a:p>
        </p:txBody>
      </p:sp>
      <p:sp>
        <p:nvSpPr>
          <p:cNvPr id="30" name="Text 27"/>
          <p:cNvSpPr txBox="1"/>
          <p:nvPr/>
        </p:nvSpPr>
        <p:spPr>
          <a:xfrm>
            <a:off x="9235440" y="3035808"/>
            <a:ext cx="2148840" cy="201168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Daily mission, 90-day plan, streak</a:t>
            </a:r>
            <a:endParaRPr lang="en-US" sz="1150" dirty="0"/>
          </a:p>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AI mocks, coding rounds, company prep</a:t>
            </a:r>
            <a:endParaRPr lang="en-US" sz="1150" dirty="0"/>
          </a:p>
          <a:p>
            <a:pPr marL="342900" indent="-342900">
              <a:lnSpc>
                <a:spcPts val="1600"/>
              </a:lnSpc>
              <a:spcAft>
                <a:spcPts val="800"/>
              </a:spcAft>
              <a:buSzPct val="100000"/>
              <a:buChar char="•"/>
            </a:pPr>
            <a:r>
              <a:rPr lang="en-US" sz="1150" dirty="0">
                <a:solidFill>
                  <a:srgbClr val="5A7482"/>
                </a:solidFill>
                <a:latin typeface="Calibri" pitchFamily="34" charset="0"/>
                <a:ea typeface="Calibri" pitchFamily="34" charset="-122"/>
                <a:cs typeface="Calibri" pitchFamily="34" charset="-120"/>
              </a:rPr>
              <a:t>Private Fear → Fearless track</a:t>
            </a:r>
            <a:endParaRPr lang="en-US" sz="1150" dirty="0"/>
          </a:p>
        </p:txBody>
      </p:sp>
      <p:sp>
        <p:nvSpPr>
          <p:cNvPr id="31" name="Text 28"/>
          <p:cNvSpPr txBox="1"/>
          <p:nvPr/>
        </p:nvSpPr>
        <p:spPr>
          <a:xfrm>
            <a:off x="640080" y="5440680"/>
            <a:ext cx="10881360" cy="384048"/>
          </a:xfrm>
          <a:prstGeom prst="rect">
            <a:avLst/>
          </a:prstGeom>
          <a:noFill/>
          <a:ln/>
        </p:spPr>
        <p:txBody>
          <a:bodyPr wrap="square" lIns="0" tIns="0" rIns="0" bIns="0" rtlCol="0" anchor="ctr"/>
          <a:lstStyle/>
          <a:p>
            <a:pPr indent="0" marL="0">
              <a:buNone/>
            </a:pPr>
            <a:r>
              <a:rPr lang="en-US" sz="1400" b="1" dirty="0">
                <a:solidFill>
                  <a:srgbClr val="0E5F7D"/>
                </a:solidFill>
                <a:latin typeface="Calibri" pitchFamily="34" charset="0"/>
                <a:ea typeface="Calibri" pitchFamily="34" charset="-122"/>
                <a:cs typeface="Calibri" pitchFamily="34" charset="-120"/>
              </a:rPr>
              <a:t>Student answers stay with the student. HODs see only their branch. The TPO sees the campus. We do not access any of it.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TPO PORTAL · DASHBOARD</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Open one screen and know where the campus stands</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Campus pulse, live</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Average readiness, drive-ready count, and score coverage — recalculated as students practise, not once a term.</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Readiness banded automatically</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Drive-ready, developing, and less prepared. You instantly know the size of the problem, not just that one exists.</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It tells you what to do next</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Deep analysis surfaces what is going well, what is a concern, and the specific action — assign mocks, escalate a branch, chase an invite.</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10-tpo-dashboard.jpg">    </p:cNvPr>
          <p:cNvPicPr>
            <a:picLocks noChangeAspect="1"/>
          </p:cNvPicPr>
          <p:nvPr/>
        </p:nvPicPr>
        <p:blipFill>
          <a:blip r:embed="rId2"/>
          <a:stretch>
            <a:fillRect/>
          </a:stretch>
        </p:blipFill>
        <p:spPr>
          <a:xfrm>
            <a:off x="4892040" y="1207008"/>
            <a:ext cx="6720840" cy="4200525"/>
          </a:xfrm>
          <a:prstGeom prst="rect">
            <a:avLst/>
          </a:prstGeom>
        </p:spPr>
      </p:pic>
      <p:sp>
        <p:nvSpPr>
          <p:cNvPr id="21" name="Text 17"/>
          <p:cNvSpPr txBox="1"/>
          <p:nvPr/>
        </p:nvSpPr>
        <p:spPr>
          <a:xfrm>
            <a:off x="640080" y="6355080"/>
            <a:ext cx="10881360" cy="274320"/>
          </a:xfrm>
          <a:prstGeom prst="rect">
            <a:avLst/>
          </a:prstGeom>
          <a:noFill/>
          <a:ln/>
        </p:spPr>
        <p:txBody>
          <a:bodyPr wrap="square" lIns="0" tIns="0" rIns="0" bIns="0" rtlCol="0" anchor="ctr"/>
          <a:lstStyle/>
          <a:p>
            <a:pPr indent="0" marL="0">
              <a:buNone/>
            </a:pPr>
            <a:r>
              <a:rPr lang="en-US" sz="950" i="1" dirty="0">
                <a:solidFill>
                  <a:srgbClr val="8FA6B3"/>
                </a:solidFill>
                <a:latin typeface="Calibri" pitchFamily="34" charset="0"/>
                <a:ea typeface="Calibri" pitchFamily="34" charset="-122"/>
                <a:cs typeface="Calibri" pitchFamily="34" charset="-120"/>
              </a:rPr>
              <a:t>Screens are the live product, captured against a demo cohort.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TPO PORTAL · DEPARTMENTS</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Stand the whole campus up in an afternoon</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Create the branch structure</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CSE, ECE, Mechanical, IT — name and code, and the branch exists with its own roster and readiness.</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Invite the HOD, they self-activate</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One invite, they set their own password. No credential sheets, no password resets landing on your desk.</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Add a Placement Coordinator</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Departments that need extra hands get a coordinator with the same branch-level access. Delegation without losing control.</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11-tpo-departments.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TPO PORTAL · ENROLLMENT</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Onboard the batch without collecting a single form</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Invite or let them request</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Add students directly, or let them request access — either way they land in one approval queue.</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Approve one, or approve all</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Bulk approve the batch. Each approval sends a set-password email and assigns the department automatically.</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One roster, always current</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The enrolled roster is the single list every other screen in the system reads from. No reconciliation, ever.</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12-tpo-enrollment.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TPO PORTAL · PERFORMANCE</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The recruiter asks for a list. You send it today.</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Rank and filter instantly</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Sort the campus by readiness, filter by department, set your top-N cut. The shortlist assembles itself.</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An AI brief you can forward</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A written executive summary — average readiness, drive-ready count, top prep gap — ready to paste into a mail to your Director.</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Export to CSV for the recruiter</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One click. No collation, no chasing branches, no reconciling three versions of the same sheet.</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17-tpo-performance.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TPO PORTAL · UPCOMING DRIVES</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Publish a drive once — the whole campus starts preparing</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Company, date, eligibility</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Enter the drive once. CGPA cut, backlog rules, eligible branches and batch — captured in one place.</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Every eligible student is notified</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No WhatsApp forwards, no notice board, no "sir I did not know about it" on the morning of the drive.</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Preparation reprioritises itself</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The drive date flows straight into each eligible student's daily plan as a countdown sprint.</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16-tpo-upcoming-drives.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HOD PORTAL · BRANCH STUDENTS</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Your HODs stop guessing and start intervening</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Their branch, and only their branch</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CSE sees CSE. ECE sees ECE. Access is scoped in the system, so there is no politics about who saw whose numbers.</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Weak students surface themselves</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Readiness sorted top to bottom. The 37% and the 44% are visible in September, while there is still time.</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Assign help in one click</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Assign a mock interview or a program to a struggling student directly from the roster — no request routed through the TPO.</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31-hod-students.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STUDENT PORTAL · HOME</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Every student wakes up knowing what to do today</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A daily mission, not a syllabus</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Baseline done, 90-day plan generated, today's tasks queued. No decision fatigue, no blank page.</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Sized to the time they have</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10, 25, 45 or 90 minutes. A student with a lab practical still keeps the streak alive.</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The drive outranks the plan</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When a company is 21 days out, the system reprioritises automatically — drive prep beats the generic plan.</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41-student-home.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STUDENT PORTAL · PRACTICE</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Nine tools. Eight of them score the baseline.</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AI mock interviews, on demand</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Skill, project, HR, and full technical rounds — voice-based, available at 2am, no panel to schedule.</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Aptitude, coding, and resume ATS</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The three rounds that actually eliminate your students, drilled daily instead of crammed once.</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One focused run per day, by design</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A student can take a scored mock every single day of the season — but only one, so it builds a habit, not a weekend binge.</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43-student-practice.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STUDENT PORTAL · COMPANY PREP</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A 21-day countdown for the company that is actually coming</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Prep matched to the recruiter</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Aptitude, coding pattern, SQL, HR answer, technical question — shaped for that company's process.</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Roughly 40 focused minutes a day</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Six short blocks. Achievable after class, which is the only reason it gets done at all.</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Fed by the drive you published</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The moment the TPO publishes a drive, this countdown appears for every eligible student. No coordination needed.</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45-student-company-prep.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STUDENT PORTAL · PROGRESS</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The student sees the same number the TPO sees</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One honest score</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Eight baseline checks roll into a single readiness figure. No vanity metrics, no participation certificates.</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Strengths and gaps, named</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The student knows their aptitude is 54 and their HR is 74 — so the next hour goes to the right place.</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Shared truth, no arguments</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When a student asks "why was I not shortlisted?", the answer is on screen. Nobody has to defend a decision.</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47-student-progress.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STUDENT PORTAL · FEAR → FEARLESS</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The part nobody else is building</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Placement anxiety, measured</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A private 6-minute check-in produces a fear score — the weight of the drive, separate from marks or CGPA.</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A six-week plan for that fear</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Targeted mock exposure designed to bring the number down, week by week, before the drive arrives.</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Private by design</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TPO and HOD never see it. That guarantee is why students answer honestly — and why it works at all.</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42-student-fear-to-fearless.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384048"/>
            <a:ext cx="8229600" cy="274320"/>
          </a:xfrm>
          <a:prstGeom prst="rect">
            <a:avLst/>
          </a:prstGeom>
          <a:noFill/>
          <a:ln/>
        </p:spPr>
        <p:txBody>
          <a:bodyPr wrap="square" lIns="0" tIns="0" rIns="0" bIns="0" rtlCol="0" anchor="ctr"/>
          <a:lstStyle/>
          <a:p>
            <a:pPr indent="0" marL="0">
              <a:buNone/>
            </a:pPr>
            <a:r>
              <a:rPr lang="en-US" sz="1150" b="1" spc="260" kern="0" dirty="0">
                <a:solidFill>
                  <a:srgbClr val="08AF94"/>
                </a:solidFill>
                <a:latin typeface="Calibri" pitchFamily="34" charset="0"/>
                <a:ea typeface="Calibri" pitchFamily="34" charset="-122"/>
                <a:cs typeface="Calibri" pitchFamily="34" charset="-120"/>
              </a:rPr>
              <a:t>COSTING</a:t>
            </a:r>
            <a:endParaRPr lang="en-US" sz="1150" dirty="0"/>
          </a:p>
        </p:txBody>
      </p:sp>
      <p:sp>
        <p:nvSpPr>
          <p:cNvPr id="6" name="Text 3"/>
          <p:cNvSpPr txBox="1"/>
          <p:nvPr/>
        </p:nvSpPr>
        <p:spPr>
          <a:xfrm>
            <a:off x="640080" y="640080"/>
            <a:ext cx="8595360" cy="960120"/>
          </a:xfrm>
          <a:prstGeom prst="rect">
            <a:avLst/>
          </a:prstGeom>
          <a:noFill/>
          <a:ln/>
        </p:spPr>
        <p:txBody>
          <a:bodyPr wrap="square" lIns="0" tIns="0" rIns="0" bIns="0" rtlCol="0" anchor="t"/>
          <a:lstStyle/>
          <a:p>
            <a:pPr indent="0" marL="0">
              <a:buNone/>
            </a:pPr>
            <a:r>
              <a:rPr lang="en-US" sz="2900" b="1" dirty="0">
                <a:solidFill>
                  <a:srgbClr val="0B4257"/>
                </a:solidFill>
                <a:latin typeface="Calibri" pitchFamily="34" charset="0"/>
                <a:ea typeface="Calibri" pitchFamily="34" charset="-122"/>
                <a:cs typeface="Calibri" pitchFamily="34" charset="-120"/>
              </a:rPr>
              <a:t>Start with Computer Science. Grow on results.</a:t>
            </a:r>
            <a:endParaRPr lang="en-US" sz="2900" dirty="0"/>
          </a:p>
        </p:txBody>
      </p:sp>
      <p:sp>
        <p:nvSpPr>
          <p:cNvPr id="7" name="Text 4"/>
          <p:cNvSpPr txBox="1"/>
          <p:nvPr/>
        </p:nvSpPr>
        <p:spPr>
          <a:xfrm>
            <a:off x="640080" y="1609344"/>
            <a:ext cx="10881360" cy="384048"/>
          </a:xfrm>
          <a:prstGeom prst="rect">
            <a:avLst/>
          </a:prstGeom>
          <a:noFill/>
          <a:ln/>
        </p:spPr>
        <p:txBody>
          <a:bodyPr wrap="square" lIns="0" tIns="0" rIns="0" bIns="0" rtlCol="0" anchor="t"/>
          <a:lstStyle/>
          <a:p>
            <a:pPr indent="0" marL="0">
              <a:buNone/>
            </a:pPr>
            <a:r>
              <a:rPr lang="en-US" sz="1450" dirty="0">
                <a:solidFill>
                  <a:srgbClr val="5A7482"/>
                </a:solidFill>
                <a:latin typeface="Calibri" pitchFamily="34" charset="0"/>
                <a:ea typeface="Calibri" pitchFamily="34" charset="-122"/>
                <a:cs typeface="Calibri" pitchFamily="34" charset="-120"/>
              </a:rPr>
              <a:t>You do not have to bet the campus on the first meeting. You have to give one branch one season.</a:t>
            </a:r>
            <a:endParaRPr lang="en-US" sz="1450" dirty="0"/>
          </a:p>
        </p:txBody>
      </p:sp>
      <p:sp>
        <p:nvSpPr>
          <p:cNvPr id="8" name="Shape 5"/>
          <p:cNvSpPr/>
          <p:nvPr/>
        </p:nvSpPr>
        <p:spPr>
          <a:xfrm>
            <a:off x="640080" y="2103120"/>
            <a:ext cx="3429000" cy="2697480"/>
          </a:xfrm>
          <a:prstGeom prst="roundRect">
            <a:avLst>
              <a:gd name="adj" fmla="val 1186"/>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9" name="Shape 6"/>
          <p:cNvSpPr/>
          <p:nvPr/>
        </p:nvSpPr>
        <p:spPr>
          <a:xfrm>
            <a:off x="598932" y="2061972"/>
            <a:ext cx="3511296" cy="2779776"/>
          </a:xfrm>
          <a:prstGeom prst="roundRect">
            <a:avLst>
              <a:gd name="adj" fmla="val 1316"/>
            </a:avLst>
          </a:prstGeom>
          <a:solidFill>
            <a:srgbClr val="08AF94">
              <a:alpha val="8000"/>
            </a:srgbClr>
          </a:solidFill>
          <a:ln w="22225">
            <a:solidFill>
              <a:srgbClr val="08AF94"/>
            </a:solidFill>
            <a:prstDash val="solid"/>
          </a:ln>
        </p:spPr>
      </p:sp>
      <p:sp>
        <p:nvSpPr>
          <p:cNvPr id="10" name="Text 7"/>
          <p:cNvSpPr txBox="1"/>
          <p:nvPr/>
        </p:nvSpPr>
        <p:spPr>
          <a:xfrm>
            <a:off x="914400" y="2304288"/>
            <a:ext cx="2834640" cy="256032"/>
          </a:xfrm>
          <a:prstGeom prst="rect">
            <a:avLst/>
          </a:prstGeom>
          <a:noFill/>
          <a:ln/>
        </p:spPr>
        <p:txBody>
          <a:bodyPr wrap="square" lIns="0" tIns="0" rIns="0" bIns="0" rtlCol="0" anchor="ctr"/>
          <a:lstStyle/>
          <a:p>
            <a:pPr indent="0" marL="0">
              <a:buNone/>
            </a:pPr>
            <a:r>
              <a:rPr lang="en-US" sz="1000" b="1" spc="200" kern="0" dirty="0">
                <a:solidFill>
                  <a:srgbClr val="08AF94"/>
                </a:solidFill>
                <a:latin typeface="Calibri" pitchFamily="34" charset="0"/>
                <a:ea typeface="Calibri" pitchFamily="34" charset="-122"/>
                <a:cs typeface="Calibri" pitchFamily="34" charset="-120"/>
              </a:rPr>
              <a:t>START HERE</a:t>
            </a:r>
            <a:endParaRPr lang="en-US" sz="1000" dirty="0"/>
          </a:p>
        </p:txBody>
      </p:sp>
      <p:sp>
        <p:nvSpPr>
          <p:cNvPr id="11" name="Text 8"/>
          <p:cNvSpPr txBox="1"/>
          <p:nvPr/>
        </p:nvSpPr>
        <p:spPr>
          <a:xfrm>
            <a:off x="914400" y="2578608"/>
            <a:ext cx="2834640" cy="365760"/>
          </a:xfrm>
          <a:prstGeom prst="rect">
            <a:avLst/>
          </a:prstGeom>
          <a:noFill/>
          <a:ln/>
        </p:spPr>
        <p:txBody>
          <a:bodyPr wrap="square" lIns="0" tIns="0" rIns="0" bIns="0" rtlCol="0" anchor="ctr"/>
          <a:lstStyle/>
          <a:p>
            <a:pPr indent="0" marL="0">
              <a:buNone/>
            </a:pPr>
            <a:r>
              <a:rPr lang="en-US" sz="1900" b="1" dirty="0">
                <a:solidFill>
                  <a:srgbClr val="0B4257"/>
                </a:solidFill>
                <a:latin typeface="Calibri" pitchFamily="34" charset="0"/>
                <a:ea typeface="Calibri" pitchFamily="34" charset="-122"/>
                <a:cs typeface="Calibri" pitchFamily="34" charset="-120"/>
              </a:rPr>
              <a:t>Computer Science</a:t>
            </a:r>
            <a:endParaRPr lang="en-US" sz="1900" dirty="0"/>
          </a:p>
        </p:txBody>
      </p:sp>
      <p:sp>
        <p:nvSpPr>
          <p:cNvPr id="12" name="Text 9"/>
          <p:cNvSpPr txBox="1"/>
          <p:nvPr/>
        </p:nvSpPr>
        <p:spPr>
          <a:xfrm>
            <a:off x="914400" y="2962656"/>
            <a:ext cx="2834640" cy="274320"/>
          </a:xfrm>
          <a:prstGeom prst="rect">
            <a:avLst/>
          </a:prstGeom>
          <a:noFill/>
          <a:ln/>
        </p:spPr>
        <p:txBody>
          <a:bodyPr wrap="square" lIns="0" tIns="0" rIns="0" bIns="0" rtlCol="0" anchor="ctr"/>
          <a:lstStyle/>
          <a:p>
            <a:pPr indent="0" marL="0">
              <a:buNone/>
            </a:pPr>
            <a:r>
              <a:rPr lang="en-US" sz="1200" dirty="0">
                <a:solidFill>
                  <a:srgbClr val="5A7482"/>
                </a:solidFill>
                <a:latin typeface="Calibri" pitchFamily="34" charset="0"/>
                <a:ea typeface="Calibri" pitchFamily="34" charset="-122"/>
                <a:cs typeface="Calibri" pitchFamily="34" charset="-120"/>
              </a:rPr>
              <a:t>Up to 100 students</a:t>
            </a:r>
            <a:endParaRPr lang="en-US" sz="1200" dirty="0"/>
          </a:p>
        </p:txBody>
      </p:sp>
      <p:sp>
        <p:nvSpPr>
          <p:cNvPr id="13" name="Text 10"/>
          <p:cNvSpPr txBox="1"/>
          <p:nvPr/>
        </p:nvSpPr>
        <p:spPr>
          <a:xfrm>
            <a:off x="914400" y="3346704"/>
            <a:ext cx="2834640" cy="566928"/>
          </a:xfrm>
          <a:prstGeom prst="rect">
            <a:avLst/>
          </a:prstGeom>
          <a:noFill/>
          <a:ln/>
        </p:spPr>
        <p:txBody>
          <a:bodyPr wrap="square" lIns="0" tIns="0" rIns="0" bIns="0" rtlCol="0" anchor="ctr"/>
          <a:lstStyle/>
          <a:p>
            <a:pPr indent="0" marL="0">
              <a:buNone/>
            </a:pPr>
            <a:r>
              <a:rPr lang="en-US" sz="3300" b="1" dirty="0">
                <a:solidFill>
                  <a:srgbClr val="08AF94"/>
                </a:solidFill>
                <a:latin typeface="Calibri" pitchFamily="34" charset="0"/>
                <a:ea typeface="Calibri" pitchFamily="34" charset="-122"/>
                <a:cs typeface="Calibri" pitchFamily="34" charset="-120"/>
              </a:rPr>
              <a:t>₹2,00,000</a:t>
            </a:r>
            <a:endParaRPr lang="en-US" sz="3300" dirty="0"/>
          </a:p>
        </p:txBody>
      </p:sp>
      <p:sp>
        <p:nvSpPr>
          <p:cNvPr id="14" name="Text 11"/>
          <p:cNvSpPr txBox="1"/>
          <p:nvPr/>
        </p:nvSpPr>
        <p:spPr>
          <a:xfrm>
            <a:off x="914400" y="3931920"/>
            <a:ext cx="2834640" cy="256032"/>
          </a:xfrm>
          <a:prstGeom prst="rect">
            <a:avLst/>
          </a:prstGeom>
          <a:noFill/>
          <a:ln/>
        </p:spPr>
        <p:txBody>
          <a:bodyPr wrap="square" lIns="0" tIns="0" rIns="0" bIns="0" rtlCol="0" anchor="ctr"/>
          <a:lstStyle/>
          <a:p>
            <a:pPr indent="0" marL="0">
              <a:buNone/>
            </a:pPr>
            <a:r>
              <a:rPr lang="en-US" sz="1100" dirty="0">
                <a:solidFill>
                  <a:srgbClr val="5A7482"/>
                </a:solidFill>
                <a:latin typeface="Calibri" pitchFamily="34" charset="0"/>
                <a:ea typeface="Calibri" pitchFamily="34" charset="-122"/>
                <a:cs typeface="Calibri" pitchFamily="34" charset="-120"/>
              </a:rPr>
              <a:t>per academic year</a:t>
            </a:r>
            <a:endParaRPr lang="en-US" sz="1100" dirty="0"/>
          </a:p>
        </p:txBody>
      </p:sp>
      <p:sp>
        <p:nvSpPr>
          <p:cNvPr id="15" name="Shape 12"/>
          <p:cNvSpPr/>
          <p:nvPr/>
        </p:nvSpPr>
        <p:spPr>
          <a:xfrm>
            <a:off x="914400" y="4279392"/>
            <a:ext cx="2788920" cy="0"/>
          </a:xfrm>
          <a:prstGeom prst="line">
            <a:avLst/>
          </a:prstGeom>
          <a:noFill/>
          <a:ln w="12700">
            <a:solidFill>
              <a:srgbClr val="D9E6ED"/>
            </a:solidFill>
            <a:prstDash val="solid"/>
          </a:ln>
        </p:spPr>
      </p:sp>
      <p:sp>
        <p:nvSpPr>
          <p:cNvPr id="16" name="Text 13"/>
          <p:cNvSpPr txBox="1"/>
          <p:nvPr/>
        </p:nvSpPr>
        <p:spPr>
          <a:xfrm>
            <a:off x="914400" y="4389120"/>
            <a:ext cx="2834640" cy="292608"/>
          </a:xfrm>
          <a:prstGeom prst="rect">
            <a:avLst/>
          </a:prstGeom>
          <a:noFill/>
          <a:ln/>
        </p:spPr>
        <p:txBody>
          <a:bodyPr wrap="square" lIns="0" tIns="0" rIns="0" bIns="0" rtlCol="0" anchor="ctr"/>
          <a:lstStyle/>
          <a:p>
            <a:pPr indent="0" marL="0">
              <a:buNone/>
            </a:pPr>
            <a:r>
              <a:rPr lang="en-US" sz="1250" b="1" dirty="0">
                <a:solidFill>
                  <a:srgbClr val="0E5F7D"/>
                </a:solidFill>
                <a:latin typeface="Calibri" pitchFamily="34" charset="0"/>
                <a:ea typeface="Calibri" pitchFamily="34" charset="-122"/>
                <a:cs typeface="Calibri" pitchFamily="34" charset="-120"/>
              </a:rPr>
              <a:t>₹2,000 per student</a:t>
            </a:r>
            <a:endParaRPr lang="en-US" sz="1250" dirty="0"/>
          </a:p>
        </p:txBody>
      </p:sp>
      <p:sp>
        <p:nvSpPr>
          <p:cNvPr id="17" name="Shape 14"/>
          <p:cNvSpPr/>
          <p:nvPr/>
        </p:nvSpPr>
        <p:spPr>
          <a:xfrm>
            <a:off x="4343400" y="2103120"/>
            <a:ext cx="3429000" cy="2697480"/>
          </a:xfrm>
          <a:prstGeom prst="roundRect">
            <a:avLst>
              <a:gd name="adj" fmla="val 1186"/>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8" name="Text 15"/>
          <p:cNvSpPr txBox="1"/>
          <p:nvPr/>
        </p:nvSpPr>
        <p:spPr>
          <a:xfrm>
            <a:off x="4617720" y="2304288"/>
            <a:ext cx="2834640" cy="256032"/>
          </a:xfrm>
          <a:prstGeom prst="rect">
            <a:avLst/>
          </a:prstGeom>
          <a:noFill/>
          <a:ln/>
        </p:spPr>
        <p:txBody>
          <a:bodyPr wrap="square" lIns="0" tIns="0" rIns="0" bIns="0" rtlCol="0" anchor="ctr"/>
          <a:lstStyle/>
          <a:p>
            <a:pPr indent="0" marL="0">
              <a:buNone/>
            </a:pPr>
            <a:r>
              <a:rPr lang="en-US" sz="1000" b="1" spc="200" kern="0" dirty="0">
                <a:solidFill>
                  <a:srgbClr val="0991BE"/>
                </a:solidFill>
                <a:latin typeface="Calibri" pitchFamily="34" charset="0"/>
                <a:ea typeface="Calibri" pitchFamily="34" charset="-122"/>
                <a:cs typeface="Calibri" pitchFamily="34" charset="-120"/>
              </a:rPr>
              <a:t>THEN</a:t>
            </a:r>
            <a:endParaRPr lang="en-US" sz="1000" dirty="0"/>
          </a:p>
        </p:txBody>
      </p:sp>
      <p:sp>
        <p:nvSpPr>
          <p:cNvPr id="19" name="Text 16"/>
          <p:cNvSpPr txBox="1"/>
          <p:nvPr/>
        </p:nvSpPr>
        <p:spPr>
          <a:xfrm>
            <a:off x="4617720" y="2578608"/>
            <a:ext cx="2834640" cy="365760"/>
          </a:xfrm>
          <a:prstGeom prst="rect">
            <a:avLst/>
          </a:prstGeom>
          <a:noFill/>
          <a:ln/>
        </p:spPr>
        <p:txBody>
          <a:bodyPr wrap="square" lIns="0" tIns="0" rIns="0" bIns="0" rtlCol="0" anchor="ctr"/>
          <a:lstStyle/>
          <a:p>
            <a:pPr indent="0" marL="0">
              <a:buNone/>
            </a:pPr>
            <a:r>
              <a:rPr lang="en-US" sz="1900" b="1" dirty="0">
                <a:solidFill>
                  <a:srgbClr val="0B4257"/>
                </a:solidFill>
                <a:latin typeface="Calibri" pitchFamily="34" charset="0"/>
                <a:ea typeface="Calibri" pitchFamily="34" charset="-122"/>
                <a:cs typeface="Calibri" pitchFamily="34" charset="-120"/>
              </a:rPr>
              <a:t>Multi-branch</a:t>
            </a:r>
            <a:endParaRPr lang="en-US" sz="1900" dirty="0"/>
          </a:p>
        </p:txBody>
      </p:sp>
      <p:sp>
        <p:nvSpPr>
          <p:cNvPr id="20" name="Text 17"/>
          <p:cNvSpPr txBox="1"/>
          <p:nvPr/>
        </p:nvSpPr>
        <p:spPr>
          <a:xfrm>
            <a:off x="4617720" y="2962656"/>
            <a:ext cx="2834640" cy="274320"/>
          </a:xfrm>
          <a:prstGeom prst="rect">
            <a:avLst/>
          </a:prstGeom>
          <a:noFill/>
          <a:ln/>
        </p:spPr>
        <p:txBody>
          <a:bodyPr wrap="square" lIns="0" tIns="0" rIns="0" bIns="0" rtlCol="0" anchor="ctr"/>
          <a:lstStyle/>
          <a:p>
            <a:pPr indent="0" marL="0">
              <a:buNone/>
            </a:pPr>
            <a:r>
              <a:rPr lang="en-US" sz="1200" dirty="0">
                <a:solidFill>
                  <a:srgbClr val="5A7482"/>
                </a:solidFill>
                <a:latin typeface="Calibri" pitchFamily="34" charset="0"/>
                <a:ea typeface="Calibri" pitchFamily="34" charset="-122"/>
                <a:cs typeface="Calibri" pitchFamily="34" charset="-120"/>
              </a:rPr>
              <a:t>Up to 500 students</a:t>
            </a:r>
            <a:endParaRPr lang="en-US" sz="1200" dirty="0"/>
          </a:p>
        </p:txBody>
      </p:sp>
      <p:sp>
        <p:nvSpPr>
          <p:cNvPr id="21" name="Text 18"/>
          <p:cNvSpPr txBox="1"/>
          <p:nvPr/>
        </p:nvSpPr>
        <p:spPr>
          <a:xfrm>
            <a:off x="4617720" y="3346704"/>
            <a:ext cx="2834640" cy="566928"/>
          </a:xfrm>
          <a:prstGeom prst="rect">
            <a:avLst/>
          </a:prstGeom>
          <a:noFill/>
          <a:ln/>
        </p:spPr>
        <p:txBody>
          <a:bodyPr wrap="square" lIns="0" tIns="0" rIns="0" bIns="0" rtlCol="0" anchor="ctr"/>
          <a:lstStyle/>
          <a:p>
            <a:pPr indent="0" marL="0">
              <a:buNone/>
            </a:pPr>
            <a:r>
              <a:rPr lang="en-US" sz="3300" b="1" dirty="0">
                <a:solidFill>
                  <a:srgbClr val="0991BE"/>
                </a:solidFill>
                <a:latin typeface="Calibri" pitchFamily="34" charset="0"/>
                <a:ea typeface="Calibri" pitchFamily="34" charset="-122"/>
                <a:cs typeface="Calibri" pitchFamily="34" charset="-120"/>
              </a:rPr>
              <a:t>₹5,00,000</a:t>
            </a:r>
            <a:endParaRPr lang="en-US" sz="3300" dirty="0"/>
          </a:p>
        </p:txBody>
      </p:sp>
      <p:sp>
        <p:nvSpPr>
          <p:cNvPr id="22" name="Text 19"/>
          <p:cNvSpPr txBox="1"/>
          <p:nvPr/>
        </p:nvSpPr>
        <p:spPr>
          <a:xfrm>
            <a:off x="4617720" y="3931920"/>
            <a:ext cx="2834640" cy="256032"/>
          </a:xfrm>
          <a:prstGeom prst="rect">
            <a:avLst/>
          </a:prstGeom>
          <a:noFill/>
          <a:ln/>
        </p:spPr>
        <p:txBody>
          <a:bodyPr wrap="square" lIns="0" tIns="0" rIns="0" bIns="0" rtlCol="0" anchor="ctr"/>
          <a:lstStyle/>
          <a:p>
            <a:pPr indent="0" marL="0">
              <a:buNone/>
            </a:pPr>
            <a:r>
              <a:rPr lang="en-US" sz="1100" dirty="0">
                <a:solidFill>
                  <a:srgbClr val="5A7482"/>
                </a:solidFill>
                <a:latin typeface="Calibri" pitchFamily="34" charset="0"/>
                <a:ea typeface="Calibri" pitchFamily="34" charset="-122"/>
                <a:cs typeface="Calibri" pitchFamily="34" charset="-120"/>
              </a:rPr>
              <a:t>per academic year</a:t>
            </a:r>
            <a:endParaRPr lang="en-US" sz="1100" dirty="0"/>
          </a:p>
        </p:txBody>
      </p:sp>
      <p:sp>
        <p:nvSpPr>
          <p:cNvPr id="23" name="Shape 20"/>
          <p:cNvSpPr/>
          <p:nvPr/>
        </p:nvSpPr>
        <p:spPr>
          <a:xfrm>
            <a:off x="4617720" y="4279392"/>
            <a:ext cx="2788920" cy="0"/>
          </a:xfrm>
          <a:prstGeom prst="line">
            <a:avLst/>
          </a:prstGeom>
          <a:noFill/>
          <a:ln w="12700">
            <a:solidFill>
              <a:srgbClr val="D9E6ED"/>
            </a:solidFill>
            <a:prstDash val="solid"/>
          </a:ln>
        </p:spPr>
      </p:sp>
      <p:sp>
        <p:nvSpPr>
          <p:cNvPr id="24" name="Text 21"/>
          <p:cNvSpPr txBox="1"/>
          <p:nvPr/>
        </p:nvSpPr>
        <p:spPr>
          <a:xfrm>
            <a:off x="4617720" y="4389120"/>
            <a:ext cx="2834640" cy="292608"/>
          </a:xfrm>
          <a:prstGeom prst="rect">
            <a:avLst/>
          </a:prstGeom>
          <a:noFill/>
          <a:ln/>
        </p:spPr>
        <p:txBody>
          <a:bodyPr wrap="square" lIns="0" tIns="0" rIns="0" bIns="0" rtlCol="0" anchor="ctr"/>
          <a:lstStyle/>
          <a:p>
            <a:pPr indent="0" marL="0">
              <a:buNone/>
            </a:pPr>
            <a:r>
              <a:rPr lang="en-US" sz="1250" b="1" dirty="0">
                <a:solidFill>
                  <a:srgbClr val="0E5F7D"/>
                </a:solidFill>
                <a:latin typeface="Calibri" pitchFamily="34" charset="0"/>
                <a:ea typeface="Calibri" pitchFamily="34" charset="-122"/>
                <a:cs typeface="Calibri" pitchFamily="34" charset="-120"/>
              </a:rPr>
              <a:t>₹1,000 per student</a:t>
            </a:r>
            <a:endParaRPr lang="en-US" sz="1250" dirty="0"/>
          </a:p>
        </p:txBody>
      </p:sp>
      <p:sp>
        <p:nvSpPr>
          <p:cNvPr id="25" name="Shape 22"/>
          <p:cNvSpPr/>
          <p:nvPr/>
        </p:nvSpPr>
        <p:spPr>
          <a:xfrm>
            <a:off x="8046720" y="2103120"/>
            <a:ext cx="3429000" cy="2697480"/>
          </a:xfrm>
          <a:prstGeom prst="roundRect">
            <a:avLst>
              <a:gd name="adj" fmla="val 1186"/>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26" name="Text 23"/>
          <p:cNvSpPr txBox="1"/>
          <p:nvPr/>
        </p:nvSpPr>
        <p:spPr>
          <a:xfrm>
            <a:off x="8321040" y="2304288"/>
            <a:ext cx="2834640" cy="256032"/>
          </a:xfrm>
          <a:prstGeom prst="rect">
            <a:avLst/>
          </a:prstGeom>
          <a:noFill/>
          <a:ln/>
        </p:spPr>
        <p:txBody>
          <a:bodyPr wrap="square" lIns="0" tIns="0" rIns="0" bIns="0" rtlCol="0" anchor="ctr"/>
          <a:lstStyle/>
          <a:p>
            <a:pPr indent="0" marL="0">
              <a:buNone/>
            </a:pPr>
            <a:r>
              <a:rPr lang="en-US" sz="1000" b="1" spc="200" kern="0" dirty="0">
                <a:solidFill>
                  <a:srgbClr val="0B4257"/>
                </a:solidFill>
                <a:latin typeface="Calibri" pitchFamily="34" charset="0"/>
                <a:ea typeface="Calibri" pitchFamily="34" charset="-122"/>
                <a:cs typeface="Calibri" pitchFamily="34" charset="-120"/>
              </a:rPr>
              <a:t>FULL CAMPUS</a:t>
            </a:r>
            <a:endParaRPr lang="en-US" sz="1000" dirty="0"/>
          </a:p>
        </p:txBody>
      </p:sp>
      <p:sp>
        <p:nvSpPr>
          <p:cNvPr id="27" name="Text 24"/>
          <p:cNvSpPr txBox="1"/>
          <p:nvPr/>
        </p:nvSpPr>
        <p:spPr>
          <a:xfrm>
            <a:off x="8321040" y="2578608"/>
            <a:ext cx="2834640" cy="365760"/>
          </a:xfrm>
          <a:prstGeom prst="rect">
            <a:avLst/>
          </a:prstGeom>
          <a:noFill/>
          <a:ln/>
        </p:spPr>
        <p:txBody>
          <a:bodyPr wrap="square" lIns="0" tIns="0" rIns="0" bIns="0" rtlCol="0" anchor="ctr"/>
          <a:lstStyle/>
          <a:p>
            <a:pPr indent="0" marL="0">
              <a:buNone/>
            </a:pPr>
            <a:r>
              <a:rPr lang="en-US" sz="1900" b="1" dirty="0">
                <a:solidFill>
                  <a:srgbClr val="0B4257"/>
                </a:solidFill>
                <a:latin typeface="Calibri" pitchFamily="34" charset="0"/>
                <a:ea typeface="Calibri" pitchFamily="34" charset="-122"/>
                <a:cs typeface="Calibri" pitchFamily="34" charset="-120"/>
              </a:rPr>
              <a:t>Every branch</a:t>
            </a:r>
            <a:endParaRPr lang="en-US" sz="1900" dirty="0"/>
          </a:p>
        </p:txBody>
      </p:sp>
      <p:sp>
        <p:nvSpPr>
          <p:cNvPr id="28" name="Text 25"/>
          <p:cNvSpPr txBox="1"/>
          <p:nvPr/>
        </p:nvSpPr>
        <p:spPr>
          <a:xfrm>
            <a:off x="8321040" y="2962656"/>
            <a:ext cx="2834640" cy="274320"/>
          </a:xfrm>
          <a:prstGeom prst="rect">
            <a:avLst/>
          </a:prstGeom>
          <a:noFill/>
          <a:ln/>
        </p:spPr>
        <p:txBody>
          <a:bodyPr wrap="square" lIns="0" tIns="0" rIns="0" bIns="0" rtlCol="0" anchor="ctr"/>
          <a:lstStyle/>
          <a:p>
            <a:pPr indent="0" marL="0">
              <a:buNone/>
            </a:pPr>
            <a:r>
              <a:rPr lang="en-US" sz="1200" dirty="0">
                <a:solidFill>
                  <a:srgbClr val="5A7482"/>
                </a:solidFill>
                <a:latin typeface="Calibri" pitchFamily="34" charset="0"/>
                <a:ea typeface="Calibri" pitchFamily="34" charset="-122"/>
                <a:cs typeface="Calibri" pitchFamily="34" charset="-120"/>
              </a:rPr>
              <a:t>Whole college, all batches</a:t>
            </a:r>
            <a:endParaRPr lang="en-US" sz="1200" dirty="0"/>
          </a:p>
        </p:txBody>
      </p:sp>
      <p:sp>
        <p:nvSpPr>
          <p:cNvPr id="29" name="Text 26"/>
          <p:cNvSpPr txBox="1"/>
          <p:nvPr/>
        </p:nvSpPr>
        <p:spPr>
          <a:xfrm>
            <a:off x="8321040" y="3346704"/>
            <a:ext cx="2834640" cy="566928"/>
          </a:xfrm>
          <a:prstGeom prst="rect">
            <a:avLst/>
          </a:prstGeom>
          <a:noFill/>
          <a:ln/>
        </p:spPr>
        <p:txBody>
          <a:bodyPr wrap="square" lIns="0" tIns="0" rIns="0" bIns="0" rtlCol="0" anchor="ctr"/>
          <a:lstStyle/>
          <a:p>
            <a:pPr indent="0" marL="0">
              <a:buNone/>
            </a:pPr>
            <a:r>
              <a:rPr lang="en-US" sz="3300" b="1" dirty="0">
                <a:solidFill>
                  <a:srgbClr val="0B4257"/>
                </a:solidFill>
                <a:latin typeface="Calibri" pitchFamily="34" charset="0"/>
                <a:ea typeface="Calibri" pitchFamily="34" charset="-122"/>
                <a:cs typeface="Calibri" pitchFamily="34" charset="-120"/>
              </a:rPr>
              <a:t>₹8,00,000</a:t>
            </a:r>
            <a:endParaRPr lang="en-US" sz="3300" dirty="0"/>
          </a:p>
        </p:txBody>
      </p:sp>
      <p:sp>
        <p:nvSpPr>
          <p:cNvPr id="30" name="Text 27"/>
          <p:cNvSpPr txBox="1"/>
          <p:nvPr/>
        </p:nvSpPr>
        <p:spPr>
          <a:xfrm>
            <a:off x="8321040" y="3931920"/>
            <a:ext cx="2834640" cy="256032"/>
          </a:xfrm>
          <a:prstGeom prst="rect">
            <a:avLst/>
          </a:prstGeom>
          <a:noFill/>
          <a:ln/>
        </p:spPr>
        <p:txBody>
          <a:bodyPr wrap="square" lIns="0" tIns="0" rIns="0" bIns="0" rtlCol="0" anchor="ctr"/>
          <a:lstStyle/>
          <a:p>
            <a:pPr indent="0" marL="0">
              <a:buNone/>
            </a:pPr>
            <a:r>
              <a:rPr lang="en-US" sz="1100" dirty="0">
                <a:solidFill>
                  <a:srgbClr val="5A7482"/>
                </a:solidFill>
                <a:latin typeface="Calibri" pitchFamily="34" charset="0"/>
                <a:ea typeface="Calibri" pitchFamily="34" charset="-122"/>
                <a:cs typeface="Calibri" pitchFamily="34" charset="-120"/>
              </a:rPr>
              <a:t>per academic year</a:t>
            </a:r>
            <a:endParaRPr lang="en-US" sz="1100" dirty="0"/>
          </a:p>
        </p:txBody>
      </p:sp>
      <p:sp>
        <p:nvSpPr>
          <p:cNvPr id="31" name="Shape 28"/>
          <p:cNvSpPr/>
          <p:nvPr/>
        </p:nvSpPr>
        <p:spPr>
          <a:xfrm>
            <a:off x="8321040" y="4279392"/>
            <a:ext cx="2788920" cy="0"/>
          </a:xfrm>
          <a:prstGeom prst="line">
            <a:avLst/>
          </a:prstGeom>
          <a:noFill/>
          <a:ln w="12700">
            <a:solidFill>
              <a:srgbClr val="D9E6ED"/>
            </a:solidFill>
            <a:prstDash val="solid"/>
          </a:ln>
        </p:spPr>
      </p:sp>
      <p:sp>
        <p:nvSpPr>
          <p:cNvPr id="32" name="Text 29"/>
          <p:cNvSpPr txBox="1"/>
          <p:nvPr/>
        </p:nvSpPr>
        <p:spPr>
          <a:xfrm>
            <a:off x="8321040" y="4389120"/>
            <a:ext cx="2834640" cy="292608"/>
          </a:xfrm>
          <a:prstGeom prst="rect">
            <a:avLst/>
          </a:prstGeom>
          <a:noFill/>
          <a:ln/>
        </p:spPr>
        <p:txBody>
          <a:bodyPr wrap="square" lIns="0" tIns="0" rIns="0" bIns="0" rtlCol="0" anchor="ctr"/>
          <a:lstStyle/>
          <a:p>
            <a:pPr indent="0" marL="0">
              <a:buNone/>
            </a:pPr>
            <a:r>
              <a:rPr lang="en-US" sz="1250" b="1" dirty="0">
                <a:solidFill>
                  <a:srgbClr val="0E5F7D"/>
                </a:solidFill>
                <a:latin typeface="Calibri" pitchFamily="34" charset="0"/>
                <a:ea typeface="Calibri" pitchFamily="34" charset="-122"/>
                <a:cs typeface="Calibri" pitchFamily="34" charset="-120"/>
              </a:rPr>
              <a:t>Best per-student rate</a:t>
            </a:r>
            <a:endParaRPr lang="en-US" sz="1250" dirty="0"/>
          </a:p>
        </p:txBody>
      </p:sp>
      <p:sp>
        <p:nvSpPr>
          <p:cNvPr id="33" name="Shape 30"/>
          <p:cNvSpPr/>
          <p:nvPr/>
        </p:nvSpPr>
        <p:spPr>
          <a:xfrm>
            <a:off x="640080" y="5029200"/>
            <a:ext cx="10908792" cy="749808"/>
          </a:xfrm>
          <a:prstGeom prst="roundRect">
            <a:avLst>
              <a:gd name="adj" fmla="val 7317"/>
            </a:avLst>
          </a:prstGeom>
          <a:solidFill>
            <a:srgbClr val="E7F1F7"/>
          </a:solidFill>
          <a:ln w="12700">
            <a:solidFill>
              <a:srgbClr val="C4E4F2"/>
            </a:solidFill>
            <a:prstDash val="solid"/>
          </a:ln>
        </p:spPr>
      </p:sp>
      <p:sp>
        <p:nvSpPr>
          <p:cNvPr id="34" name="Text 31"/>
          <p:cNvSpPr txBox="1"/>
          <p:nvPr/>
        </p:nvSpPr>
        <p:spPr>
          <a:xfrm>
            <a:off x="960120" y="5029200"/>
            <a:ext cx="10241280" cy="749808"/>
          </a:xfrm>
          <a:prstGeom prst="rect">
            <a:avLst/>
          </a:prstGeom>
          <a:noFill/>
          <a:ln/>
        </p:spPr>
        <p:txBody>
          <a:bodyPr wrap="square" lIns="0" tIns="0" rIns="0" bIns="0" rtlCol="0" anchor="ctr"/>
          <a:lstStyle/>
          <a:p>
            <a:pPr indent="0" marL="0">
              <a:buNone/>
            </a:pPr>
            <a:r>
              <a:rPr lang="en-US" sz="1350" b="1" dirty="0">
                <a:solidFill>
                  <a:srgbClr val="0E5F7D"/>
                </a:solidFill>
                <a:latin typeface="Calibri" pitchFamily="34" charset="0"/>
                <a:ea typeface="Calibri" pitchFamily="34" charset="-122"/>
                <a:cs typeface="Calibri" pitchFamily="34" charset="-120"/>
              </a:rPr>
              <a:t>One licence replaces the stack: aptitude vendor · external mock panels · soft-skills trainer · coding assessment platform · resume and ATS review.</a:t>
            </a:r>
            <a:endParaRPr lang="en-US" sz="1350" dirty="0"/>
          </a:p>
        </p:txBody>
      </p:sp>
      <p:sp>
        <p:nvSpPr>
          <p:cNvPr id="35" name="Shape 32"/>
          <p:cNvSpPr/>
          <p:nvPr/>
        </p:nvSpPr>
        <p:spPr>
          <a:xfrm>
            <a:off x="640080" y="5897880"/>
            <a:ext cx="10908792" cy="658368"/>
          </a:xfrm>
          <a:prstGeom prst="roundRect">
            <a:avLst>
              <a:gd name="adj" fmla="val 8333"/>
            </a:avLst>
          </a:prstGeom>
          <a:solidFill>
            <a:srgbClr val="0A6C8E"/>
          </a:solidFill>
          <a:ln/>
        </p:spPr>
      </p:sp>
      <p:sp>
        <p:nvSpPr>
          <p:cNvPr id="36" name="Text 33"/>
          <p:cNvSpPr txBox="1"/>
          <p:nvPr/>
        </p:nvSpPr>
        <p:spPr>
          <a:xfrm>
            <a:off x="960120" y="5897880"/>
            <a:ext cx="10241280" cy="65836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Mutual success: you only move to the next tier if the branch moves the metric you chose. If it does not, you stop at tier one and we have both learned something real.</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7F1F7"/>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384048"/>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ONBOARDING</a:t>
            </a:r>
            <a:endParaRPr lang="en-US" sz="1150" dirty="0"/>
          </a:p>
        </p:txBody>
      </p:sp>
      <p:sp>
        <p:nvSpPr>
          <p:cNvPr id="6" name="Text 3"/>
          <p:cNvSpPr txBox="1"/>
          <p:nvPr/>
        </p:nvSpPr>
        <p:spPr>
          <a:xfrm>
            <a:off x="640080" y="658368"/>
            <a:ext cx="8595360" cy="1371600"/>
          </a:xfrm>
          <a:prstGeom prst="rect">
            <a:avLst/>
          </a:prstGeom>
          <a:noFill/>
          <a:ln/>
        </p:spPr>
        <p:txBody>
          <a:bodyPr wrap="square" lIns="0" tIns="0" rIns="0" bIns="0" rtlCol="0" anchor="t"/>
          <a:lstStyle/>
          <a:p>
            <a:pPr indent="0" marL="0">
              <a:buNone/>
            </a:pPr>
            <a:r>
              <a:rPr lang="en-US" sz="3000" b="1" dirty="0">
                <a:solidFill>
                  <a:srgbClr val="0B4257"/>
                </a:solidFill>
                <a:latin typeface="Calibri" pitchFamily="34" charset="0"/>
                <a:ea typeface="Calibri" pitchFamily="34" charset="-122"/>
                <a:cs typeface="Calibri" pitchFamily="34" charset="-120"/>
              </a:rPr>
              <a:t>College onboarded and students preparing</a:t>
            </a:r>
            <a:endParaRPr lang="en-US" sz="3000" dirty="0"/>
          </a:p>
          <a:p>
            <a:pPr indent="0" marL="0">
              <a:buNone/>
            </a:pPr>
            <a:r>
              <a:rPr lang="en-US" sz="3000" b="1" dirty="0">
                <a:solidFill>
                  <a:srgbClr val="0B4257"/>
                </a:solidFill>
                <a:latin typeface="Calibri" pitchFamily="34" charset="0"/>
                <a:ea typeface="Calibri" pitchFamily="34" charset="-122"/>
                <a:cs typeface="Calibri" pitchFamily="34" charset="-120"/>
              </a:rPr>
              <a:t>in three days.</a:t>
            </a:r>
            <a:endParaRPr lang="en-US" sz="3000" dirty="0"/>
          </a:p>
        </p:txBody>
      </p:sp>
      <p:sp>
        <p:nvSpPr>
          <p:cNvPr id="7" name="Shape 4"/>
          <p:cNvSpPr/>
          <p:nvPr/>
        </p:nvSpPr>
        <p:spPr>
          <a:xfrm>
            <a:off x="640080" y="2286000"/>
            <a:ext cx="3429000" cy="2971800"/>
          </a:xfrm>
          <a:prstGeom prst="roundRect">
            <a:avLst>
              <a:gd name="adj" fmla="val 1077"/>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8" name="Shape 5"/>
          <p:cNvSpPr/>
          <p:nvPr/>
        </p:nvSpPr>
        <p:spPr>
          <a:xfrm>
            <a:off x="932688" y="2542032"/>
            <a:ext cx="457200" cy="457200"/>
          </a:xfrm>
          <a:prstGeom prst="ellipse">
            <a:avLst/>
          </a:prstGeom>
          <a:solidFill>
            <a:srgbClr val="0991BE"/>
          </a:solidFill>
          <a:ln/>
        </p:spPr>
      </p:sp>
      <p:sp>
        <p:nvSpPr>
          <p:cNvPr id="9" name="Text 6"/>
          <p:cNvSpPr txBox="1"/>
          <p:nvPr/>
        </p:nvSpPr>
        <p:spPr>
          <a:xfrm>
            <a:off x="932688" y="2542032"/>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7"/>
          <p:cNvSpPr txBox="1"/>
          <p:nvPr/>
        </p:nvSpPr>
        <p:spPr>
          <a:xfrm>
            <a:off x="1536192" y="2578608"/>
            <a:ext cx="2286000" cy="274320"/>
          </a:xfrm>
          <a:prstGeom prst="rect">
            <a:avLst/>
          </a:prstGeom>
          <a:noFill/>
          <a:ln/>
        </p:spPr>
        <p:txBody>
          <a:bodyPr wrap="square" lIns="0" tIns="0" rIns="0" bIns="0" rtlCol="0" anchor="ctr"/>
          <a:lstStyle/>
          <a:p>
            <a:pPr indent="0" marL="0">
              <a:buNone/>
            </a:pPr>
            <a:r>
              <a:rPr lang="en-US" sz="1100" b="1" spc="180" kern="0" dirty="0">
                <a:solidFill>
                  <a:srgbClr val="5A7482"/>
                </a:solidFill>
                <a:latin typeface="Calibri" pitchFamily="34" charset="0"/>
                <a:ea typeface="Calibri" pitchFamily="34" charset="-122"/>
                <a:cs typeface="Calibri" pitchFamily="34" charset="-120"/>
              </a:rPr>
              <a:t>DAY 1</a:t>
            </a:r>
            <a:endParaRPr lang="en-US" sz="1100" dirty="0"/>
          </a:p>
        </p:txBody>
      </p:sp>
      <p:sp>
        <p:nvSpPr>
          <p:cNvPr id="11" name="Text 8"/>
          <p:cNvSpPr txBox="1"/>
          <p:nvPr/>
        </p:nvSpPr>
        <p:spPr>
          <a:xfrm>
            <a:off x="932688" y="3145536"/>
            <a:ext cx="2880360" cy="365760"/>
          </a:xfrm>
          <a:prstGeom prst="rect">
            <a:avLst/>
          </a:prstGeom>
          <a:noFill/>
          <a:ln/>
        </p:spPr>
        <p:txBody>
          <a:bodyPr wrap="square" lIns="0" tIns="0" rIns="0" bIns="0" rtlCol="0" anchor="ctr"/>
          <a:lstStyle/>
          <a:p>
            <a:pPr indent="0" marL="0">
              <a:buNone/>
            </a:pPr>
            <a:r>
              <a:rPr lang="en-US" sz="1750" b="1" dirty="0">
                <a:solidFill>
                  <a:srgbClr val="0B4257"/>
                </a:solidFill>
                <a:latin typeface="Calibri" pitchFamily="34" charset="0"/>
                <a:ea typeface="Calibri" pitchFamily="34" charset="-122"/>
                <a:cs typeface="Calibri" pitchFamily="34" charset="-120"/>
              </a:rPr>
              <a:t>College onboarded</a:t>
            </a:r>
            <a:endParaRPr lang="en-US" sz="1750" dirty="0"/>
          </a:p>
        </p:txBody>
      </p:sp>
      <p:sp>
        <p:nvSpPr>
          <p:cNvPr id="12" name="Text 9"/>
          <p:cNvSpPr txBox="1"/>
          <p:nvPr/>
        </p:nvSpPr>
        <p:spPr>
          <a:xfrm>
            <a:off x="932688" y="3639312"/>
            <a:ext cx="2880360" cy="1508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5A7482"/>
                </a:solidFill>
                <a:latin typeface="Calibri" pitchFamily="34" charset="0"/>
                <a:ea typeface="Calibri" pitchFamily="34" charset="-122"/>
                <a:cs typeface="Calibri" pitchFamily="34" charset="-120"/>
              </a:rPr>
              <a:t>We provision your college as its own tenant</a:t>
            </a:r>
            <a:endParaRPr lang="en-US" sz="1200" dirty="0"/>
          </a:p>
          <a:p>
            <a:pPr marL="342900" indent="-342900">
              <a:lnSpc>
                <a:spcPts val="1600"/>
              </a:lnSpc>
              <a:spcAft>
                <a:spcPts val="900"/>
              </a:spcAft>
              <a:buSzPct val="100000"/>
              <a:buChar char="•"/>
            </a:pPr>
            <a:r>
              <a:rPr lang="en-US" sz="1200" dirty="0">
                <a:solidFill>
                  <a:srgbClr val="5A7482"/>
                </a:solidFill>
                <a:latin typeface="Calibri" pitchFamily="34" charset="0"/>
                <a:ea typeface="Calibri" pitchFamily="34" charset="-122"/>
                <a:cs typeface="Calibri" pitchFamily="34" charset="-120"/>
              </a:rPr>
              <a:t>You create the branch and invite the HOD</a:t>
            </a:r>
            <a:endParaRPr lang="en-US" sz="1200" dirty="0"/>
          </a:p>
          <a:p>
            <a:pPr marL="342900" indent="-342900">
              <a:lnSpc>
                <a:spcPts val="1600"/>
              </a:lnSpc>
              <a:spcAft>
                <a:spcPts val="900"/>
              </a:spcAft>
              <a:buSzPct val="100000"/>
              <a:buChar char="•"/>
            </a:pPr>
            <a:r>
              <a:rPr lang="en-US" sz="1200" dirty="0">
                <a:solidFill>
                  <a:srgbClr val="5A7482"/>
                </a:solidFill>
                <a:latin typeface="Calibri" pitchFamily="34" charset="0"/>
                <a:ea typeface="Calibri" pitchFamily="34" charset="-122"/>
                <a:cs typeface="Calibri" pitchFamily="34" charset="-120"/>
              </a:rPr>
              <a:t>HOD activates their own account</a:t>
            </a:r>
            <a:endParaRPr lang="en-US" sz="1200" dirty="0"/>
          </a:p>
        </p:txBody>
      </p:sp>
      <p:sp>
        <p:nvSpPr>
          <p:cNvPr id="13" name="Shape 10"/>
          <p:cNvSpPr/>
          <p:nvPr/>
        </p:nvSpPr>
        <p:spPr>
          <a:xfrm>
            <a:off x="4343400" y="2286000"/>
            <a:ext cx="3429000" cy="2971800"/>
          </a:xfrm>
          <a:prstGeom prst="roundRect">
            <a:avLst>
              <a:gd name="adj" fmla="val 1077"/>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4" name="Shape 11"/>
          <p:cNvSpPr/>
          <p:nvPr/>
        </p:nvSpPr>
        <p:spPr>
          <a:xfrm>
            <a:off x="4636008" y="2542032"/>
            <a:ext cx="457200" cy="457200"/>
          </a:xfrm>
          <a:prstGeom prst="ellipse">
            <a:avLst/>
          </a:prstGeom>
          <a:solidFill>
            <a:srgbClr val="08AF94"/>
          </a:solidFill>
          <a:ln/>
        </p:spPr>
      </p:sp>
      <p:sp>
        <p:nvSpPr>
          <p:cNvPr id="15" name="Text 12"/>
          <p:cNvSpPr txBox="1"/>
          <p:nvPr/>
        </p:nvSpPr>
        <p:spPr>
          <a:xfrm>
            <a:off x="4636008" y="2542032"/>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6" name="Text 13"/>
          <p:cNvSpPr txBox="1"/>
          <p:nvPr/>
        </p:nvSpPr>
        <p:spPr>
          <a:xfrm>
            <a:off x="5239512" y="2578608"/>
            <a:ext cx="2286000" cy="274320"/>
          </a:xfrm>
          <a:prstGeom prst="rect">
            <a:avLst/>
          </a:prstGeom>
          <a:noFill/>
          <a:ln/>
        </p:spPr>
        <p:txBody>
          <a:bodyPr wrap="square" lIns="0" tIns="0" rIns="0" bIns="0" rtlCol="0" anchor="ctr"/>
          <a:lstStyle/>
          <a:p>
            <a:pPr indent="0" marL="0">
              <a:buNone/>
            </a:pPr>
            <a:r>
              <a:rPr lang="en-US" sz="1100" b="1" spc="180" kern="0" dirty="0">
                <a:solidFill>
                  <a:srgbClr val="5A7482"/>
                </a:solidFill>
                <a:latin typeface="Calibri" pitchFamily="34" charset="0"/>
                <a:ea typeface="Calibri" pitchFamily="34" charset="-122"/>
                <a:cs typeface="Calibri" pitchFamily="34" charset="-120"/>
              </a:rPr>
              <a:t>DAY 2</a:t>
            </a:r>
            <a:endParaRPr lang="en-US" sz="1100" dirty="0"/>
          </a:p>
        </p:txBody>
      </p:sp>
      <p:sp>
        <p:nvSpPr>
          <p:cNvPr id="17" name="Text 14"/>
          <p:cNvSpPr txBox="1"/>
          <p:nvPr/>
        </p:nvSpPr>
        <p:spPr>
          <a:xfrm>
            <a:off x="4636008" y="3145536"/>
            <a:ext cx="2880360" cy="365760"/>
          </a:xfrm>
          <a:prstGeom prst="rect">
            <a:avLst/>
          </a:prstGeom>
          <a:noFill/>
          <a:ln/>
        </p:spPr>
        <p:txBody>
          <a:bodyPr wrap="square" lIns="0" tIns="0" rIns="0" bIns="0" rtlCol="0" anchor="ctr"/>
          <a:lstStyle/>
          <a:p>
            <a:pPr indent="0" marL="0">
              <a:buNone/>
            </a:pPr>
            <a:r>
              <a:rPr lang="en-US" sz="1750" b="1" dirty="0">
                <a:solidFill>
                  <a:srgbClr val="0B4257"/>
                </a:solidFill>
                <a:latin typeface="Calibri" pitchFamily="34" charset="0"/>
                <a:ea typeface="Calibri" pitchFamily="34" charset="-122"/>
                <a:cs typeface="Calibri" pitchFamily="34" charset="-120"/>
              </a:rPr>
              <a:t>Students onboarded</a:t>
            </a:r>
            <a:endParaRPr lang="en-US" sz="1750" dirty="0"/>
          </a:p>
        </p:txBody>
      </p:sp>
      <p:sp>
        <p:nvSpPr>
          <p:cNvPr id="18" name="Text 15"/>
          <p:cNvSpPr txBox="1"/>
          <p:nvPr/>
        </p:nvSpPr>
        <p:spPr>
          <a:xfrm>
            <a:off x="4636008" y="3639312"/>
            <a:ext cx="2880360" cy="1508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5A7482"/>
                </a:solidFill>
                <a:latin typeface="Calibri" pitchFamily="34" charset="0"/>
                <a:ea typeface="Calibri" pitchFamily="34" charset="-122"/>
                <a:cs typeface="Calibri" pitchFamily="34" charset="-120"/>
              </a:rPr>
              <a:t>Bulk-invite the batch by branch</a:t>
            </a:r>
            <a:endParaRPr lang="en-US" sz="1200" dirty="0"/>
          </a:p>
          <a:p>
            <a:pPr marL="342900" indent="-342900">
              <a:lnSpc>
                <a:spcPts val="1600"/>
              </a:lnSpc>
              <a:spcAft>
                <a:spcPts val="900"/>
              </a:spcAft>
              <a:buSzPct val="100000"/>
              <a:buChar char="•"/>
            </a:pPr>
            <a:r>
              <a:rPr lang="en-US" sz="1200" dirty="0">
                <a:solidFill>
                  <a:srgbClr val="5A7482"/>
                </a:solidFill>
                <a:latin typeface="Calibri" pitchFamily="34" charset="0"/>
                <a:ea typeface="Calibri" pitchFamily="34" charset="-122"/>
                <a:cs typeface="Calibri" pitchFamily="34" charset="-120"/>
              </a:rPr>
              <a:t>Approve the enrollment queue in one click</a:t>
            </a:r>
            <a:endParaRPr lang="en-US" sz="1200" dirty="0"/>
          </a:p>
          <a:p>
            <a:pPr marL="342900" indent="-342900">
              <a:lnSpc>
                <a:spcPts val="1600"/>
              </a:lnSpc>
              <a:spcAft>
                <a:spcPts val="900"/>
              </a:spcAft>
              <a:buSzPct val="100000"/>
              <a:buChar char="•"/>
            </a:pPr>
            <a:r>
              <a:rPr lang="en-US" sz="1200" dirty="0">
                <a:solidFill>
                  <a:srgbClr val="5A7482"/>
                </a:solidFill>
                <a:latin typeface="Calibri" pitchFamily="34" charset="0"/>
                <a:ea typeface="Calibri" pitchFamily="34" charset="-122"/>
                <a:cs typeface="Calibri" pitchFamily="34" charset="-120"/>
              </a:rPr>
              <a:t>Students set their own passwords and sign in</a:t>
            </a:r>
            <a:endParaRPr lang="en-US" sz="1200" dirty="0"/>
          </a:p>
        </p:txBody>
      </p:sp>
      <p:sp>
        <p:nvSpPr>
          <p:cNvPr id="19" name="Shape 16"/>
          <p:cNvSpPr/>
          <p:nvPr/>
        </p:nvSpPr>
        <p:spPr>
          <a:xfrm>
            <a:off x="8046720" y="2286000"/>
            <a:ext cx="3429000" cy="2971800"/>
          </a:xfrm>
          <a:prstGeom prst="roundRect">
            <a:avLst>
              <a:gd name="adj" fmla="val 1077"/>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20" name="Shape 17"/>
          <p:cNvSpPr/>
          <p:nvPr/>
        </p:nvSpPr>
        <p:spPr>
          <a:xfrm>
            <a:off x="8339328" y="2542032"/>
            <a:ext cx="457200" cy="457200"/>
          </a:xfrm>
          <a:prstGeom prst="ellipse">
            <a:avLst/>
          </a:prstGeom>
          <a:solidFill>
            <a:srgbClr val="C2660A"/>
          </a:solidFill>
          <a:ln/>
        </p:spPr>
      </p:sp>
      <p:sp>
        <p:nvSpPr>
          <p:cNvPr id="21" name="Text 18"/>
          <p:cNvSpPr txBox="1"/>
          <p:nvPr/>
        </p:nvSpPr>
        <p:spPr>
          <a:xfrm>
            <a:off x="8339328" y="2542032"/>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2" name="Text 19"/>
          <p:cNvSpPr txBox="1"/>
          <p:nvPr/>
        </p:nvSpPr>
        <p:spPr>
          <a:xfrm>
            <a:off x="8942832" y="2578608"/>
            <a:ext cx="2286000" cy="274320"/>
          </a:xfrm>
          <a:prstGeom prst="rect">
            <a:avLst/>
          </a:prstGeom>
          <a:noFill/>
          <a:ln/>
        </p:spPr>
        <p:txBody>
          <a:bodyPr wrap="square" lIns="0" tIns="0" rIns="0" bIns="0" rtlCol="0" anchor="ctr"/>
          <a:lstStyle/>
          <a:p>
            <a:pPr indent="0" marL="0">
              <a:buNone/>
            </a:pPr>
            <a:r>
              <a:rPr lang="en-US" sz="1100" b="1" spc="180" kern="0" dirty="0">
                <a:solidFill>
                  <a:srgbClr val="5A7482"/>
                </a:solidFill>
                <a:latin typeface="Calibri" pitchFamily="34" charset="0"/>
                <a:ea typeface="Calibri" pitchFamily="34" charset="-122"/>
                <a:cs typeface="Calibri" pitchFamily="34" charset="-120"/>
              </a:rPr>
              <a:t>DAY 3</a:t>
            </a:r>
            <a:endParaRPr lang="en-US" sz="1100" dirty="0"/>
          </a:p>
        </p:txBody>
      </p:sp>
      <p:sp>
        <p:nvSpPr>
          <p:cNvPr id="23" name="Text 20"/>
          <p:cNvSpPr txBox="1"/>
          <p:nvPr/>
        </p:nvSpPr>
        <p:spPr>
          <a:xfrm>
            <a:off x="8339328" y="3145536"/>
            <a:ext cx="2880360" cy="365760"/>
          </a:xfrm>
          <a:prstGeom prst="rect">
            <a:avLst/>
          </a:prstGeom>
          <a:noFill/>
          <a:ln/>
        </p:spPr>
        <p:txBody>
          <a:bodyPr wrap="square" lIns="0" tIns="0" rIns="0" bIns="0" rtlCol="0" anchor="ctr"/>
          <a:lstStyle/>
          <a:p>
            <a:pPr indent="0" marL="0">
              <a:buNone/>
            </a:pPr>
            <a:r>
              <a:rPr lang="en-US" sz="1750" b="1" dirty="0">
                <a:solidFill>
                  <a:srgbClr val="0B4257"/>
                </a:solidFill>
                <a:latin typeface="Calibri" pitchFamily="34" charset="0"/>
                <a:ea typeface="Calibri" pitchFamily="34" charset="-122"/>
                <a:cs typeface="Calibri" pitchFamily="34" charset="-120"/>
              </a:rPr>
              <a:t>Preparation starts</a:t>
            </a:r>
            <a:endParaRPr lang="en-US" sz="1750" dirty="0"/>
          </a:p>
        </p:txBody>
      </p:sp>
      <p:sp>
        <p:nvSpPr>
          <p:cNvPr id="24" name="Text 21"/>
          <p:cNvSpPr txBox="1"/>
          <p:nvPr/>
        </p:nvSpPr>
        <p:spPr>
          <a:xfrm>
            <a:off x="8339328" y="3639312"/>
            <a:ext cx="2880360" cy="1508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5A7482"/>
                </a:solidFill>
                <a:latin typeface="Calibri" pitchFamily="34" charset="0"/>
                <a:ea typeface="Calibri" pitchFamily="34" charset="-122"/>
                <a:cs typeface="Calibri" pitchFamily="34" charset="-120"/>
              </a:rPr>
              <a:t>Students begin the baseline assessments</a:t>
            </a:r>
            <a:endParaRPr lang="en-US" sz="1200" dirty="0"/>
          </a:p>
          <a:p>
            <a:pPr marL="342900" indent="-342900">
              <a:lnSpc>
                <a:spcPts val="1600"/>
              </a:lnSpc>
              <a:spcAft>
                <a:spcPts val="900"/>
              </a:spcAft>
              <a:buSzPct val="100000"/>
              <a:buChar char="•"/>
            </a:pPr>
            <a:r>
              <a:rPr lang="en-US" sz="1200" dirty="0">
                <a:solidFill>
                  <a:srgbClr val="5A7482"/>
                </a:solidFill>
                <a:latin typeface="Calibri" pitchFamily="34" charset="0"/>
                <a:ea typeface="Calibri" pitchFamily="34" charset="-122"/>
                <a:cs typeface="Calibri" pitchFamily="34" charset="-120"/>
              </a:rPr>
              <a:t>Readiness starts appearing on your dashboard</a:t>
            </a:r>
            <a:endParaRPr lang="en-US" sz="1200" dirty="0"/>
          </a:p>
          <a:p>
            <a:pPr marL="342900" indent="-342900">
              <a:lnSpc>
                <a:spcPts val="1600"/>
              </a:lnSpc>
              <a:spcAft>
                <a:spcPts val="900"/>
              </a:spcAft>
              <a:buSzPct val="100000"/>
              <a:buChar char="•"/>
            </a:pPr>
            <a:r>
              <a:rPr lang="en-US" sz="1200" dirty="0">
                <a:solidFill>
                  <a:srgbClr val="5A7482"/>
                </a:solidFill>
                <a:latin typeface="Calibri" pitchFamily="34" charset="0"/>
                <a:ea typeface="Calibri" pitchFamily="34" charset="-122"/>
                <a:cs typeface="Calibri" pitchFamily="34" charset="-120"/>
              </a:rPr>
              <a:t>Daily missions begin the same evening</a:t>
            </a:r>
            <a:endParaRPr lang="en-US" sz="1200" dirty="0"/>
          </a:p>
        </p:txBody>
      </p:sp>
      <p:sp>
        <p:nvSpPr>
          <p:cNvPr id="25" name="Shape 22"/>
          <p:cNvSpPr/>
          <p:nvPr/>
        </p:nvSpPr>
        <p:spPr>
          <a:xfrm>
            <a:off x="640080" y="5486400"/>
            <a:ext cx="10908792" cy="749808"/>
          </a:xfrm>
          <a:prstGeom prst="roundRect">
            <a:avLst>
              <a:gd name="adj" fmla="val 7317"/>
            </a:avLst>
          </a:prstGeom>
          <a:solidFill>
            <a:srgbClr val="0A6C8E"/>
          </a:solidFill>
          <a:ln/>
        </p:spPr>
      </p:sp>
      <p:sp>
        <p:nvSpPr>
          <p:cNvPr id="26" name="Text 23"/>
          <p:cNvSpPr txBox="1"/>
          <p:nvPr/>
        </p:nvSpPr>
        <p:spPr>
          <a:xfrm>
            <a:off x="960120" y="5486400"/>
            <a:ext cx="10241280" cy="7498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IT project. No integration. No server. One nominated coordinator on your side, and roughly two hours of their time.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6C8E"/>
        </a:solidFill>
      </p:bgPr>
    </p:bg>
    <p:spTree>
      <p:nvGrpSpPr>
        <p:cNvPr id="1" name=""/>
        <p:cNvGrpSpPr/>
        <p:nvPr/>
      </p:nvGrpSpPr>
      <p:grpSpPr>
        <a:xfrm>
          <a:off x="0" y="0"/>
          <a:ext cx="0" cy="0"/>
          <a:chOff x="0" y="0"/>
          <a:chExt cx="0" cy="0"/>
        </a:xfrm>
      </p:grpSpPr>
      <p:sp>
        <p:nvSpPr>
          <p:cNvPr id="2" name="Shape 0"/>
          <p:cNvSpPr/>
          <p:nvPr/>
        </p:nvSpPr>
        <p:spPr>
          <a:xfrm>
            <a:off x="8138160" y="-2377440"/>
            <a:ext cx="7315200" cy="7315200"/>
          </a:xfrm>
          <a:prstGeom prst="ellipse">
            <a:avLst/>
          </a:prstGeom>
          <a:solidFill>
            <a:srgbClr val="FFFFFF">
              <a:alpha val="8000"/>
            </a:srgbClr>
          </a:solidFill>
          <a:ln/>
        </p:spPr>
      </p:sp>
      <p:sp>
        <p:nvSpPr>
          <p:cNvPr id="3" name="Shape 1"/>
          <p:cNvSpPr/>
          <p:nvPr/>
        </p:nvSpPr>
        <p:spPr>
          <a:xfrm>
            <a:off x="9692640" y="3566160"/>
            <a:ext cx="4572000" cy="4572000"/>
          </a:xfrm>
          <a:prstGeom prst="ellipse">
            <a:avLst/>
          </a:prstGeom>
          <a:solidFill>
            <a:srgbClr val="08AF94">
              <a:alpha val="20000"/>
            </a:srgbClr>
          </a:solidFill>
          <a:ln/>
        </p:spPr>
      </p:sp>
      <p:pic>
        <p:nvPicPr>
          <p:cNvPr id="4" name="Image 0" descr="/private/tmp/claude-501/-Users-rahul-Downloads-Frontend/d0ec5f7e-3815-469d-b386-d6cd0373fe94/scratchpad/logo-lg.png">    </p:cNvPr>
          <p:cNvPicPr>
            <a:picLocks noChangeAspect="1"/>
          </p:cNvPicPr>
          <p:nvPr/>
        </p:nvPicPr>
        <p:blipFill>
          <a:blip r:embed="rId1"/>
          <a:stretch>
            <a:fillRect/>
          </a:stretch>
        </p:blipFill>
        <p:spPr>
          <a:xfrm>
            <a:off x="822960" y="502920"/>
            <a:ext cx="822960" cy="822960"/>
          </a:xfrm>
          <a:prstGeom prst="rect">
            <a:avLst/>
          </a:prstGeom>
        </p:spPr>
      </p:pic>
      <p:sp>
        <p:nvSpPr>
          <p:cNvPr id="5" name="Text 2"/>
          <p:cNvSpPr txBox="1"/>
          <p:nvPr/>
        </p:nvSpPr>
        <p:spPr>
          <a:xfrm>
            <a:off x="822960" y="1600200"/>
            <a:ext cx="7680960" cy="91440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6" name="Text 3"/>
          <p:cNvSpPr txBox="1"/>
          <p:nvPr/>
        </p:nvSpPr>
        <p:spPr>
          <a:xfrm>
            <a:off x="822960" y="2606040"/>
            <a:ext cx="7589520" cy="822960"/>
          </a:xfrm>
          <a:prstGeom prst="rect">
            <a:avLst/>
          </a:prstGeom>
          <a:noFill/>
          <a:ln/>
        </p:spPr>
        <p:txBody>
          <a:bodyPr wrap="square" lIns="0" tIns="0" rIns="0" bIns="0" rtlCol="0" anchor="ctr"/>
          <a:lstStyle/>
          <a:p>
            <a:pPr indent="0" marL="0">
              <a:lnSpc>
                <a:spcPts val="2300"/>
              </a:lnSpc>
              <a:buNone/>
            </a:pPr>
            <a:r>
              <a:rPr lang="en-US" sz="1500" dirty="0">
                <a:solidFill>
                  <a:srgbClr val="C4E4F2"/>
                </a:solidFill>
                <a:latin typeface="Calibri" pitchFamily="34" charset="0"/>
                <a:ea typeface="Calibri" pitchFamily="34" charset="-122"/>
                <a:cs typeface="Calibri" pitchFamily="34" charset="-120"/>
              </a:rPr>
              <a:t>One question before you decide: what is your campus readiness number right now? If the honest answer is "we do not have one", that is the whole reason for this meeting.</a:t>
            </a:r>
            <a:endParaRPr lang="en-US" sz="1500" dirty="0"/>
          </a:p>
        </p:txBody>
      </p:sp>
      <p:sp>
        <p:nvSpPr>
          <p:cNvPr id="7" name="Shape 4"/>
          <p:cNvSpPr/>
          <p:nvPr/>
        </p:nvSpPr>
        <p:spPr>
          <a:xfrm>
            <a:off x="822960" y="3611880"/>
            <a:ext cx="7589520" cy="914400"/>
          </a:xfrm>
          <a:prstGeom prst="roundRect">
            <a:avLst>
              <a:gd name="adj" fmla="val 6000"/>
            </a:avLst>
          </a:prstGeom>
          <a:solidFill>
            <a:srgbClr val="07536D"/>
          </a:solidFill>
          <a:ln/>
        </p:spPr>
      </p:sp>
      <p:sp>
        <p:nvSpPr>
          <p:cNvPr id="8" name="Text 5"/>
          <p:cNvSpPr txBox="1"/>
          <p:nvPr/>
        </p:nvSpPr>
        <p:spPr>
          <a:xfrm>
            <a:off x="1143000" y="3767328"/>
            <a:ext cx="2743200" cy="237744"/>
          </a:xfrm>
          <a:prstGeom prst="rect">
            <a:avLst/>
          </a:prstGeom>
          <a:noFill/>
          <a:ln/>
        </p:spPr>
        <p:txBody>
          <a:bodyPr wrap="square" lIns="0" tIns="0" rIns="0" bIns="0" rtlCol="0" anchor="ctr"/>
          <a:lstStyle/>
          <a:p>
            <a:pPr indent="0" marL="0">
              <a:buNone/>
            </a:pPr>
            <a:r>
              <a:rPr lang="en-US" sz="950" b="1" spc="180" kern="0" dirty="0">
                <a:solidFill>
                  <a:srgbClr val="A8E5D6"/>
                </a:solidFill>
                <a:latin typeface="Calibri" pitchFamily="34" charset="0"/>
                <a:ea typeface="Calibri" pitchFamily="34" charset="-122"/>
                <a:cs typeface="Calibri" pitchFamily="34" charset="-120"/>
              </a:rPr>
              <a:t>THE ASK</a:t>
            </a:r>
            <a:endParaRPr lang="en-US" sz="950" dirty="0"/>
          </a:p>
        </p:txBody>
      </p:sp>
      <p:sp>
        <p:nvSpPr>
          <p:cNvPr id="9" name="Text 6"/>
          <p:cNvSpPr txBox="1"/>
          <p:nvPr/>
        </p:nvSpPr>
        <p:spPr>
          <a:xfrm>
            <a:off x="1143000" y="3995928"/>
            <a:ext cx="6858000" cy="41148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One branch. One season. ₹2,00,000.</a:t>
            </a:r>
            <a:endParaRPr lang="en-US" sz="2100" dirty="0"/>
          </a:p>
        </p:txBody>
      </p:sp>
      <p:sp>
        <p:nvSpPr>
          <p:cNvPr id="10" name="Shape 7"/>
          <p:cNvSpPr/>
          <p:nvPr/>
        </p:nvSpPr>
        <p:spPr>
          <a:xfrm>
            <a:off x="822960" y="4892040"/>
            <a:ext cx="7589520" cy="0"/>
          </a:xfrm>
          <a:prstGeom prst="line">
            <a:avLst/>
          </a:prstGeom>
          <a:noFill/>
          <a:ln w="12700">
            <a:solidFill>
              <a:srgbClr val="3E90AC"/>
            </a:solidFill>
            <a:prstDash val="solid"/>
          </a:ln>
        </p:spPr>
      </p:sp>
      <p:sp>
        <p:nvSpPr>
          <p:cNvPr id="11" name="Text 8"/>
          <p:cNvSpPr txBox="1"/>
          <p:nvPr/>
        </p:nvSpPr>
        <p:spPr>
          <a:xfrm>
            <a:off x="822960" y="5102352"/>
            <a:ext cx="2468880" cy="219456"/>
          </a:xfrm>
          <a:prstGeom prst="rect">
            <a:avLst/>
          </a:prstGeom>
          <a:noFill/>
          <a:ln/>
        </p:spPr>
        <p:txBody>
          <a:bodyPr wrap="square" lIns="0" tIns="0" rIns="0" bIns="0" rtlCol="0" anchor="ctr"/>
          <a:lstStyle/>
          <a:p>
            <a:pPr indent="0" marL="0">
              <a:buNone/>
            </a:pPr>
            <a:r>
              <a:rPr lang="en-US" sz="900" b="1" spc="160" kern="0" dirty="0">
                <a:solidFill>
                  <a:srgbClr val="A8E5D6"/>
                </a:solidFill>
                <a:latin typeface="Calibri" pitchFamily="34" charset="0"/>
                <a:ea typeface="Calibri" pitchFamily="34" charset="-122"/>
                <a:cs typeface="Calibri" pitchFamily="34" charset="-120"/>
              </a:rPr>
              <a:t>WEBSITE</a:t>
            </a:r>
            <a:endParaRPr lang="en-US" sz="900" dirty="0"/>
          </a:p>
        </p:txBody>
      </p:sp>
      <p:sp>
        <p:nvSpPr>
          <p:cNvPr id="12" name="Text 9"/>
          <p:cNvSpPr txBox="1"/>
          <p:nvPr/>
        </p:nvSpPr>
        <p:spPr>
          <a:xfrm>
            <a:off x="822960" y="5340096"/>
            <a:ext cx="2514600" cy="640080"/>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mentormuni.com</a:t>
            </a:r>
            <a:endParaRPr lang="en-US" sz="1300" dirty="0"/>
          </a:p>
        </p:txBody>
      </p:sp>
      <p:sp>
        <p:nvSpPr>
          <p:cNvPr id="13" name="Text 10"/>
          <p:cNvSpPr txBox="1"/>
          <p:nvPr/>
        </p:nvSpPr>
        <p:spPr>
          <a:xfrm>
            <a:off x="3429000" y="5102352"/>
            <a:ext cx="2468880" cy="219456"/>
          </a:xfrm>
          <a:prstGeom prst="rect">
            <a:avLst/>
          </a:prstGeom>
          <a:noFill/>
          <a:ln/>
        </p:spPr>
        <p:txBody>
          <a:bodyPr wrap="square" lIns="0" tIns="0" rIns="0" bIns="0" rtlCol="0" anchor="ctr"/>
          <a:lstStyle/>
          <a:p>
            <a:pPr indent="0" marL="0">
              <a:buNone/>
            </a:pPr>
            <a:r>
              <a:rPr lang="en-US" sz="900" b="1" spc="160" kern="0" dirty="0">
                <a:solidFill>
                  <a:srgbClr val="A8E5D6"/>
                </a:solidFill>
                <a:latin typeface="Calibri" pitchFamily="34" charset="0"/>
                <a:ea typeface="Calibri" pitchFamily="34" charset="-122"/>
                <a:cs typeface="Calibri" pitchFamily="34" charset="-120"/>
              </a:rPr>
              <a:t>EMAIL</a:t>
            </a:r>
            <a:endParaRPr lang="en-US" sz="900" dirty="0"/>
          </a:p>
        </p:txBody>
      </p:sp>
      <p:sp>
        <p:nvSpPr>
          <p:cNvPr id="14" name="Text 11"/>
          <p:cNvSpPr txBox="1"/>
          <p:nvPr/>
        </p:nvSpPr>
        <p:spPr>
          <a:xfrm>
            <a:off x="3429000" y="5340096"/>
            <a:ext cx="2514600" cy="640080"/>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mentormuniteam@gmail.com</a:t>
            </a:r>
            <a:endParaRPr lang="en-US" sz="1300" dirty="0"/>
          </a:p>
        </p:txBody>
      </p:sp>
      <p:sp>
        <p:nvSpPr>
          <p:cNvPr id="15" name="Text 12"/>
          <p:cNvSpPr txBox="1"/>
          <p:nvPr/>
        </p:nvSpPr>
        <p:spPr>
          <a:xfrm>
            <a:off x="6035040" y="5102352"/>
            <a:ext cx="2468880" cy="219456"/>
          </a:xfrm>
          <a:prstGeom prst="rect">
            <a:avLst/>
          </a:prstGeom>
          <a:noFill/>
          <a:ln/>
        </p:spPr>
        <p:txBody>
          <a:bodyPr wrap="square" lIns="0" tIns="0" rIns="0" bIns="0" rtlCol="0" anchor="ctr"/>
          <a:lstStyle/>
          <a:p>
            <a:pPr indent="0" marL="0">
              <a:buNone/>
            </a:pPr>
            <a:r>
              <a:rPr lang="en-US" sz="900" b="1" spc="160" kern="0" dirty="0">
                <a:solidFill>
                  <a:srgbClr val="A8E5D6"/>
                </a:solidFill>
                <a:latin typeface="Calibri" pitchFamily="34" charset="0"/>
                <a:ea typeface="Calibri" pitchFamily="34" charset="-122"/>
                <a:cs typeface="Calibri" pitchFamily="34" charset="-120"/>
              </a:rPr>
              <a:t>PLATFORM</a:t>
            </a:r>
            <a:endParaRPr lang="en-US" sz="900" dirty="0"/>
          </a:p>
        </p:txBody>
      </p:sp>
      <p:sp>
        <p:nvSpPr>
          <p:cNvPr id="16" name="Text 13"/>
          <p:cNvSpPr txBox="1"/>
          <p:nvPr/>
        </p:nvSpPr>
        <p:spPr>
          <a:xfrm>
            <a:off x="6035040" y="5340096"/>
            <a:ext cx="2514600" cy="640080"/>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Placement Platform for</a:t>
            </a:r>
            <a:endParaRPr lang="en-US" sz="1300" dirty="0"/>
          </a:p>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Engineering Colleges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6C8E"/>
        </a:solidFill>
      </p:bgPr>
    </p:bg>
    <p:spTree>
      <p:nvGrpSpPr>
        <p:cNvPr id="1" name=""/>
        <p:cNvGrpSpPr/>
        <p:nvPr/>
      </p:nvGrpSpPr>
      <p:grpSpPr>
        <a:xfrm>
          <a:off x="0" y="0"/>
          <a:ext cx="0" cy="0"/>
          <a:chOff x="0" y="0"/>
          <a:chExt cx="0" cy="0"/>
        </a:xfrm>
      </p:grpSpPr>
      <p:sp>
        <p:nvSpPr>
          <p:cNvPr id="2" name="Shape 0"/>
          <p:cNvSpPr/>
          <p:nvPr/>
        </p:nvSpPr>
        <p:spPr>
          <a:xfrm>
            <a:off x="9326880" y="1280160"/>
            <a:ext cx="4937760" cy="4937760"/>
          </a:xfrm>
          <a:prstGeom prst="ellipse">
            <a:avLst/>
          </a:prstGeom>
          <a:solidFill>
            <a:srgbClr val="FFFFFF">
              <a:alpha val="8000"/>
            </a:srgbClr>
          </a:solidFill>
          <a:ln/>
        </p:spPr>
      </p:sp>
      <p:pic>
        <p:nvPicPr>
          <p:cNvPr id="3" name="Image 0" descr="/private/tmp/claude-501/-Users-rahul-Downloads-Frontend/d0ec5f7e-3815-469d-b386-d6cd0373fe94/scratchpad/logo-lg.png">    </p:cNvPr>
          <p:cNvPicPr>
            <a:picLocks noChangeAspect="1"/>
          </p:cNvPicPr>
          <p:nvPr/>
        </p:nvPicPr>
        <p:blipFill>
          <a:blip r:embed="rId1"/>
          <a:stretch>
            <a:fillRect/>
          </a:stretch>
        </p:blipFill>
        <p:spPr>
          <a:xfrm>
            <a:off x="822960" y="1417320"/>
            <a:ext cx="731520" cy="731520"/>
          </a:xfrm>
          <a:prstGeom prst="rect">
            <a:avLst/>
          </a:prstGeom>
        </p:spPr>
      </p:pic>
      <p:sp>
        <p:nvSpPr>
          <p:cNvPr id="4" name="Text 1"/>
          <p:cNvSpPr txBox="1"/>
          <p:nvPr/>
        </p:nvSpPr>
        <p:spPr>
          <a:xfrm>
            <a:off x="822960" y="2377440"/>
            <a:ext cx="8229600" cy="274320"/>
          </a:xfrm>
          <a:prstGeom prst="rect">
            <a:avLst/>
          </a:prstGeom>
          <a:noFill/>
          <a:ln/>
        </p:spPr>
        <p:txBody>
          <a:bodyPr wrap="square" lIns="0" tIns="0" rIns="0" bIns="0" rtlCol="0" anchor="ctr"/>
          <a:lstStyle/>
          <a:p>
            <a:pPr indent="0" marL="0">
              <a:buNone/>
            </a:pPr>
            <a:r>
              <a:rPr lang="en-US" sz="1150" b="1" spc="260" kern="0" dirty="0">
                <a:solidFill>
                  <a:srgbClr val="A8E5D6"/>
                </a:solidFill>
                <a:latin typeface="Calibri" pitchFamily="34" charset="0"/>
                <a:ea typeface="Calibri" pitchFamily="34" charset="-122"/>
                <a:cs typeface="Calibri" pitchFamily="34" charset="-120"/>
              </a:rPr>
              <a:t>EVERYTHING BELOW IS ON DEMAND</a:t>
            </a:r>
            <a:endParaRPr lang="en-US" sz="1150" dirty="0"/>
          </a:p>
        </p:txBody>
      </p:sp>
      <p:sp>
        <p:nvSpPr>
          <p:cNvPr id="5" name="Text 2"/>
          <p:cNvSpPr txBox="1"/>
          <p:nvPr/>
        </p:nvSpPr>
        <p:spPr>
          <a:xfrm>
            <a:off x="822960" y="2724912"/>
            <a:ext cx="8412480" cy="100584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Appendix</a:t>
            </a:r>
            <a:endParaRPr lang="en-US" sz="5200" dirty="0"/>
          </a:p>
        </p:txBody>
      </p:sp>
      <p:sp>
        <p:nvSpPr>
          <p:cNvPr id="6" name="Text 3"/>
          <p:cNvSpPr txBox="1"/>
          <p:nvPr/>
        </p:nvSpPr>
        <p:spPr>
          <a:xfrm>
            <a:off x="822960" y="3794760"/>
            <a:ext cx="7863840" cy="731520"/>
          </a:xfrm>
          <a:prstGeom prst="rect">
            <a:avLst/>
          </a:prstGeom>
          <a:noFill/>
          <a:ln/>
        </p:spPr>
        <p:txBody>
          <a:bodyPr wrap="square" lIns="0" tIns="0" rIns="0" bIns="0" rtlCol="0" anchor="ctr"/>
          <a:lstStyle/>
          <a:p>
            <a:pPr indent="0" marL="0">
              <a:lnSpc>
                <a:spcPts val="2200"/>
              </a:lnSpc>
              <a:buNone/>
            </a:pPr>
            <a:r>
              <a:rPr lang="en-US" sz="1500" dirty="0">
                <a:solidFill>
                  <a:srgbClr val="C4E4F2"/>
                </a:solidFill>
                <a:latin typeface="Calibri" pitchFamily="34" charset="0"/>
                <a:ea typeface="Calibri" pitchFamily="34" charset="-122"/>
                <a:cs typeface="Calibri" pitchFamily="34" charset="-120"/>
              </a:rPr>
              <a:t>The competitor comparison, the admissions argument, the vendor-stack audit, the security answers, and the platform layer. Open a slide only when the room asks for it.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384048"/>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APPENDIX · YOU HAVE TRIED THESE</a:t>
            </a:r>
            <a:endParaRPr lang="en-US" sz="1150" dirty="0"/>
          </a:p>
        </p:txBody>
      </p:sp>
      <p:sp>
        <p:nvSpPr>
          <p:cNvPr id="6" name="Text 3"/>
          <p:cNvSpPr txBox="1"/>
          <p:nvPr/>
        </p:nvSpPr>
        <p:spPr>
          <a:xfrm>
            <a:off x="640080" y="640080"/>
            <a:ext cx="8595360" cy="960120"/>
          </a:xfrm>
          <a:prstGeom prst="rect">
            <a:avLst/>
          </a:prstGeom>
          <a:noFill/>
          <a:ln/>
        </p:spPr>
        <p:txBody>
          <a:bodyPr wrap="square" lIns="0" tIns="0" rIns="0" bIns="0" rtlCol="0" anchor="t"/>
          <a:lstStyle/>
          <a:p>
            <a:pPr indent="0" marL="0">
              <a:buNone/>
            </a:pPr>
            <a:r>
              <a:rPr lang="en-US" sz="2900" b="1" dirty="0">
                <a:solidFill>
                  <a:srgbClr val="0B4257"/>
                </a:solidFill>
                <a:latin typeface="Calibri" pitchFamily="34" charset="0"/>
                <a:ea typeface="Calibri" pitchFamily="34" charset="-122"/>
                <a:cs typeface="Calibri" pitchFamily="34" charset="-120"/>
              </a:rPr>
              <a:t>Why the four usual fixes never hold</a:t>
            </a:r>
            <a:endParaRPr lang="en-US" sz="2900" dirty="0"/>
          </a:p>
        </p:txBody>
      </p:sp>
      <p:sp>
        <p:nvSpPr>
          <p:cNvPr id="7" name="Text 4"/>
          <p:cNvSpPr txBox="1"/>
          <p:nvPr/>
        </p:nvSpPr>
        <p:spPr>
          <a:xfrm>
            <a:off x="640080" y="1609344"/>
            <a:ext cx="10881360" cy="384048"/>
          </a:xfrm>
          <a:prstGeom prst="rect">
            <a:avLst/>
          </a:prstGeom>
          <a:noFill/>
          <a:ln/>
        </p:spPr>
        <p:txBody>
          <a:bodyPr wrap="square" lIns="0" tIns="0" rIns="0" bIns="0" rtlCol="0" anchor="t"/>
          <a:lstStyle/>
          <a:p>
            <a:pPr indent="0" marL="0">
              <a:buNone/>
            </a:pPr>
            <a:r>
              <a:rPr lang="en-US" sz="1450" dirty="0">
                <a:solidFill>
                  <a:srgbClr val="5A7482"/>
                </a:solidFill>
                <a:latin typeface="Calibri" pitchFamily="34" charset="0"/>
                <a:ea typeface="Calibri" pitchFamily="34" charset="-122"/>
                <a:cs typeface="Calibri" pitchFamily="34" charset="-120"/>
              </a:rPr>
              <a:t>Each one solves a slice. None of them gives the campus a live readiness picture.</a:t>
            </a:r>
            <a:endParaRPr lang="en-US" sz="1450" dirty="0"/>
          </a:p>
        </p:txBody>
      </p:sp>
      <p:sp>
        <p:nvSpPr>
          <p:cNvPr id="8" name="Shape 5"/>
          <p:cNvSpPr/>
          <p:nvPr/>
        </p:nvSpPr>
        <p:spPr>
          <a:xfrm>
            <a:off x="640080" y="2103120"/>
            <a:ext cx="2560320" cy="320040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9" name="Text 6"/>
          <p:cNvSpPr txBox="1"/>
          <p:nvPr/>
        </p:nvSpPr>
        <p:spPr>
          <a:xfrm>
            <a:off x="896112" y="2331720"/>
            <a:ext cx="2103120" cy="365760"/>
          </a:xfrm>
          <a:prstGeom prst="rect">
            <a:avLst/>
          </a:prstGeom>
          <a:noFill/>
          <a:ln/>
        </p:spPr>
        <p:txBody>
          <a:bodyPr wrap="square" lIns="0" tIns="0" rIns="0" bIns="0" rtlCol="0" anchor="ctr"/>
          <a:lstStyle/>
          <a:p>
            <a:pPr indent="0" marL="0">
              <a:buNone/>
            </a:pPr>
            <a:r>
              <a:rPr lang="en-US" sz="1650" b="1" dirty="0">
                <a:solidFill>
                  <a:srgbClr val="0B4257"/>
                </a:solidFill>
                <a:latin typeface="Calibri" pitchFamily="34" charset="0"/>
                <a:ea typeface="Calibri" pitchFamily="34" charset="-122"/>
                <a:cs typeface="Calibri" pitchFamily="34" charset="-120"/>
              </a:rPr>
              <a:t>Training vendor</a:t>
            </a:r>
            <a:endParaRPr lang="en-US" sz="1650" dirty="0"/>
          </a:p>
        </p:txBody>
      </p:sp>
      <p:sp>
        <p:nvSpPr>
          <p:cNvPr id="10" name="Text 7"/>
          <p:cNvSpPr txBox="1"/>
          <p:nvPr/>
        </p:nvSpPr>
        <p:spPr>
          <a:xfrm>
            <a:off x="896112" y="2724912"/>
            <a:ext cx="2103120" cy="292608"/>
          </a:xfrm>
          <a:prstGeom prst="rect">
            <a:avLst/>
          </a:prstGeom>
          <a:noFill/>
          <a:ln/>
        </p:spPr>
        <p:txBody>
          <a:bodyPr wrap="square" lIns="0" tIns="0" rIns="0" bIns="0" rtlCol="0" anchor="ctr"/>
          <a:lstStyle/>
          <a:p>
            <a:pPr indent="0" marL="0">
              <a:buNone/>
            </a:pPr>
            <a:r>
              <a:rPr lang="en-US" sz="1150" b="1" i="1" dirty="0">
                <a:solidFill>
                  <a:srgbClr val="B85C00"/>
                </a:solidFill>
                <a:latin typeface="Calibri" pitchFamily="34" charset="0"/>
                <a:ea typeface="Calibri" pitchFamily="34" charset="-122"/>
                <a:cs typeface="Calibri" pitchFamily="34" charset="-120"/>
              </a:rPr>
              <a:t>3-day workshop</a:t>
            </a:r>
            <a:endParaRPr lang="en-US" sz="1150" dirty="0"/>
          </a:p>
        </p:txBody>
      </p:sp>
      <p:sp>
        <p:nvSpPr>
          <p:cNvPr id="11" name="Shape 8"/>
          <p:cNvSpPr/>
          <p:nvPr/>
        </p:nvSpPr>
        <p:spPr>
          <a:xfrm>
            <a:off x="896112" y="3127248"/>
            <a:ext cx="2048256" cy="0"/>
          </a:xfrm>
          <a:prstGeom prst="line">
            <a:avLst/>
          </a:prstGeom>
          <a:noFill/>
          <a:ln w="12700">
            <a:solidFill>
              <a:srgbClr val="D9E6ED"/>
            </a:solidFill>
            <a:prstDash val="solid"/>
          </a:ln>
        </p:spPr>
      </p:sp>
      <p:sp>
        <p:nvSpPr>
          <p:cNvPr id="12" name="Text 9"/>
          <p:cNvSpPr txBox="1"/>
          <p:nvPr/>
        </p:nvSpPr>
        <p:spPr>
          <a:xfrm>
            <a:off x="896112" y="3291840"/>
            <a:ext cx="2148840" cy="1828800"/>
          </a:xfrm>
          <a:prstGeom prst="rect">
            <a:avLst/>
          </a:prstGeom>
          <a:noFill/>
          <a:ln/>
        </p:spPr>
        <p:txBody>
          <a:bodyPr wrap="square" lIns="0" tIns="0" rIns="0" bIns="0" rtlCol="0" anchor="ctr"/>
          <a:lstStyle/>
          <a:p>
            <a:pPr indent="0" marL="0">
              <a:lnSpc>
                <a:spcPts val="1700"/>
              </a:lnSpc>
              <a:buNone/>
            </a:pPr>
            <a:r>
              <a:rPr lang="en-US" sz="1200" dirty="0">
                <a:solidFill>
                  <a:srgbClr val="5A7482"/>
                </a:solidFill>
                <a:latin typeface="Calibri" pitchFamily="34" charset="0"/>
                <a:ea typeface="Calibri" pitchFamily="34" charset="-122"/>
                <a:cs typeface="Calibri" pitchFamily="34" charset="-120"/>
              </a:rPr>
              <a:t>Energy on day one, nothing on day thirty. No per-student data, no follow-through, and the same cheque again next year.</a:t>
            </a:r>
            <a:endParaRPr lang="en-US" sz="1200" dirty="0"/>
          </a:p>
        </p:txBody>
      </p:sp>
      <p:sp>
        <p:nvSpPr>
          <p:cNvPr id="13" name="Shape 10"/>
          <p:cNvSpPr/>
          <p:nvPr/>
        </p:nvSpPr>
        <p:spPr>
          <a:xfrm>
            <a:off x="3429000" y="2103120"/>
            <a:ext cx="2560320" cy="320040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4" name="Text 11"/>
          <p:cNvSpPr txBox="1"/>
          <p:nvPr/>
        </p:nvSpPr>
        <p:spPr>
          <a:xfrm>
            <a:off x="3685032" y="2331720"/>
            <a:ext cx="2103120" cy="365760"/>
          </a:xfrm>
          <a:prstGeom prst="rect">
            <a:avLst/>
          </a:prstGeom>
          <a:noFill/>
          <a:ln/>
        </p:spPr>
        <p:txBody>
          <a:bodyPr wrap="square" lIns="0" tIns="0" rIns="0" bIns="0" rtlCol="0" anchor="ctr"/>
          <a:lstStyle/>
          <a:p>
            <a:pPr indent="0" marL="0">
              <a:buNone/>
            </a:pPr>
            <a:r>
              <a:rPr lang="en-US" sz="1650" b="1" dirty="0">
                <a:solidFill>
                  <a:srgbClr val="0B4257"/>
                </a:solidFill>
                <a:latin typeface="Calibri" pitchFamily="34" charset="0"/>
                <a:ea typeface="Calibri" pitchFamily="34" charset="-122"/>
                <a:cs typeface="Calibri" pitchFamily="34" charset="-120"/>
              </a:rPr>
              <a:t>LMS / course library</a:t>
            </a:r>
            <a:endParaRPr lang="en-US" sz="1650" dirty="0"/>
          </a:p>
        </p:txBody>
      </p:sp>
      <p:sp>
        <p:nvSpPr>
          <p:cNvPr id="15" name="Text 12"/>
          <p:cNvSpPr txBox="1"/>
          <p:nvPr/>
        </p:nvSpPr>
        <p:spPr>
          <a:xfrm>
            <a:off x="3685032" y="2724912"/>
            <a:ext cx="2103120" cy="292608"/>
          </a:xfrm>
          <a:prstGeom prst="rect">
            <a:avLst/>
          </a:prstGeom>
          <a:noFill/>
          <a:ln/>
        </p:spPr>
        <p:txBody>
          <a:bodyPr wrap="square" lIns="0" tIns="0" rIns="0" bIns="0" rtlCol="0" anchor="ctr"/>
          <a:lstStyle/>
          <a:p>
            <a:pPr indent="0" marL="0">
              <a:buNone/>
            </a:pPr>
            <a:r>
              <a:rPr lang="en-US" sz="1150" b="1" i="1" dirty="0">
                <a:solidFill>
                  <a:srgbClr val="B85C00"/>
                </a:solidFill>
                <a:latin typeface="Calibri" pitchFamily="34" charset="0"/>
                <a:ea typeface="Calibri" pitchFamily="34" charset="-122"/>
                <a:cs typeface="Calibri" pitchFamily="34" charset="-120"/>
              </a:rPr>
              <a:t>Content, not readiness</a:t>
            </a:r>
            <a:endParaRPr lang="en-US" sz="1150" dirty="0"/>
          </a:p>
        </p:txBody>
      </p:sp>
      <p:sp>
        <p:nvSpPr>
          <p:cNvPr id="16" name="Shape 13"/>
          <p:cNvSpPr/>
          <p:nvPr/>
        </p:nvSpPr>
        <p:spPr>
          <a:xfrm>
            <a:off x="3685032" y="3127248"/>
            <a:ext cx="2048256" cy="0"/>
          </a:xfrm>
          <a:prstGeom prst="line">
            <a:avLst/>
          </a:prstGeom>
          <a:noFill/>
          <a:ln w="12700">
            <a:solidFill>
              <a:srgbClr val="D9E6ED"/>
            </a:solidFill>
            <a:prstDash val="solid"/>
          </a:ln>
        </p:spPr>
      </p:sp>
      <p:sp>
        <p:nvSpPr>
          <p:cNvPr id="17" name="Text 14"/>
          <p:cNvSpPr txBox="1"/>
          <p:nvPr/>
        </p:nvSpPr>
        <p:spPr>
          <a:xfrm>
            <a:off x="3685032" y="3291840"/>
            <a:ext cx="2148840" cy="1828800"/>
          </a:xfrm>
          <a:prstGeom prst="rect">
            <a:avLst/>
          </a:prstGeom>
          <a:noFill/>
          <a:ln/>
        </p:spPr>
        <p:txBody>
          <a:bodyPr wrap="square" lIns="0" tIns="0" rIns="0" bIns="0" rtlCol="0" anchor="ctr"/>
          <a:lstStyle/>
          <a:p>
            <a:pPr indent="0" marL="0">
              <a:lnSpc>
                <a:spcPts val="1700"/>
              </a:lnSpc>
              <a:buNone/>
            </a:pPr>
            <a:r>
              <a:rPr lang="en-US" sz="1200" dirty="0">
                <a:solidFill>
                  <a:srgbClr val="5A7482"/>
                </a:solidFill>
                <a:latin typeface="Calibri" pitchFamily="34" charset="0"/>
                <a:ea typeface="Calibri" pitchFamily="34" charset="-122"/>
                <a:cs typeface="Calibri" pitchFamily="34" charset="-120"/>
              </a:rPr>
              <a:t>Videos measure watch time. Watch time is not interview readiness. Completion rates collapse after week two.</a:t>
            </a:r>
            <a:endParaRPr lang="en-US" sz="1200" dirty="0"/>
          </a:p>
        </p:txBody>
      </p:sp>
      <p:sp>
        <p:nvSpPr>
          <p:cNvPr id="18" name="Shape 15"/>
          <p:cNvSpPr/>
          <p:nvPr/>
        </p:nvSpPr>
        <p:spPr>
          <a:xfrm>
            <a:off x="6217920" y="2103120"/>
            <a:ext cx="2560320" cy="320040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9" name="Text 16"/>
          <p:cNvSpPr txBox="1"/>
          <p:nvPr/>
        </p:nvSpPr>
        <p:spPr>
          <a:xfrm>
            <a:off x="6473952" y="2331720"/>
            <a:ext cx="2103120" cy="365760"/>
          </a:xfrm>
          <a:prstGeom prst="rect">
            <a:avLst/>
          </a:prstGeom>
          <a:noFill/>
          <a:ln/>
        </p:spPr>
        <p:txBody>
          <a:bodyPr wrap="square" lIns="0" tIns="0" rIns="0" bIns="0" rtlCol="0" anchor="ctr"/>
          <a:lstStyle/>
          <a:p>
            <a:pPr indent="0" marL="0">
              <a:buNone/>
            </a:pPr>
            <a:r>
              <a:rPr lang="en-US" sz="1650" b="1" dirty="0">
                <a:solidFill>
                  <a:srgbClr val="0B4257"/>
                </a:solidFill>
                <a:latin typeface="Calibri" pitchFamily="34" charset="0"/>
                <a:ea typeface="Calibri" pitchFamily="34" charset="-122"/>
                <a:cs typeface="Calibri" pitchFamily="34" charset="-120"/>
              </a:rPr>
              <a:t>Assessment platform</a:t>
            </a:r>
            <a:endParaRPr lang="en-US" sz="1650" dirty="0"/>
          </a:p>
        </p:txBody>
      </p:sp>
      <p:sp>
        <p:nvSpPr>
          <p:cNvPr id="20" name="Text 17"/>
          <p:cNvSpPr txBox="1"/>
          <p:nvPr/>
        </p:nvSpPr>
        <p:spPr>
          <a:xfrm>
            <a:off x="6473952" y="2724912"/>
            <a:ext cx="2103120" cy="292608"/>
          </a:xfrm>
          <a:prstGeom prst="rect">
            <a:avLst/>
          </a:prstGeom>
          <a:noFill/>
          <a:ln/>
        </p:spPr>
        <p:txBody>
          <a:bodyPr wrap="square" lIns="0" tIns="0" rIns="0" bIns="0" rtlCol="0" anchor="ctr"/>
          <a:lstStyle/>
          <a:p>
            <a:pPr indent="0" marL="0">
              <a:buNone/>
            </a:pPr>
            <a:r>
              <a:rPr lang="en-US" sz="1150" b="1" i="1" dirty="0">
                <a:solidFill>
                  <a:srgbClr val="B85C00"/>
                </a:solidFill>
                <a:latin typeface="Calibri" pitchFamily="34" charset="0"/>
                <a:ea typeface="Calibri" pitchFamily="34" charset="-122"/>
                <a:cs typeface="Calibri" pitchFamily="34" charset="-120"/>
              </a:rPr>
              <a:t>A snapshot, not a system</a:t>
            </a:r>
            <a:endParaRPr lang="en-US" sz="1150" dirty="0"/>
          </a:p>
        </p:txBody>
      </p:sp>
      <p:sp>
        <p:nvSpPr>
          <p:cNvPr id="21" name="Shape 18"/>
          <p:cNvSpPr/>
          <p:nvPr/>
        </p:nvSpPr>
        <p:spPr>
          <a:xfrm>
            <a:off x="6473952" y="3127248"/>
            <a:ext cx="2048256" cy="0"/>
          </a:xfrm>
          <a:prstGeom prst="line">
            <a:avLst/>
          </a:prstGeom>
          <a:noFill/>
          <a:ln w="12700">
            <a:solidFill>
              <a:srgbClr val="D9E6ED"/>
            </a:solidFill>
            <a:prstDash val="solid"/>
          </a:ln>
        </p:spPr>
      </p:sp>
      <p:sp>
        <p:nvSpPr>
          <p:cNvPr id="22" name="Text 19"/>
          <p:cNvSpPr txBox="1"/>
          <p:nvPr/>
        </p:nvSpPr>
        <p:spPr>
          <a:xfrm>
            <a:off x="6473952" y="3291840"/>
            <a:ext cx="2148840" cy="1828800"/>
          </a:xfrm>
          <a:prstGeom prst="rect">
            <a:avLst/>
          </a:prstGeom>
          <a:noFill/>
          <a:ln/>
        </p:spPr>
        <p:txBody>
          <a:bodyPr wrap="square" lIns="0" tIns="0" rIns="0" bIns="0" rtlCol="0" anchor="ctr"/>
          <a:lstStyle/>
          <a:p>
            <a:pPr indent="0" marL="0">
              <a:lnSpc>
                <a:spcPts val="1700"/>
              </a:lnSpc>
              <a:buNone/>
            </a:pPr>
            <a:r>
              <a:rPr lang="en-US" sz="1200" dirty="0">
                <a:solidFill>
                  <a:srgbClr val="5A7482"/>
                </a:solidFill>
                <a:latin typeface="Calibri" pitchFamily="34" charset="0"/>
                <a:ea typeface="Calibri" pitchFamily="34" charset="-122"/>
                <a:cs typeface="Calibri" pitchFamily="34" charset="-120"/>
              </a:rPr>
              <a:t>One test, one day, one score. It tells you who is weak; it does nothing to make them stronger.</a:t>
            </a:r>
            <a:endParaRPr lang="en-US" sz="1200" dirty="0"/>
          </a:p>
        </p:txBody>
      </p:sp>
      <p:sp>
        <p:nvSpPr>
          <p:cNvPr id="23" name="Shape 20"/>
          <p:cNvSpPr/>
          <p:nvPr/>
        </p:nvSpPr>
        <p:spPr>
          <a:xfrm>
            <a:off x="9006840" y="2103120"/>
            <a:ext cx="2560320" cy="3200400"/>
          </a:xfrm>
          <a:prstGeom prst="roundRect">
            <a:avLst>
              <a:gd name="adj" fmla="val 1250"/>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24" name="Text 21"/>
          <p:cNvSpPr txBox="1"/>
          <p:nvPr/>
        </p:nvSpPr>
        <p:spPr>
          <a:xfrm>
            <a:off x="9262872" y="2331720"/>
            <a:ext cx="2103120" cy="365760"/>
          </a:xfrm>
          <a:prstGeom prst="rect">
            <a:avLst/>
          </a:prstGeom>
          <a:noFill/>
          <a:ln/>
        </p:spPr>
        <p:txBody>
          <a:bodyPr wrap="square" lIns="0" tIns="0" rIns="0" bIns="0" rtlCol="0" anchor="ctr"/>
          <a:lstStyle/>
          <a:p>
            <a:pPr indent="0" marL="0">
              <a:buNone/>
            </a:pPr>
            <a:r>
              <a:rPr lang="en-US" sz="1650" b="1" dirty="0">
                <a:solidFill>
                  <a:srgbClr val="0B4257"/>
                </a:solidFill>
                <a:latin typeface="Calibri" pitchFamily="34" charset="0"/>
                <a:ea typeface="Calibri" pitchFamily="34" charset="-122"/>
                <a:cs typeface="Calibri" pitchFamily="34" charset="-120"/>
              </a:rPr>
              <a:t>In-house Excel</a:t>
            </a:r>
            <a:endParaRPr lang="en-US" sz="1650" dirty="0"/>
          </a:p>
        </p:txBody>
      </p:sp>
      <p:sp>
        <p:nvSpPr>
          <p:cNvPr id="25" name="Text 22"/>
          <p:cNvSpPr txBox="1"/>
          <p:nvPr/>
        </p:nvSpPr>
        <p:spPr>
          <a:xfrm>
            <a:off x="9262872" y="2724912"/>
            <a:ext cx="2103120" cy="292608"/>
          </a:xfrm>
          <a:prstGeom prst="rect">
            <a:avLst/>
          </a:prstGeom>
          <a:noFill/>
          <a:ln/>
        </p:spPr>
        <p:txBody>
          <a:bodyPr wrap="square" lIns="0" tIns="0" rIns="0" bIns="0" rtlCol="0" anchor="ctr"/>
          <a:lstStyle/>
          <a:p>
            <a:pPr indent="0" marL="0">
              <a:buNone/>
            </a:pPr>
            <a:r>
              <a:rPr lang="en-US" sz="1150" b="1" i="1" dirty="0">
                <a:solidFill>
                  <a:srgbClr val="B85C00"/>
                </a:solidFill>
                <a:latin typeface="Calibri" pitchFamily="34" charset="0"/>
                <a:ea typeface="Calibri" pitchFamily="34" charset="-122"/>
                <a:cs typeface="Calibri" pitchFamily="34" charset="-120"/>
              </a:rPr>
              <a:t>Heroic, unscalable</a:t>
            </a:r>
            <a:endParaRPr lang="en-US" sz="1150" dirty="0"/>
          </a:p>
        </p:txBody>
      </p:sp>
      <p:sp>
        <p:nvSpPr>
          <p:cNvPr id="26" name="Shape 23"/>
          <p:cNvSpPr/>
          <p:nvPr/>
        </p:nvSpPr>
        <p:spPr>
          <a:xfrm>
            <a:off x="9262872" y="3127248"/>
            <a:ext cx="2048256" cy="0"/>
          </a:xfrm>
          <a:prstGeom prst="line">
            <a:avLst/>
          </a:prstGeom>
          <a:noFill/>
          <a:ln w="12700">
            <a:solidFill>
              <a:srgbClr val="D9E6ED"/>
            </a:solidFill>
            <a:prstDash val="solid"/>
          </a:ln>
        </p:spPr>
      </p:sp>
      <p:sp>
        <p:nvSpPr>
          <p:cNvPr id="27" name="Text 24"/>
          <p:cNvSpPr txBox="1"/>
          <p:nvPr/>
        </p:nvSpPr>
        <p:spPr>
          <a:xfrm>
            <a:off x="9262872" y="3291840"/>
            <a:ext cx="2148840" cy="1828800"/>
          </a:xfrm>
          <a:prstGeom prst="rect">
            <a:avLst/>
          </a:prstGeom>
          <a:noFill/>
          <a:ln/>
        </p:spPr>
        <p:txBody>
          <a:bodyPr wrap="square" lIns="0" tIns="0" rIns="0" bIns="0" rtlCol="0" anchor="ctr"/>
          <a:lstStyle/>
          <a:p>
            <a:pPr indent="0" marL="0">
              <a:lnSpc>
                <a:spcPts val="1700"/>
              </a:lnSpc>
              <a:buNone/>
            </a:pPr>
            <a:r>
              <a:rPr lang="en-US" sz="1200" dirty="0">
                <a:solidFill>
                  <a:srgbClr val="5A7482"/>
                </a:solidFill>
                <a:latin typeface="Calibri" pitchFamily="34" charset="0"/>
                <a:ea typeface="Calibri" pitchFamily="34" charset="-122"/>
                <a:cs typeface="Calibri" pitchFamily="34" charset="-120"/>
              </a:rPr>
              <a:t>Works until the person maintaining it is busy, leaves, or the batch doubles. It is a person, not a system.</a:t>
            </a:r>
            <a:endParaRPr lang="en-US" sz="1200" dirty="0"/>
          </a:p>
        </p:txBody>
      </p:sp>
      <p:sp>
        <p:nvSpPr>
          <p:cNvPr id="28" name="Text 25"/>
          <p:cNvSpPr txBox="1"/>
          <p:nvPr/>
        </p:nvSpPr>
        <p:spPr>
          <a:xfrm>
            <a:off x="640080" y="5532120"/>
            <a:ext cx="10881360" cy="457200"/>
          </a:xfrm>
          <a:prstGeom prst="rect">
            <a:avLst/>
          </a:prstGeom>
          <a:noFill/>
          <a:ln/>
        </p:spPr>
        <p:txBody>
          <a:bodyPr wrap="square" lIns="0" tIns="0" rIns="0" bIns="0" rtlCol="0" anchor="ctr"/>
          <a:lstStyle/>
          <a:p>
            <a:pPr indent="0" marL="0">
              <a:buNone/>
            </a:pPr>
            <a:r>
              <a:rPr lang="en-US" sz="1600" b="1" dirty="0">
                <a:solidFill>
                  <a:srgbClr val="0991BE"/>
                </a:solidFill>
                <a:latin typeface="Calibri" pitchFamily="34" charset="0"/>
                <a:ea typeface="Calibri" pitchFamily="34" charset="-122"/>
                <a:cs typeface="Calibri" pitchFamily="34" charset="-120"/>
              </a:rPr>
              <a:t>All four are point solutions bolted onto a season that has no backbone. MentorMuni is the backbone.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384048"/>
            <a:ext cx="8229600" cy="274320"/>
          </a:xfrm>
          <a:prstGeom prst="rect">
            <a:avLst/>
          </a:prstGeom>
          <a:noFill/>
          <a:ln/>
        </p:spPr>
        <p:txBody>
          <a:bodyPr wrap="square" lIns="0" tIns="0" rIns="0" bIns="0" rtlCol="0" anchor="ctr"/>
          <a:lstStyle/>
          <a:p>
            <a:pPr indent="0" marL="0">
              <a:buNone/>
            </a:pPr>
            <a:r>
              <a:rPr lang="en-US" sz="1150" b="1" spc="260" kern="0" dirty="0">
                <a:solidFill>
                  <a:srgbClr val="B85C00"/>
                </a:solidFill>
                <a:latin typeface="Calibri" pitchFamily="34" charset="0"/>
                <a:ea typeface="Calibri" pitchFamily="34" charset="-122"/>
                <a:cs typeface="Calibri" pitchFamily="34" charset="-120"/>
              </a:rPr>
              <a:t>APPENDIX · THE BILL YOU ARE ALREADY PAYING</a:t>
            </a:r>
            <a:endParaRPr lang="en-US" sz="1150" dirty="0"/>
          </a:p>
        </p:txBody>
      </p:sp>
      <p:sp>
        <p:nvSpPr>
          <p:cNvPr id="6" name="Text 3"/>
          <p:cNvSpPr txBox="1"/>
          <p:nvPr/>
        </p:nvSpPr>
        <p:spPr>
          <a:xfrm>
            <a:off x="640080" y="640080"/>
            <a:ext cx="8595360" cy="960120"/>
          </a:xfrm>
          <a:prstGeom prst="rect">
            <a:avLst/>
          </a:prstGeom>
          <a:noFill/>
          <a:ln/>
        </p:spPr>
        <p:txBody>
          <a:bodyPr wrap="square" lIns="0" tIns="0" rIns="0" bIns="0" rtlCol="0" anchor="t"/>
          <a:lstStyle/>
          <a:p>
            <a:pPr indent="0" marL="0">
              <a:buNone/>
            </a:pPr>
            <a:r>
              <a:rPr lang="en-US" sz="2900" b="1" dirty="0">
                <a:solidFill>
                  <a:srgbClr val="0B4257"/>
                </a:solidFill>
                <a:latin typeface="Calibri" pitchFamily="34" charset="0"/>
                <a:ea typeface="Calibri" pitchFamily="34" charset="-122"/>
                <a:cs typeface="Calibri" pitchFamily="34" charset="-120"/>
              </a:rPr>
              <a:t>A placement leak, not a software gap</a:t>
            </a:r>
            <a:endParaRPr lang="en-US" sz="2900" dirty="0"/>
          </a:p>
        </p:txBody>
      </p:sp>
      <p:sp>
        <p:nvSpPr>
          <p:cNvPr id="7" name="Text 4"/>
          <p:cNvSpPr txBox="1"/>
          <p:nvPr/>
        </p:nvSpPr>
        <p:spPr>
          <a:xfrm>
            <a:off x="640080" y="1609344"/>
            <a:ext cx="10881360" cy="384048"/>
          </a:xfrm>
          <a:prstGeom prst="rect">
            <a:avLst/>
          </a:prstGeom>
          <a:noFill/>
          <a:ln/>
        </p:spPr>
        <p:txBody>
          <a:bodyPr wrap="square" lIns="0" tIns="0" rIns="0" bIns="0" rtlCol="0" anchor="t"/>
          <a:lstStyle/>
          <a:p>
            <a:pPr indent="0" marL="0">
              <a:buNone/>
            </a:pPr>
            <a:r>
              <a:rPr lang="en-US" sz="1450" dirty="0">
                <a:solidFill>
                  <a:srgbClr val="5A7482"/>
                </a:solidFill>
                <a:latin typeface="Calibri" pitchFamily="34" charset="0"/>
                <a:ea typeface="Calibri" pitchFamily="34" charset="-122"/>
                <a:cs typeface="Calibri" pitchFamily="34" charset="-120"/>
              </a:rPr>
              <a:t>The cost of "we will find out later" shows up in four places — none of them on an invoice.</a:t>
            </a:r>
            <a:endParaRPr lang="en-US" sz="1450" dirty="0"/>
          </a:p>
        </p:txBody>
      </p:sp>
      <p:sp>
        <p:nvSpPr>
          <p:cNvPr id="8" name="Shape 5"/>
          <p:cNvSpPr/>
          <p:nvPr/>
        </p:nvSpPr>
        <p:spPr>
          <a:xfrm>
            <a:off x="640080" y="2148840"/>
            <a:ext cx="2560320" cy="1783080"/>
          </a:xfrm>
          <a:prstGeom prst="roundRect">
            <a:avLst>
              <a:gd name="adj" fmla="val 1795"/>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9" name="Text 6"/>
          <p:cNvSpPr txBox="1"/>
          <p:nvPr/>
        </p:nvSpPr>
        <p:spPr>
          <a:xfrm>
            <a:off x="868680" y="2331720"/>
            <a:ext cx="2103120" cy="731520"/>
          </a:xfrm>
          <a:prstGeom prst="rect">
            <a:avLst/>
          </a:prstGeom>
          <a:noFill/>
          <a:ln/>
        </p:spPr>
        <p:txBody>
          <a:bodyPr wrap="square" lIns="0" tIns="0" rIns="0" bIns="0" rtlCol="0" anchor="ctr"/>
          <a:lstStyle/>
          <a:p>
            <a:pPr indent="0" marL="0">
              <a:buNone/>
            </a:pPr>
            <a:r>
              <a:rPr lang="en-US" sz="4400" b="1" dirty="0">
                <a:solidFill>
                  <a:srgbClr val="0991BE"/>
                </a:solidFill>
                <a:latin typeface="Calibri" pitchFamily="34" charset="0"/>
                <a:ea typeface="Calibri" pitchFamily="34" charset="-122"/>
                <a:cs typeface="Calibri" pitchFamily="34" charset="-120"/>
              </a:rPr>
              <a:t>Weeks</a:t>
            </a:r>
            <a:endParaRPr lang="en-US" sz="4400" dirty="0"/>
          </a:p>
        </p:txBody>
      </p:sp>
      <p:sp>
        <p:nvSpPr>
          <p:cNvPr id="10" name="Text 7"/>
          <p:cNvSpPr txBox="1"/>
          <p:nvPr/>
        </p:nvSpPr>
        <p:spPr>
          <a:xfrm>
            <a:off x="868680" y="3090672"/>
            <a:ext cx="2148840" cy="77724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lost per season rebuilding the same shortlist data by hand</a:t>
            </a:r>
            <a:endParaRPr lang="en-US" sz="1150" dirty="0"/>
          </a:p>
        </p:txBody>
      </p:sp>
      <p:sp>
        <p:nvSpPr>
          <p:cNvPr id="11" name="Shape 8"/>
          <p:cNvSpPr/>
          <p:nvPr/>
        </p:nvSpPr>
        <p:spPr>
          <a:xfrm>
            <a:off x="3429000" y="2148840"/>
            <a:ext cx="2560320" cy="1783080"/>
          </a:xfrm>
          <a:prstGeom prst="roundRect">
            <a:avLst>
              <a:gd name="adj" fmla="val 1795"/>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2" name="Text 9"/>
          <p:cNvSpPr txBox="1"/>
          <p:nvPr/>
        </p:nvSpPr>
        <p:spPr>
          <a:xfrm>
            <a:off x="3657600" y="2331720"/>
            <a:ext cx="2103120" cy="731520"/>
          </a:xfrm>
          <a:prstGeom prst="rect">
            <a:avLst/>
          </a:prstGeom>
          <a:noFill/>
          <a:ln/>
        </p:spPr>
        <p:txBody>
          <a:bodyPr wrap="square" lIns="0" tIns="0" rIns="0" bIns="0" rtlCol="0" anchor="ctr"/>
          <a:lstStyle/>
          <a:p>
            <a:pPr indent="0" marL="0">
              <a:buNone/>
            </a:pPr>
            <a:r>
              <a:rPr lang="en-US" sz="4400" b="1" dirty="0">
                <a:solidFill>
                  <a:srgbClr val="B85C00"/>
                </a:solidFill>
                <a:latin typeface="Calibri" pitchFamily="34" charset="0"/>
                <a:ea typeface="Calibri" pitchFamily="34" charset="-122"/>
                <a:cs typeface="Calibri" pitchFamily="34" charset="-120"/>
              </a:rPr>
              <a:t>Late</a:t>
            </a:r>
            <a:endParaRPr lang="en-US" sz="4400" dirty="0"/>
          </a:p>
        </p:txBody>
      </p:sp>
      <p:sp>
        <p:nvSpPr>
          <p:cNvPr id="13" name="Text 10"/>
          <p:cNvSpPr txBox="1"/>
          <p:nvPr/>
        </p:nvSpPr>
        <p:spPr>
          <a:xfrm>
            <a:off x="3657600" y="3090672"/>
            <a:ext cx="2148840" cy="77724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is when most at-risk students are identified — after round one</a:t>
            </a:r>
            <a:endParaRPr lang="en-US" sz="1150" dirty="0"/>
          </a:p>
        </p:txBody>
      </p:sp>
      <p:sp>
        <p:nvSpPr>
          <p:cNvPr id="14" name="Shape 11"/>
          <p:cNvSpPr/>
          <p:nvPr/>
        </p:nvSpPr>
        <p:spPr>
          <a:xfrm>
            <a:off x="6217920" y="2148840"/>
            <a:ext cx="2560320" cy="1783080"/>
          </a:xfrm>
          <a:prstGeom prst="roundRect">
            <a:avLst>
              <a:gd name="adj" fmla="val 1795"/>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5" name="Text 12"/>
          <p:cNvSpPr txBox="1"/>
          <p:nvPr/>
        </p:nvSpPr>
        <p:spPr>
          <a:xfrm>
            <a:off x="6446520" y="2331720"/>
            <a:ext cx="2103120" cy="731520"/>
          </a:xfrm>
          <a:prstGeom prst="rect">
            <a:avLst/>
          </a:prstGeom>
          <a:noFill/>
          <a:ln/>
        </p:spPr>
        <p:txBody>
          <a:bodyPr wrap="square" lIns="0" tIns="0" rIns="0" bIns="0" rtlCol="0" anchor="ctr"/>
          <a:lstStyle/>
          <a:p>
            <a:pPr indent="0" marL="0">
              <a:buNone/>
            </a:pPr>
            <a:r>
              <a:rPr lang="en-US" sz="4400" b="1" dirty="0">
                <a:solidFill>
                  <a:srgbClr val="E7A81C"/>
                </a:solidFill>
                <a:latin typeface="Calibri" pitchFamily="34" charset="0"/>
                <a:ea typeface="Calibri" pitchFamily="34" charset="-122"/>
                <a:cs typeface="Calibri" pitchFamily="34" charset="-120"/>
              </a:rPr>
              <a:t>0</a:t>
            </a:r>
            <a:endParaRPr lang="en-US" sz="4400" dirty="0"/>
          </a:p>
        </p:txBody>
      </p:sp>
      <p:sp>
        <p:nvSpPr>
          <p:cNvPr id="16" name="Text 13"/>
          <p:cNvSpPr txBox="1"/>
          <p:nvPr/>
        </p:nvSpPr>
        <p:spPr>
          <a:xfrm>
            <a:off x="6446520" y="3090672"/>
            <a:ext cx="2148840" cy="77724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leading indicators available to management mid-season</a:t>
            </a:r>
            <a:endParaRPr lang="en-US" sz="1150" dirty="0"/>
          </a:p>
        </p:txBody>
      </p:sp>
      <p:sp>
        <p:nvSpPr>
          <p:cNvPr id="17" name="Shape 14"/>
          <p:cNvSpPr/>
          <p:nvPr/>
        </p:nvSpPr>
        <p:spPr>
          <a:xfrm>
            <a:off x="9006840" y="2148840"/>
            <a:ext cx="2560320" cy="1783080"/>
          </a:xfrm>
          <a:prstGeom prst="roundRect">
            <a:avLst>
              <a:gd name="adj" fmla="val 1795"/>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8" name="Text 15"/>
          <p:cNvSpPr txBox="1"/>
          <p:nvPr/>
        </p:nvSpPr>
        <p:spPr>
          <a:xfrm>
            <a:off x="9235440" y="2331720"/>
            <a:ext cx="2103120" cy="731520"/>
          </a:xfrm>
          <a:prstGeom prst="rect">
            <a:avLst/>
          </a:prstGeom>
          <a:noFill/>
          <a:ln/>
        </p:spPr>
        <p:txBody>
          <a:bodyPr wrap="square" lIns="0" tIns="0" rIns="0" bIns="0" rtlCol="0" anchor="ctr"/>
          <a:lstStyle/>
          <a:p>
            <a:pPr indent="0" marL="0">
              <a:buNone/>
            </a:pPr>
            <a:r>
              <a:rPr lang="en-US" sz="3000" b="1" dirty="0">
                <a:solidFill>
                  <a:srgbClr val="08AF94"/>
                </a:solidFill>
                <a:latin typeface="Calibri" pitchFamily="34" charset="0"/>
                <a:ea typeface="Calibri" pitchFamily="34" charset="-122"/>
                <a:cs typeface="Calibri" pitchFamily="34" charset="-120"/>
              </a:rPr>
              <a:t>Next year</a:t>
            </a:r>
            <a:endParaRPr lang="en-US" sz="3000" dirty="0"/>
          </a:p>
        </p:txBody>
      </p:sp>
      <p:sp>
        <p:nvSpPr>
          <p:cNvPr id="19" name="Text 16"/>
          <p:cNvSpPr txBox="1"/>
          <p:nvPr/>
        </p:nvSpPr>
        <p:spPr>
          <a:xfrm>
            <a:off x="9235440" y="3090672"/>
            <a:ext cx="2148840" cy="77724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is what a weak placement number really costs — admissions</a:t>
            </a:r>
            <a:endParaRPr lang="en-US" sz="1150" dirty="0"/>
          </a:p>
        </p:txBody>
      </p:sp>
      <p:sp>
        <p:nvSpPr>
          <p:cNvPr id="20" name="Shape 17"/>
          <p:cNvSpPr/>
          <p:nvPr/>
        </p:nvSpPr>
        <p:spPr>
          <a:xfrm>
            <a:off x="640080" y="4297680"/>
            <a:ext cx="10908792" cy="1691640"/>
          </a:xfrm>
          <a:prstGeom prst="roundRect">
            <a:avLst>
              <a:gd name="adj" fmla="val 1892"/>
            </a:avLst>
          </a:prstGeom>
          <a:solidFill>
            <a:srgbClr val="0A6C8E"/>
          </a:solidFill>
          <a:ln/>
          <a:effectLst>
            <a:outerShdw sx="100000" sy="100000" kx="0" ky="0" algn="bl" rotWithShape="0" blurRad="177800" dist="38100" dir="5400000">
              <a:srgbClr val="0B4257">
                <a:alpha val="14000"/>
              </a:srgbClr>
            </a:outerShdw>
          </a:effectLst>
        </p:spPr>
      </p:sp>
      <p:sp>
        <p:nvSpPr>
          <p:cNvPr id="21" name="Text 18"/>
          <p:cNvSpPr txBox="1"/>
          <p:nvPr/>
        </p:nvSpPr>
        <p:spPr>
          <a:xfrm>
            <a:off x="1005840" y="4553712"/>
            <a:ext cx="5029200" cy="320040"/>
          </a:xfrm>
          <a:prstGeom prst="rect">
            <a:avLst/>
          </a:prstGeom>
          <a:noFill/>
          <a:ln/>
        </p:spPr>
        <p:txBody>
          <a:bodyPr wrap="square" lIns="0" tIns="0" rIns="0" bIns="0" rtlCol="0" anchor="ctr"/>
          <a:lstStyle/>
          <a:p>
            <a:pPr indent="0" marL="0">
              <a:buNone/>
            </a:pPr>
            <a:r>
              <a:rPr lang="en-US" sz="1200" b="1" spc="140" kern="0" dirty="0">
                <a:solidFill>
                  <a:srgbClr val="A8E5D6"/>
                </a:solidFill>
                <a:latin typeface="Calibri" pitchFamily="34" charset="0"/>
                <a:ea typeface="Calibri" pitchFamily="34" charset="-122"/>
                <a:cs typeface="Calibri" pitchFamily="34" charset="-120"/>
              </a:rPr>
              <a:t>The number that actually matters</a:t>
            </a:r>
            <a:endParaRPr lang="en-US" sz="1200" dirty="0"/>
          </a:p>
        </p:txBody>
      </p:sp>
      <p:sp>
        <p:nvSpPr>
          <p:cNvPr id="22" name="Text 19"/>
          <p:cNvSpPr txBox="1"/>
          <p:nvPr/>
        </p:nvSpPr>
        <p:spPr>
          <a:xfrm>
            <a:off x="1005840" y="4882896"/>
            <a:ext cx="10149840" cy="960120"/>
          </a:xfrm>
          <a:prstGeom prst="rect">
            <a:avLst/>
          </a:prstGeom>
          <a:noFill/>
          <a:ln/>
        </p:spPr>
        <p:txBody>
          <a:bodyPr wrap="square" lIns="0" tIns="0" rIns="0" bIns="0" rtlCol="0" anchor="ctr"/>
          <a:lstStyle/>
          <a:p>
            <a:pPr indent="0" marL="0">
              <a:lnSpc>
                <a:spcPts val="2100"/>
              </a:lnSpc>
              <a:buNone/>
            </a:pPr>
            <a:r>
              <a:rPr lang="en-US" sz="1450" dirty="0">
                <a:solidFill>
                  <a:srgbClr val="E4F2F8"/>
                </a:solidFill>
                <a:latin typeface="Calibri" pitchFamily="34" charset="0"/>
                <a:ea typeface="Calibri" pitchFamily="34" charset="-122"/>
                <a:cs typeface="Calibri" pitchFamily="34" charset="-120"/>
              </a:rPr>
              <a:t>Your placement percentage is your admissions brochure. A batch that under-performs does not just lose offers — it softens next year's intake, your NIRF graduation-outcome score, and your negotiating position with recruiters. That is the real cost centre, and it compounds.</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384048"/>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APPENDIX · WHAT CHANGES FOR WHOM</a:t>
            </a:r>
            <a:endParaRPr lang="en-US" sz="1150" dirty="0"/>
          </a:p>
        </p:txBody>
      </p:sp>
      <p:sp>
        <p:nvSpPr>
          <p:cNvPr id="6" name="Text 3"/>
          <p:cNvSpPr txBox="1"/>
          <p:nvPr/>
        </p:nvSpPr>
        <p:spPr>
          <a:xfrm>
            <a:off x="640080" y="640080"/>
            <a:ext cx="8595360" cy="960120"/>
          </a:xfrm>
          <a:prstGeom prst="rect">
            <a:avLst/>
          </a:prstGeom>
          <a:noFill/>
          <a:ln/>
        </p:spPr>
        <p:txBody>
          <a:bodyPr wrap="square" lIns="0" tIns="0" rIns="0" bIns="0" rtlCol="0" anchor="t"/>
          <a:lstStyle/>
          <a:p>
            <a:pPr indent="0" marL="0">
              <a:buNone/>
            </a:pPr>
            <a:r>
              <a:rPr lang="en-US" sz="2900" b="1" dirty="0">
                <a:solidFill>
                  <a:srgbClr val="0B4257"/>
                </a:solidFill>
                <a:latin typeface="Calibri" pitchFamily="34" charset="0"/>
                <a:ea typeface="Calibri" pitchFamily="34" charset="-122"/>
                <a:cs typeface="Calibri" pitchFamily="34" charset="-120"/>
              </a:rPr>
              <a:t>What actually gets easier, level by level</a:t>
            </a:r>
            <a:endParaRPr lang="en-US" sz="2900" dirty="0"/>
          </a:p>
        </p:txBody>
      </p:sp>
      <p:sp>
        <p:nvSpPr>
          <p:cNvPr id="7" name="Text 4"/>
          <p:cNvSpPr txBox="1"/>
          <p:nvPr/>
        </p:nvSpPr>
        <p:spPr>
          <a:xfrm>
            <a:off x="640080" y="1609344"/>
            <a:ext cx="10881360" cy="384048"/>
          </a:xfrm>
          <a:prstGeom prst="rect">
            <a:avLst/>
          </a:prstGeom>
          <a:noFill/>
          <a:ln/>
        </p:spPr>
        <p:txBody>
          <a:bodyPr wrap="square" lIns="0" tIns="0" rIns="0" bIns="0" rtlCol="0" anchor="t"/>
          <a:lstStyle/>
          <a:p>
            <a:pPr indent="0" marL="0">
              <a:buNone/>
            </a:pPr>
            <a:r>
              <a:rPr lang="en-US" sz="1450" dirty="0">
                <a:solidFill>
                  <a:srgbClr val="5A7482"/>
                </a:solidFill>
                <a:latin typeface="Calibri" pitchFamily="34" charset="0"/>
                <a:ea typeface="Calibri" pitchFamily="34" charset="-122"/>
                <a:cs typeface="Calibri" pitchFamily="34" charset="-120"/>
              </a:rPr>
              <a:t>A rollout only survives if every level gets something. Here is what each one gets.</a:t>
            </a:r>
            <a:endParaRPr lang="en-US" sz="1450" dirty="0"/>
          </a:p>
        </p:txBody>
      </p:sp>
      <p:sp>
        <p:nvSpPr>
          <p:cNvPr id="8" name="Text 5"/>
          <p:cNvSpPr txBox="1"/>
          <p:nvPr/>
        </p:nvSpPr>
        <p:spPr>
          <a:xfrm>
            <a:off x="868680" y="2103120"/>
            <a:ext cx="2194560" cy="274320"/>
          </a:xfrm>
          <a:prstGeom prst="rect">
            <a:avLst/>
          </a:prstGeom>
          <a:noFill/>
          <a:ln/>
        </p:spPr>
        <p:txBody>
          <a:bodyPr wrap="square" lIns="0" tIns="0" rIns="0" bIns="0" rtlCol="0" anchor="ctr"/>
          <a:lstStyle/>
          <a:p>
            <a:pPr indent="0" marL="0">
              <a:buNone/>
            </a:pPr>
            <a:r>
              <a:rPr lang="en-US" sz="1000" b="1" spc="180" kern="0" dirty="0">
                <a:solidFill>
                  <a:srgbClr val="5A7482"/>
                </a:solidFill>
                <a:latin typeface="Calibri" pitchFamily="34" charset="0"/>
                <a:ea typeface="Calibri" pitchFamily="34" charset="-122"/>
                <a:cs typeface="Calibri" pitchFamily="34" charset="-120"/>
              </a:rPr>
              <a:t>LEVEL</a:t>
            </a:r>
            <a:endParaRPr lang="en-US" sz="1000" dirty="0"/>
          </a:p>
        </p:txBody>
      </p:sp>
      <p:sp>
        <p:nvSpPr>
          <p:cNvPr id="9" name="Text 6"/>
          <p:cNvSpPr txBox="1"/>
          <p:nvPr/>
        </p:nvSpPr>
        <p:spPr>
          <a:xfrm>
            <a:off x="3291840" y="2103120"/>
            <a:ext cx="3657600" cy="274320"/>
          </a:xfrm>
          <a:prstGeom prst="rect">
            <a:avLst/>
          </a:prstGeom>
          <a:noFill/>
          <a:ln/>
        </p:spPr>
        <p:txBody>
          <a:bodyPr wrap="square" lIns="0" tIns="0" rIns="0" bIns="0" rtlCol="0" anchor="ctr"/>
          <a:lstStyle/>
          <a:p>
            <a:pPr indent="0" marL="0">
              <a:buNone/>
            </a:pPr>
            <a:r>
              <a:rPr lang="en-US" sz="1000" b="1" spc="180" kern="0" dirty="0">
                <a:solidFill>
                  <a:srgbClr val="5A7482"/>
                </a:solidFill>
                <a:latin typeface="Calibri" pitchFamily="34" charset="0"/>
                <a:ea typeface="Calibri" pitchFamily="34" charset="-122"/>
                <a:cs typeface="Calibri" pitchFamily="34" charset="-120"/>
              </a:rPr>
              <a:t>TODAY</a:t>
            </a:r>
            <a:endParaRPr lang="en-US" sz="1000" dirty="0"/>
          </a:p>
        </p:txBody>
      </p:sp>
      <p:sp>
        <p:nvSpPr>
          <p:cNvPr id="10" name="Text 7"/>
          <p:cNvSpPr txBox="1"/>
          <p:nvPr/>
        </p:nvSpPr>
        <p:spPr>
          <a:xfrm>
            <a:off x="7360920" y="2103120"/>
            <a:ext cx="4023360" cy="274320"/>
          </a:xfrm>
          <a:prstGeom prst="rect">
            <a:avLst/>
          </a:prstGeom>
          <a:noFill/>
          <a:ln/>
        </p:spPr>
        <p:txBody>
          <a:bodyPr wrap="square" lIns="0" tIns="0" rIns="0" bIns="0" rtlCol="0" anchor="ctr"/>
          <a:lstStyle/>
          <a:p>
            <a:pPr indent="0" marL="0">
              <a:buNone/>
            </a:pPr>
            <a:r>
              <a:rPr lang="en-US" sz="1000" b="1" spc="180" kern="0" dirty="0">
                <a:solidFill>
                  <a:srgbClr val="08AF94"/>
                </a:solidFill>
                <a:latin typeface="Calibri" pitchFamily="34" charset="0"/>
                <a:ea typeface="Calibri" pitchFamily="34" charset="-122"/>
                <a:cs typeface="Calibri" pitchFamily="34" charset="-120"/>
              </a:rPr>
              <a:t>WITH MENTORMUNI</a:t>
            </a:r>
            <a:endParaRPr lang="en-US" sz="1000" dirty="0"/>
          </a:p>
        </p:txBody>
      </p:sp>
      <p:sp>
        <p:nvSpPr>
          <p:cNvPr id="11" name="Shape 8"/>
          <p:cNvSpPr/>
          <p:nvPr/>
        </p:nvSpPr>
        <p:spPr>
          <a:xfrm>
            <a:off x="640080" y="2487168"/>
            <a:ext cx="10908792" cy="676656"/>
          </a:xfrm>
          <a:prstGeom prst="roundRect">
            <a:avLst>
              <a:gd name="adj" fmla="val 8108"/>
            </a:avLst>
          </a:prstGeom>
          <a:solidFill>
            <a:srgbClr val="E7F1F7"/>
          </a:solidFill>
          <a:ln w="12700">
            <a:solidFill>
              <a:srgbClr val="FFFFFF"/>
            </a:solidFill>
            <a:prstDash val="solid"/>
          </a:ln>
        </p:spPr>
      </p:sp>
      <p:sp>
        <p:nvSpPr>
          <p:cNvPr id="12" name="Shape 9"/>
          <p:cNvSpPr/>
          <p:nvPr/>
        </p:nvSpPr>
        <p:spPr>
          <a:xfrm>
            <a:off x="868680" y="2752344"/>
            <a:ext cx="146304" cy="146304"/>
          </a:xfrm>
          <a:prstGeom prst="ellipse">
            <a:avLst/>
          </a:prstGeom>
          <a:solidFill>
            <a:srgbClr val="0B4257"/>
          </a:solidFill>
          <a:ln/>
        </p:spPr>
      </p:sp>
      <p:sp>
        <p:nvSpPr>
          <p:cNvPr id="13" name="Text 10"/>
          <p:cNvSpPr txBox="1"/>
          <p:nvPr/>
        </p:nvSpPr>
        <p:spPr>
          <a:xfrm>
            <a:off x="1115568" y="2487168"/>
            <a:ext cx="2103120" cy="676656"/>
          </a:xfrm>
          <a:prstGeom prst="rect">
            <a:avLst/>
          </a:prstGeom>
          <a:noFill/>
          <a:ln/>
        </p:spPr>
        <p:txBody>
          <a:bodyPr wrap="square" lIns="0" tIns="0" rIns="0" bIns="0" rtlCol="0" anchor="ctr"/>
          <a:lstStyle/>
          <a:p>
            <a:pPr indent="0" marL="0">
              <a:buNone/>
            </a:pPr>
            <a:r>
              <a:rPr lang="en-US" sz="1350" b="1" dirty="0">
                <a:solidFill>
                  <a:srgbClr val="0B4257"/>
                </a:solidFill>
                <a:latin typeface="Calibri" pitchFamily="34" charset="0"/>
                <a:ea typeface="Calibri" pitchFamily="34" charset="-122"/>
                <a:cs typeface="Calibri" pitchFamily="34" charset="-120"/>
              </a:rPr>
              <a:t>Management</a:t>
            </a:r>
            <a:endParaRPr lang="en-US" sz="1350" dirty="0"/>
          </a:p>
        </p:txBody>
      </p:sp>
      <p:sp>
        <p:nvSpPr>
          <p:cNvPr id="14" name="Text 11"/>
          <p:cNvSpPr txBox="1"/>
          <p:nvPr/>
        </p:nvSpPr>
        <p:spPr>
          <a:xfrm>
            <a:off x="3291840" y="2487168"/>
            <a:ext cx="3840480" cy="676656"/>
          </a:xfrm>
          <a:prstGeom prst="rect">
            <a:avLst/>
          </a:prstGeom>
          <a:noFill/>
          <a:ln/>
        </p:spPr>
        <p:txBody>
          <a:bodyPr wrap="square" lIns="0" tIns="0" rIns="0" bIns="0" rtlCol="0" anchor="ctr"/>
          <a:lstStyle/>
          <a:p>
            <a:pPr indent="0" marL="0">
              <a:lnSpc>
                <a:spcPts val="1500"/>
              </a:lnSpc>
              <a:buNone/>
            </a:pPr>
            <a:r>
              <a:rPr lang="en-US" sz="1200" dirty="0">
                <a:solidFill>
                  <a:srgbClr val="5A7482"/>
                </a:solidFill>
                <a:latin typeface="Calibri" pitchFamily="34" charset="0"/>
                <a:ea typeface="Calibri" pitchFamily="34" charset="-122"/>
                <a:cs typeface="Calibri" pitchFamily="34" charset="-120"/>
              </a:rPr>
              <a:t>Placement % known only after the season ends</a:t>
            </a:r>
            <a:endParaRPr lang="en-US" sz="1200" dirty="0"/>
          </a:p>
        </p:txBody>
      </p:sp>
      <p:sp>
        <p:nvSpPr>
          <p:cNvPr id="15" name="Text 12"/>
          <p:cNvSpPr txBox="1"/>
          <p:nvPr/>
        </p:nvSpPr>
        <p:spPr>
          <a:xfrm>
            <a:off x="7360920" y="2487168"/>
            <a:ext cx="3977640" cy="676656"/>
          </a:xfrm>
          <a:prstGeom prst="rect">
            <a:avLst/>
          </a:prstGeom>
          <a:noFill/>
          <a:ln/>
        </p:spPr>
        <p:txBody>
          <a:bodyPr wrap="square" lIns="0" tIns="0" rIns="0" bIns="0" rtlCol="0" anchor="ctr"/>
          <a:lstStyle/>
          <a:p>
            <a:pPr indent="0" marL="0">
              <a:lnSpc>
                <a:spcPts val="1500"/>
              </a:lnSpc>
              <a:buNone/>
            </a:pPr>
            <a:r>
              <a:rPr lang="en-US" sz="1200" b="1" dirty="0">
                <a:solidFill>
                  <a:srgbClr val="0E5F7D"/>
                </a:solidFill>
                <a:latin typeface="Calibri" pitchFamily="34" charset="0"/>
                <a:ea typeface="Calibri" pitchFamily="34" charset="-122"/>
                <a:cs typeface="Calibri" pitchFamily="34" charset="-120"/>
              </a:rPr>
              <a:t>A live readiness trend and a mid-season lever to pull</a:t>
            </a:r>
            <a:endParaRPr lang="en-US" sz="1200" dirty="0"/>
          </a:p>
        </p:txBody>
      </p:sp>
      <p:sp>
        <p:nvSpPr>
          <p:cNvPr id="16" name="Shape 13"/>
          <p:cNvSpPr/>
          <p:nvPr/>
        </p:nvSpPr>
        <p:spPr>
          <a:xfrm>
            <a:off x="640080" y="3273552"/>
            <a:ext cx="10908792" cy="676656"/>
          </a:xfrm>
          <a:prstGeom prst="roundRect">
            <a:avLst>
              <a:gd name="adj" fmla="val 8108"/>
            </a:avLst>
          </a:prstGeom>
          <a:solidFill>
            <a:srgbClr val="FFFFFF"/>
          </a:solidFill>
          <a:ln w="12700">
            <a:solidFill>
              <a:srgbClr val="FFFFFF"/>
            </a:solidFill>
            <a:prstDash val="solid"/>
          </a:ln>
        </p:spPr>
      </p:sp>
      <p:sp>
        <p:nvSpPr>
          <p:cNvPr id="17" name="Shape 14"/>
          <p:cNvSpPr/>
          <p:nvPr/>
        </p:nvSpPr>
        <p:spPr>
          <a:xfrm>
            <a:off x="868680" y="3538728"/>
            <a:ext cx="146304" cy="146304"/>
          </a:xfrm>
          <a:prstGeom prst="ellipse">
            <a:avLst/>
          </a:prstGeom>
          <a:solidFill>
            <a:srgbClr val="0991BE"/>
          </a:solidFill>
          <a:ln/>
        </p:spPr>
      </p:sp>
      <p:sp>
        <p:nvSpPr>
          <p:cNvPr id="18" name="Text 15"/>
          <p:cNvSpPr txBox="1"/>
          <p:nvPr/>
        </p:nvSpPr>
        <p:spPr>
          <a:xfrm>
            <a:off x="1115568" y="3273552"/>
            <a:ext cx="2103120" cy="676656"/>
          </a:xfrm>
          <a:prstGeom prst="rect">
            <a:avLst/>
          </a:prstGeom>
          <a:noFill/>
          <a:ln/>
        </p:spPr>
        <p:txBody>
          <a:bodyPr wrap="square" lIns="0" tIns="0" rIns="0" bIns="0" rtlCol="0" anchor="ctr"/>
          <a:lstStyle/>
          <a:p>
            <a:pPr indent="0" marL="0">
              <a:buNone/>
            </a:pPr>
            <a:r>
              <a:rPr lang="en-US" sz="1350" b="1" dirty="0">
                <a:solidFill>
                  <a:srgbClr val="0B4257"/>
                </a:solidFill>
                <a:latin typeface="Calibri" pitchFamily="34" charset="0"/>
                <a:ea typeface="Calibri" pitchFamily="34" charset="-122"/>
                <a:cs typeface="Calibri" pitchFamily="34" charset="-120"/>
              </a:rPr>
              <a:t>TPO</a:t>
            </a:r>
            <a:endParaRPr lang="en-US" sz="1350" dirty="0"/>
          </a:p>
        </p:txBody>
      </p:sp>
      <p:sp>
        <p:nvSpPr>
          <p:cNvPr id="19" name="Text 16"/>
          <p:cNvSpPr txBox="1"/>
          <p:nvPr/>
        </p:nvSpPr>
        <p:spPr>
          <a:xfrm>
            <a:off x="3291840" y="3273552"/>
            <a:ext cx="3840480" cy="676656"/>
          </a:xfrm>
          <a:prstGeom prst="rect">
            <a:avLst/>
          </a:prstGeom>
          <a:noFill/>
          <a:ln/>
        </p:spPr>
        <p:txBody>
          <a:bodyPr wrap="square" lIns="0" tIns="0" rIns="0" bIns="0" rtlCol="0" anchor="ctr"/>
          <a:lstStyle/>
          <a:p>
            <a:pPr indent="0" marL="0">
              <a:lnSpc>
                <a:spcPts val="1500"/>
              </a:lnSpc>
              <a:buNone/>
            </a:pPr>
            <a:r>
              <a:rPr lang="en-US" sz="1200" dirty="0">
                <a:solidFill>
                  <a:srgbClr val="5A7482"/>
                </a:solidFill>
                <a:latin typeface="Calibri" pitchFamily="34" charset="0"/>
                <a:ea typeface="Calibri" pitchFamily="34" charset="-122"/>
                <a:cs typeface="Calibri" pitchFamily="34" charset="-120"/>
              </a:rPr>
              <a:t>Manual collation before every drive</a:t>
            </a:r>
            <a:endParaRPr lang="en-US" sz="1200" dirty="0"/>
          </a:p>
        </p:txBody>
      </p:sp>
      <p:sp>
        <p:nvSpPr>
          <p:cNvPr id="20" name="Text 17"/>
          <p:cNvSpPr txBox="1"/>
          <p:nvPr/>
        </p:nvSpPr>
        <p:spPr>
          <a:xfrm>
            <a:off x="7360920" y="3273552"/>
            <a:ext cx="3977640" cy="676656"/>
          </a:xfrm>
          <a:prstGeom prst="rect">
            <a:avLst/>
          </a:prstGeom>
          <a:noFill/>
          <a:ln/>
        </p:spPr>
        <p:txBody>
          <a:bodyPr wrap="square" lIns="0" tIns="0" rIns="0" bIns="0" rtlCol="0" anchor="ctr"/>
          <a:lstStyle/>
          <a:p>
            <a:pPr indent="0" marL="0">
              <a:lnSpc>
                <a:spcPts val="1500"/>
              </a:lnSpc>
              <a:buNone/>
            </a:pPr>
            <a:r>
              <a:rPr lang="en-US" sz="1200" b="1" dirty="0">
                <a:solidFill>
                  <a:srgbClr val="0E5F7D"/>
                </a:solidFill>
                <a:latin typeface="Calibri" pitchFamily="34" charset="0"/>
                <a:ea typeface="Calibri" pitchFamily="34" charset="-122"/>
                <a:cs typeface="Calibri" pitchFamily="34" charset="-120"/>
              </a:rPr>
              <a:t>A shortlist in one click and a brief you can forward</a:t>
            </a:r>
            <a:endParaRPr lang="en-US" sz="1200" dirty="0"/>
          </a:p>
        </p:txBody>
      </p:sp>
      <p:sp>
        <p:nvSpPr>
          <p:cNvPr id="21" name="Shape 18"/>
          <p:cNvSpPr/>
          <p:nvPr/>
        </p:nvSpPr>
        <p:spPr>
          <a:xfrm>
            <a:off x="640080" y="4059936"/>
            <a:ext cx="10908792" cy="676656"/>
          </a:xfrm>
          <a:prstGeom prst="roundRect">
            <a:avLst>
              <a:gd name="adj" fmla="val 8108"/>
            </a:avLst>
          </a:prstGeom>
          <a:solidFill>
            <a:srgbClr val="E7F1F7"/>
          </a:solidFill>
          <a:ln w="12700">
            <a:solidFill>
              <a:srgbClr val="FFFFFF"/>
            </a:solidFill>
            <a:prstDash val="solid"/>
          </a:ln>
        </p:spPr>
      </p:sp>
      <p:sp>
        <p:nvSpPr>
          <p:cNvPr id="22" name="Shape 19"/>
          <p:cNvSpPr/>
          <p:nvPr/>
        </p:nvSpPr>
        <p:spPr>
          <a:xfrm>
            <a:off x="868680" y="4325112"/>
            <a:ext cx="146304" cy="146304"/>
          </a:xfrm>
          <a:prstGeom prst="ellipse">
            <a:avLst/>
          </a:prstGeom>
          <a:solidFill>
            <a:srgbClr val="08AF94"/>
          </a:solidFill>
          <a:ln/>
        </p:spPr>
      </p:sp>
      <p:sp>
        <p:nvSpPr>
          <p:cNvPr id="23" name="Text 20"/>
          <p:cNvSpPr txBox="1"/>
          <p:nvPr/>
        </p:nvSpPr>
        <p:spPr>
          <a:xfrm>
            <a:off x="1115568" y="4059936"/>
            <a:ext cx="2103120" cy="676656"/>
          </a:xfrm>
          <a:prstGeom prst="rect">
            <a:avLst/>
          </a:prstGeom>
          <a:noFill/>
          <a:ln/>
        </p:spPr>
        <p:txBody>
          <a:bodyPr wrap="square" lIns="0" tIns="0" rIns="0" bIns="0" rtlCol="0" anchor="ctr"/>
          <a:lstStyle/>
          <a:p>
            <a:pPr indent="0" marL="0">
              <a:buNone/>
            </a:pPr>
            <a:r>
              <a:rPr lang="en-US" sz="1350" b="1" dirty="0">
                <a:solidFill>
                  <a:srgbClr val="0B4257"/>
                </a:solidFill>
                <a:latin typeface="Calibri" pitchFamily="34" charset="0"/>
                <a:ea typeface="Calibri" pitchFamily="34" charset="-122"/>
                <a:cs typeface="Calibri" pitchFamily="34" charset="-120"/>
              </a:rPr>
              <a:t>HOD</a:t>
            </a:r>
            <a:endParaRPr lang="en-US" sz="1350" dirty="0"/>
          </a:p>
        </p:txBody>
      </p:sp>
      <p:sp>
        <p:nvSpPr>
          <p:cNvPr id="24" name="Text 21"/>
          <p:cNvSpPr txBox="1"/>
          <p:nvPr/>
        </p:nvSpPr>
        <p:spPr>
          <a:xfrm>
            <a:off x="3291840" y="4059936"/>
            <a:ext cx="3840480" cy="676656"/>
          </a:xfrm>
          <a:prstGeom prst="rect">
            <a:avLst/>
          </a:prstGeom>
          <a:noFill/>
          <a:ln/>
        </p:spPr>
        <p:txBody>
          <a:bodyPr wrap="square" lIns="0" tIns="0" rIns="0" bIns="0" rtlCol="0" anchor="ctr"/>
          <a:lstStyle/>
          <a:p>
            <a:pPr indent="0" marL="0">
              <a:lnSpc>
                <a:spcPts val="1500"/>
              </a:lnSpc>
              <a:buNone/>
            </a:pPr>
            <a:r>
              <a:rPr lang="en-US" sz="1200" dirty="0">
                <a:solidFill>
                  <a:srgbClr val="5A7482"/>
                </a:solidFill>
                <a:latin typeface="Calibri" pitchFamily="34" charset="0"/>
                <a:ea typeface="Calibri" pitchFamily="34" charset="-122"/>
                <a:cs typeface="Calibri" pitchFamily="34" charset="-120"/>
              </a:rPr>
              <a:t>Blind to their own branch until results arrive</a:t>
            </a:r>
            <a:endParaRPr lang="en-US" sz="1200" dirty="0"/>
          </a:p>
        </p:txBody>
      </p:sp>
      <p:sp>
        <p:nvSpPr>
          <p:cNvPr id="25" name="Text 22"/>
          <p:cNvSpPr txBox="1"/>
          <p:nvPr/>
        </p:nvSpPr>
        <p:spPr>
          <a:xfrm>
            <a:off x="7360920" y="4059936"/>
            <a:ext cx="3977640" cy="676656"/>
          </a:xfrm>
          <a:prstGeom prst="rect">
            <a:avLst/>
          </a:prstGeom>
          <a:noFill/>
          <a:ln/>
        </p:spPr>
        <p:txBody>
          <a:bodyPr wrap="square" lIns="0" tIns="0" rIns="0" bIns="0" rtlCol="0" anchor="ctr"/>
          <a:lstStyle/>
          <a:p>
            <a:pPr indent="0" marL="0">
              <a:lnSpc>
                <a:spcPts val="1500"/>
              </a:lnSpc>
              <a:buNone/>
            </a:pPr>
            <a:r>
              <a:rPr lang="en-US" sz="1200" b="1" dirty="0">
                <a:solidFill>
                  <a:srgbClr val="0E5F7D"/>
                </a:solidFill>
                <a:latin typeface="Calibri" pitchFamily="34" charset="0"/>
                <a:ea typeface="Calibri" pitchFamily="34" charset="-122"/>
                <a:cs typeface="Calibri" pitchFamily="34" charset="-120"/>
              </a:rPr>
              <a:t>Branch readiness live, with one-click intervention</a:t>
            </a:r>
            <a:endParaRPr lang="en-US" sz="1200" dirty="0"/>
          </a:p>
        </p:txBody>
      </p:sp>
      <p:sp>
        <p:nvSpPr>
          <p:cNvPr id="26" name="Shape 23"/>
          <p:cNvSpPr/>
          <p:nvPr/>
        </p:nvSpPr>
        <p:spPr>
          <a:xfrm>
            <a:off x="640080" y="4846320"/>
            <a:ext cx="10908792" cy="676656"/>
          </a:xfrm>
          <a:prstGeom prst="roundRect">
            <a:avLst>
              <a:gd name="adj" fmla="val 8108"/>
            </a:avLst>
          </a:prstGeom>
          <a:solidFill>
            <a:srgbClr val="FFFFFF"/>
          </a:solidFill>
          <a:ln w="12700">
            <a:solidFill>
              <a:srgbClr val="FFFFFF"/>
            </a:solidFill>
            <a:prstDash val="solid"/>
          </a:ln>
        </p:spPr>
      </p:sp>
      <p:sp>
        <p:nvSpPr>
          <p:cNvPr id="27" name="Shape 24"/>
          <p:cNvSpPr/>
          <p:nvPr/>
        </p:nvSpPr>
        <p:spPr>
          <a:xfrm>
            <a:off x="868680" y="5111496"/>
            <a:ext cx="146304" cy="146304"/>
          </a:xfrm>
          <a:prstGeom prst="ellipse">
            <a:avLst/>
          </a:prstGeom>
          <a:solidFill>
            <a:srgbClr val="C2660A"/>
          </a:solidFill>
          <a:ln/>
        </p:spPr>
      </p:sp>
      <p:sp>
        <p:nvSpPr>
          <p:cNvPr id="28" name="Text 25"/>
          <p:cNvSpPr txBox="1"/>
          <p:nvPr/>
        </p:nvSpPr>
        <p:spPr>
          <a:xfrm>
            <a:off x="1115568" y="4846320"/>
            <a:ext cx="2103120" cy="676656"/>
          </a:xfrm>
          <a:prstGeom prst="rect">
            <a:avLst/>
          </a:prstGeom>
          <a:noFill/>
          <a:ln/>
        </p:spPr>
        <p:txBody>
          <a:bodyPr wrap="square" lIns="0" tIns="0" rIns="0" bIns="0" rtlCol="0" anchor="ctr"/>
          <a:lstStyle/>
          <a:p>
            <a:pPr indent="0" marL="0">
              <a:buNone/>
            </a:pPr>
            <a:r>
              <a:rPr lang="en-US" sz="1350" b="1" dirty="0">
                <a:solidFill>
                  <a:srgbClr val="0B4257"/>
                </a:solidFill>
                <a:latin typeface="Calibri" pitchFamily="34" charset="0"/>
                <a:ea typeface="Calibri" pitchFamily="34" charset="-122"/>
                <a:cs typeface="Calibri" pitchFamily="34" charset="-120"/>
              </a:rPr>
              <a:t>Faculty / Coordinator</a:t>
            </a:r>
            <a:endParaRPr lang="en-US" sz="1350" dirty="0"/>
          </a:p>
        </p:txBody>
      </p:sp>
      <p:sp>
        <p:nvSpPr>
          <p:cNvPr id="29" name="Text 26"/>
          <p:cNvSpPr txBox="1"/>
          <p:nvPr/>
        </p:nvSpPr>
        <p:spPr>
          <a:xfrm>
            <a:off x="3291840" y="4846320"/>
            <a:ext cx="3840480" cy="676656"/>
          </a:xfrm>
          <a:prstGeom prst="rect">
            <a:avLst/>
          </a:prstGeom>
          <a:noFill/>
          <a:ln/>
        </p:spPr>
        <p:txBody>
          <a:bodyPr wrap="square" lIns="0" tIns="0" rIns="0" bIns="0" rtlCol="0" anchor="ctr"/>
          <a:lstStyle/>
          <a:p>
            <a:pPr indent="0" marL="0">
              <a:lnSpc>
                <a:spcPts val="1500"/>
              </a:lnSpc>
              <a:buNone/>
            </a:pPr>
            <a:r>
              <a:rPr lang="en-US" sz="1200" dirty="0">
                <a:solidFill>
                  <a:srgbClr val="5A7482"/>
                </a:solidFill>
                <a:latin typeface="Calibri" pitchFamily="34" charset="0"/>
                <a:ea typeface="Calibri" pitchFamily="34" charset="-122"/>
                <a:cs typeface="Calibri" pitchFamily="34" charset="-120"/>
              </a:rPr>
              <a:t>Chasing students for updates over WhatsApp</a:t>
            </a:r>
            <a:endParaRPr lang="en-US" sz="1200" dirty="0"/>
          </a:p>
        </p:txBody>
      </p:sp>
      <p:sp>
        <p:nvSpPr>
          <p:cNvPr id="30" name="Text 27"/>
          <p:cNvSpPr txBox="1"/>
          <p:nvPr/>
        </p:nvSpPr>
        <p:spPr>
          <a:xfrm>
            <a:off x="7360920" y="4846320"/>
            <a:ext cx="3977640" cy="676656"/>
          </a:xfrm>
          <a:prstGeom prst="rect">
            <a:avLst/>
          </a:prstGeom>
          <a:noFill/>
          <a:ln/>
        </p:spPr>
        <p:txBody>
          <a:bodyPr wrap="square" lIns="0" tIns="0" rIns="0" bIns="0" rtlCol="0" anchor="ctr"/>
          <a:lstStyle/>
          <a:p>
            <a:pPr indent="0" marL="0">
              <a:lnSpc>
                <a:spcPts val="1500"/>
              </a:lnSpc>
              <a:buNone/>
            </a:pPr>
            <a:r>
              <a:rPr lang="en-US" sz="1200" b="1" dirty="0">
                <a:solidFill>
                  <a:srgbClr val="0E5F7D"/>
                </a:solidFill>
                <a:latin typeface="Calibri" pitchFamily="34" charset="0"/>
                <a:ea typeface="Calibri" pitchFamily="34" charset="-122"/>
                <a:cs typeface="Calibri" pitchFamily="34" charset="-120"/>
              </a:rPr>
              <a:t>A roster that updates itself and flags who is stuck</a:t>
            </a:r>
            <a:endParaRPr lang="en-US" sz="1200" dirty="0"/>
          </a:p>
        </p:txBody>
      </p:sp>
      <p:sp>
        <p:nvSpPr>
          <p:cNvPr id="31" name="Shape 28"/>
          <p:cNvSpPr/>
          <p:nvPr/>
        </p:nvSpPr>
        <p:spPr>
          <a:xfrm>
            <a:off x="640080" y="5632704"/>
            <a:ext cx="10908792" cy="676656"/>
          </a:xfrm>
          <a:prstGeom prst="roundRect">
            <a:avLst>
              <a:gd name="adj" fmla="val 8108"/>
            </a:avLst>
          </a:prstGeom>
          <a:solidFill>
            <a:srgbClr val="E7F1F7"/>
          </a:solidFill>
          <a:ln w="12700">
            <a:solidFill>
              <a:srgbClr val="FFFFFF"/>
            </a:solidFill>
            <a:prstDash val="solid"/>
          </a:ln>
        </p:spPr>
      </p:sp>
      <p:sp>
        <p:nvSpPr>
          <p:cNvPr id="32" name="Shape 29"/>
          <p:cNvSpPr/>
          <p:nvPr/>
        </p:nvSpPr>
        <p:spPr>
          <a:xfrm>
            <a:off x="868680" y="5897880"/>
            <a:ext cx="146304" cy="146304"/>
          </a:xfrm>
          <a:prstGeom prst="ellipse">
            <a:avLst/>
          </a:prstGeom>
          <a:solidFill>
            <a:srgbClr val="B85C00"/>
          </a:solidFill>
          <a:ln/>
        </p:spPr>
      </p:sp>
      <p:sp>
        <p:nvSpPr>
          <p:cNvPr id="33" name="Text 30"/>
          <p:cNvSpPr txBox="1"/>
          <p:nvPr/>
        </p:nvSpPr>
        <p:spPr>
          <a:xfrm>
            <a:off x="1115568" y="5632704"/>
            <a:ext cx="2103120" cy="676656"/>
          </a:xfrm>
          <a:prstGeom prst="rect">
            <a:avLst/>
          </a:prstGeom>
          <a:noFill/>
          <a:ln/>
        </p:spPr>
        <p:txBody>
          <a:bodyPr wrap="square" lIns="0" tIns="0" rIns="0" bIns="0" rtlCol="0" anchor="ctr"/>
          <a:lstStyle/>
          <a:p>
            <a:pPr indent="0" marL="0">
              <a:buNone/>
            </a:pPr>
            <a:r>
              <a:rPr lang="en-US" sz="1350" b="1" dirty="0">
                <a:solidFill>
                  <a:srgbClr val="0B4257"/>
                </a:solidFill>
                <a:latin typeface="Calibri" pitchFamily="34" charset="0"/>
                <a:ea typeface="Calibri" pitchFamily="34" charset="-122"/>
                <a:cs typeface="Calibri" pitchFamily="34" charset="-120"/>
              </a:rPr>
              <a:t>Student</a:t>
            </a:r>
            <a:endParaRPr lang="en-US" sz="1350" dirty="0"/>
          </a:p>
        </p:txBody>
      </p:sp>
      <p:sp>
        <p:nvSpPr>
          <p:cNvPr id="34" name="Text 31"/>
          <p:cNvSpPr txBox="1"/>
          <p:nvPr/>
        </p:nvSpPr>
        <p:spPr>
          <a:xfrm>
            <a:off x="3291840" y="5632704"/>
            <a:ext cx="3840480" cy="676656"/>
          </a:xfrm>
          <a:prstGeom prst="rect">
            <a:avLst/>
          </a:prstGeom>
          <a:noFill/>
          <a:ln/>
        </p:spPr>
        <p:txBody>
          <a:bodyPr wrap="square" lIns="0" tIns="0" rIns="0" bIns="0" rtlCol="0" anchor="ctr"/>
          <a:lstStyle/>
          <a:p>
            <a:pPr indent="0" marL="0">
              <a:lnSpc>
                <a:spcPts val="1500"/>
              </a:lnSpc>
              <a:buNone/>
            </a:pPr>
            <a:r>
              <a:rPr lang="en-US" sz="1200" dirty="0">
                <a:solidFill>
                  <a:srgbClr val="5A7482"/>
                </a:solidFill>
                <a:latin typeface="Calibri" pitchFamily="34" charset="0"/>
                <a:ea typeface="Calibri" pitchFamily="34" charset="-122"/>
                <a:cs typeface="Calibri" pitchFamily="34" charset="-120"/>
              </a:rPr>
              <a:t>Random prep, no feedback, no idea where they stand</a:t>
            </a:r>
            <a:endParaRPr lang="en-US" sz="1200" dirty="0"/>
          </a:p>
        </p:txBody>
      </p:sp>
      <p:sp>
        <p:nvSpPr>
          <p:cNvPr id="35" name="Text 32"/>
          <p:cNvSpPr txBox="1"/>
          <p:nvPr/>
        </p:nvSpPr>
        <p:spPr>
          <a:xfrm>
            <a:off x="7360920" y="5632704"/>
            <a:ext cx="3977640" cy="676656"/>
          </a:xfrm>
          <a:prstGeom prst="rect">
            <a:avLst/>
          </a:prstGeom>
          <a:noFill/>
          <a:ln/>
        </p:spPr>
        <p:txBody>
          <a:bodyPr wrap="square" lIns="0" tIns="0" rIns="0" bIns="0" rtlCol="0" anchor="ctr"/>
          <a:lstStyle/>
          <a:p>
            <a:pPr indent="0" marL="0">
              <a:lnSpc>
                <a:spcPts val="1500"/>
              </a:lnSpc>
              <a:buNone/>
            </a:pPr>
            <a:r>
              <a:rPr lang="en-US" sz="1200" b="1" dirty="0">
                <a:solidFill>
                  <a:srgbClr val="0E5F7D"/>
                </a:solidFill>
                <a:latin typeface="Calibri" pitchFamily="34" charset="0"/>
                <a:ea typeface="Calibri" pitchFamily="34" charset="-122"/>
                <a:cs typeface="Calibri" pitchFamily="34" charset="-120"/>
              </a:rPr>
              <a:t>A daily plan, a scored mock every day, one honest score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384048"/>
            <a:ext cx="8229600" cy="274320"/>
          </a:xfrm>
          <a:prstGeom prst="rect">
            <a:avLst/>
          </a:prstGeom>
          <a:noFill/>
          <a:ln/>
        </p:spPr>
        <p:txBody>
          <a:bodyPr wrap="square" lIns="0" tIns="0" rIns="0" bIns="0" rtlCol="0" anchor="ctr"/>
          <a:lstStyle/>
          <a:p>
            <a:pPr indent="0" marL="0">
              <a:buNone/>
            </a:pPr>
            <a:r>
              <a:rPr lang="en-US" sz="1150" b="1" spc="260" kern="0" dirty="0">
                <a:solidFill>
                  <a:srgbClr val="08AF94"/>
                </a:solidFill>
                <a:latin typeface="Calibri" pitchFamily="34" charset="0"/>
                <a:ea typeface="Calibri" pitchFamily="34" charset="-122"/>
                <a:cs typeface="Calibri" pitchFamily="34" charset="-120"/>
              </a:rPr>
              <a:t>APPENDIX · THE AUDIT</a:t>
            </a:r>
            <a:endParaRPr lang="en-US" sz="1150" dirty="0"/>
          </a:p>
        </p:txBody>
      </p:sp>
      <p:sp>
        <p:nvSpPr>
          <p:cNvPr id="6" name="Text 3"/>
          <p:cNvSpPr txBox="1"/>
          <p:nvPr/>
        </p:nvSpPr>
        <p:spPr>
          <a:xfrm>
            <a:off x="640080" y="640080"/>
            <a:ext cx="8595360" cy="960120"/>
          </a:xfrm>
          <a:prstGeom prst="rect">
            <a:avLst/>
          </a:prstGeom>
          <a:noFill/>
          <a:ln/>
        </p:spPr>
        <p:txBody>
          <a:bodyPr wrap="square" lIns="0" tIns="0" rIns="0" bIns="0" rtlCol="0" anchor="t"/>
          <a:lstStyle/>
          <a:p>
            <a:pPr indent="0" marL="0">
              <a:buNone/>
            </a:pPr>
            <a:r>
              <a:rPr lang="en-US" sz="2900" b="1" dirty="0">
                <a:solidFill>
                  <a:srgbClr val="0B4257"/>
                </a:solidFill>
                <a:latin typeface="Calibri" pitchFamily="34" charset="0"/>
                <a:ea typeface="Calibri" pitchFamily="34" charset="-122"/>
                <a:cs typeface="Calibri" pitchFamily="34" charset="-120"/>
              </a:rPr>
              <a:t>One licence replaces a stack you already buy</a:t>
            </a:r>
            <a:endParaRPr lang="en-US" sz="2900" dirty="0"/>
          </a:p>
        </p:txBody>
      </p:sp>
      <p:sp>
        <p:nvSpPr>
          <p:cNvPr id="7" name="Text 4"/>
          <p:cNvSpPr txBox="1"/>
          <p:nvPr/>
        </p:nvSpPr>
        <p:spPr>
          <a:xfrm>
            <a:off x="640080" y="1609344"/>
            <a:ext cx="10881360" cy="384048"/>
          </a:xfrm>
          <a:prstGeom prst="rect">
            <a:avLst/>
          </a:prstGeom>
          <a:noFill/>
          <a:ln/>
        </p:spPr>
        <p:txBody>
          <a:bodyPr wrap="square" lIns="0" tIns="0" rIns="0" bIns="0" rtlCol="0" anchor="t"/>
          <a:lstStyle/>
          <a:p>
            <a:pPr indent="0" marL="0">
              <a:buNone/>
            </a:pPr>
            <a:r>
              <a:rPr lang="en-US" sz="1450" dirty="0">
                <a:solidFill>
                  <a:srgbClr val="5A7482"/>
                </a:solidFill>
                <a:latin typeface="Calibri" pitchFamily="34" charset="0"/>
                <a:ea typeface="Calibri" pitchFamily="34" charset="-122"/>
                <a:cs typeface="Calibri" pitchFamily="34" charset="-120"/>
              </a:rPr>
              <a:t>Run this as an exercise, not a slide. Fill the middle column in with them, line by line.</a:t>
            </a:r>
            <a:endParaRPr lang="en-US" sz="1450" dirty="0"/>
          </a:p>
        </p:txBody>
      </p:sp>
      <p:sp>
        <p:nvSpPr>
          <p:cNvPr id="8" name="Text 5"/>
          <p:cNvSpPr txBox="1"/>
          <p:nvPr/>
        </p:nvSpPr>
        <p:spPr>
          <a:xfrm>
            <a:off x="868680" y="1993392"/>
            <a:ext cx="3657600" cy="256032"/>
          </a:xfrm>
          <a:prstGeom prst="rect">
            <a:avLst/>
          </a:prstGeom>
          <a:noFill/>
          <a:ln/>
        </p:spPr>
        <p:txBody>
          <a:bodyPr wrap="square" lIns="0" tIns="0" rIns="0" bIns="0" rtlCol="0" anchor="ctr"/>
          <a:lstStyle/>
          <a:p>
            <a:pPr indent="0" marL="0">
              <a:buNone/>
            </a:pPr>
            <a:r>
              <a:rPr lang="en-US" sz="1000" b="1" spc="160" kern="0" dirty="0">
                <a:solidFill>
                  <a:srgbClr val="5A7482"/>
                </a:solidFill>
                <a:latin typeface="Calibri" pitchFamily="34" charset="0"/>
                <a:ea typeface="Calibri" pitchFamily="34" charset="-122"/>
                <a:cs typeface="Calibri" pitchFamily="34" charset="-120"/>
              </a:rPr>
              <a:t>WHAT YOU BUY TODAY</a:t>
            </a:r>
            <a:endParaRPr lang="en-US" sz="1000" dirty="0"/>
          </a:p>
        </p:txBody>
      </p:sp>
      <p:sp>
        <p:nvSpPr>
          <p:cNvPr id="9" name="Text 6"/>
          <p:cNvSpPr txBox="1"/>
          <p:nvPr/>
        </p:nvSpPr>
        <p:spPr>
          <a:xfrm>
            <a:off x="4846320" y="1993392"/>
            <a:ext cx="2286000" cy="256032"/>
          </a:xfrm>
          <a:prstGeom prst="rect">
            <a:avLst/>
          </a:prstGeom>
          <a:noFill/>
          <a:ln/>
        </p:spPr>
        <p:txBody>
          <a:bodyPr wrap="square" lIns="0" tIns="0" rIns="0" bIns="0" rtlCol="0" anchor="ctr"/>
          <a:lstStyle/>
          <a:p>
            <a:pPr indent="0" marL="0">
              <a:buNone/>
            </a:pPr>
            <a:r>
              <a:rPr lang="en-US" sz="1000" b="1" spc="160" kern="0" dirty="0">
                <a:solidFill>
                  <a:srgbClr val="B85C00"/>
                </a:solidFill>
                <a:latin typeface="Calibri" pitchFamily="34" charset="0"/>
                <a:ea typeface="Calibri" pitchFamily="34" charset="-122"/>
                <a:cs typeface="Calibri" pitchFamily="34" charset="-120"/>
              </a:rPr>
              <a:t>YOUR ANNUAL SPEND</a:t>
            </a:r>
            <a:endParaRPr lang="en-US" sz="1000" dirty="0"/>
          </a:p>
        </p:txBody>
      </p:sp>
      <p:sp>
        <p:nvSpPr>
          <p:cNvPr id="10" name="Text 7"/>
          <p:cNvSpPr txBox="1"/>
          <p:nvPr/>
        </p:nvSpPr>
        <p:spPr>
          <a:xfrm>
            <a:off x="7452360" y="1993392"/>
            <a:ext cx="3931920" cy="256032"/>
          </a:xfrm>
          <a:prstGeom prst="rect">
            <a:avLst/>
          </a:prstGeom>
          <a:noFill/>
          <a:ln/>
        </p:spPr>
        <p:txBody>
          <a:bodyPr wrap="square" lIns="0" tIns="0" rIns="0" bIns="0" rtlCol="0" anchor="ctr"/>
          <a:lstStyle/>
          <a:p>
            <a:pPr indent="0" marL="0">
              <a:buNone/>
            </a:pPr>
            <a:r>
              <a:rPr lang="en-US" sz="1000" b="1" spc="160" kern="0" dirty="0">
                <a:solidFill>
                  <a:srgbClr val="08AF94"/>
                </a:solidFill>
                <a:latin typeface="Calibri" pitchFamily="34" charset="0"/>
                <a:ea typeface="Calibri" pitchFamily="34" charset="-122"/>
                <a:cs typeface="Calibri" pitchFamily="34" charset="-120"/>
              </a:rPr>
              <a:t>COVERED BY MENTORMUNI</a:t>
            </a:r>
            <a:endParaRPr lang="en-US" sz="1000" dirty="0"/>
          </a:p>
        </p:txBody>
      </p:sp>
      <p:sp>
        <p:nvSpPr>
          <p:cNvPr id="11" name="Shape 8"/>
          <p:cNvSpPr/>
          <p:nvPr/>
        </p:nvSpPr>
        <p:spPr>
          <a:xfrm>
            <a:off x="640080" y="2322576"/>
            <a:ext cx="10908792" cy="493776"/>
          </a:xfrm>
          <a:prstGeom prst="roundRect">
            <a:avLst>
              <a:gd name="adj" fmla="val 12963"/>
            </a:avLst>
          </a:prstGeom>
          <a:solidFill>
            <a:srgbClr val="E7F1F7"/>
          </a:solidFill>
          <a:ln w="12700">
            <a:solidFill>
              <a:srgbClr val="FFFFFF"/>
            </a:solidFill>
            <a:prstDash val="solid"/>
          </a:ln>
        </p:spPr>
      </p:sp>
      <p:sp>
        <p:nvSpPr>
          <p:cNvPr id="12" name="Text 9"/>
          <p:cNvSpPr txBox="1"/>
          <p:nvPr/>
        </p:nvSpPr>
        <p:spPr>
          <a:xfrm>
            <a:off x="868680" y="2322576"/>
            <a:ext cx="3840480" cy="493776"/>
          </a:xfrm>
          <a:prstGeom prst="rect">
            <a:avLst/>
          </a:prstGeom>
          <a:noFill/>
          <a:ln/>
        </p:spPr>
        <p:txBody>
          <a:bodyPr wrap="square" lIns="0" tIns="0" rIns="0" bIns="0" rtlCol="0" anchor="ctr"/>
          <a:lstStyle/>
          <a:p>
            <a:pPr indent="0" marL="0">
              <a:buNone/>
            </a:pPr>
            <a:r>
              <a:rPr lang="en-US" sz="1250" b="1" dirty="0">
                <a:solidFill>
                  <a:srgbClr val="0B4257"/>
                </a:solidFill>
                <a:latin typeface="Calibri" pitchFamily="34" charset="0"/>
                <a:ea typeface="Calibri" pitchFamily="34" charset="-122"/>
                <a:cs typeface="Calibri" pitchFamily="34" charset="-120"/>
              </a:rPr>
              <a:t>Aptitude / assessment vendor</a:t>
            </a:r>
            <a:endParaRPr lang="en-US" sz="1250" dirty="0"/>
          </a:p>
        </p:txBody>
      </p:sp>
      <p:sp>
        <p:nvSpPr>
          <p:cNvPr id="13" name="Text 10"/>
          <p:cNvSpPr txBox="1"/>
          <p:nvPr/>
        </p:nvSpPr>
        <p:spPr>
          <a:xfrm>
            <a:off x="4846320" y="2322576"/>
            <a:ext cx="2377440" cy="493776"/>
          </a:xfrm>
          <a:prstGeom prst="rect">
            <a:avLst/>
          </a:prstGeom>
          <a:noFill/>
          <a:ln/>
        </p:spPr>
        <p:txBody>
          <a:bodyPr wrap="square" lIns="0" tIns="0" rIns="0" bIns="0" rtlCol="0" anchor="ctr"/>
          <a:lstStyle/>
          <a:p>
            <a:pPr indent="0" marL="0">
              <a:buNone/>
            </a:pPr>
            <a:r>
              <a:rPr lang="en-US" sz="1200" dirty="0">
                <a:solidFill>
                  <a:srgbClr val="93A8B4"/>
                </a:solidFill>
                <a:latin typeface="Calibri" pitchFamily="34" charset="0"/>
                <a:ea typeface="Calibri" pitchFamily="34" charset="-122"/>
                <a:cs typeface="Calibri" pitchFamily="34" charset="-120"/>
              </a:rPr>
              <a:t>₹ ______________</a:t>
            </a:r>
            <a:endParaRPr lang="en-US" sz="1200" dirty="0"/>
          </a:p>
        </p:txBody>
      </p:sp>
      <p:sp>
        <p:nvSpPr>
          <p:cNvPr id="14" name="Text 11"/>
          <p:cNvSpPr txBox="1"/>
          <p:nvPr/>
        </p:nvSpPr>
        <p:spPr>
          <a:xfrm>
            <a:off x="7452360" y="2322576"/>
            <a:ext cx="3931920" cy="493776"/>
          </a:xfrm>
          <a:prstGeom prst="rect">
            <a:avLst/>
          </a:prstGeom>
          <a:noFill/>
          <a:ln/>
        </p:spPr>
        <p:txBody>
          <a:bodyPr wrap="square" lIns="0" tIns="0" rIns="0" bIns="0" rtlCol="0" anchor="ctr"/>
          <a:lstStyle/>
          <a:p>
            <a:pPr indent="0" marL="0">
              <a:buNone/>
            </a:pPr>
            <a:r>
              <a:rPr lang="en-US" sz="1200" dirty="0">
                <a:solidFill>
                  <a:srgbClr val="0E5F7D"/>
                </a:solidFill>
                <a:latin typeface="Calibri" pitchFamily="34" charset="0"/>
                <a:ea typeface="Calibri" pitchFamily="34" charset="-122"/>
                <a:cs typeface="Calibri" pitchFamily="34" charset="-120"/>
              </a:rPr>
              <a:t>Included — run daily, not annually</a:t>
            </a:r>
            <a:endParaRPr lang="en-US" sz="1200" dirty="0"/>
          </a:p>
        </p:txBody>
      </p:sp>
      <p:sp>
        <p:nvSpPr>
          <p:cNvPr id="15" name="Shape 12"/>
          <p:cNvSpPr/>
          <p:nvPr/>
        </p:nvSpPr>
        <p:spPr>
          <a:xfrm>
            <a:off x="640080" y="2871216"/>
            <a:ext cx="10908792" cy="493776"/>
          </a:xfrm>
          <a:prstGeom prst="roundRect">
            <a:avLst>
              <a:gd name="adj" fmla="val 12963"/>
            </a:avLst>
          </a:prstGeom>
          <a:solidFill>
            <a:srgbClr val="FFFFFF"/>
          </a:solidFill>
          <a:ln w="12700">
            <a:solidFill>
              <a:srgbClr val="FFFFFF"/>
            </a:solidFill>
            <a:prstDash val="solid"/>
          </a:ln>
        </p:spPr>
      </p:sp>
      <p:sp>
        <p:nvSpPr>
          <p:cNvPr id="16" name="Text 13"/>
          <p:cNvSpPr txBox="1"/>
          <p:nvPr/>
        </p:nvSpPr>
        <p:spPr>
          <a:xfrm>
            <a:off x="868680" y="2871216"/>
            <a:ext cx="3840480" cy="493776"/>
          </a:xfrm>
          <a:prstGeom prst="rect">
            <a:avLst/>
          </a:prstGeom>
          <a:noFill/>
          <a:ln/>
        </p:spPr>
        <p:txBody>
          <a:bodyPr wrap="square" lIns="0" tIns="0" rIns="0" bIns="0" rtlCol="0" anchor="ctr"/>
          <a:lstStyle/>
          <a:p>
            <a:pPr indent="0" marL="0">
              <a:buNone/>
            </a:pPr>
            <a:r>
              <a:rPr lang="en-US" sz="1250" b="1" dirty="0">
                <a:solidFill>
                  <a:srgbClr val="0B4257"/>
                </a:solidFill>
                <a:latin typeface="Calibri" pitchFamily="34" charset="0"/>
                <a:ea typeface="Calibri" pitchFamily="34" charset="-122"/>
                <a:cs typeface="Calibri" pitchFamily="34" charset="-120"/>
              </a:rPr>
              <a:t>External mock interview panels</a:t>
            </a:r>
            <a:endParaRPr lang="en-US" sz="1250" dirty="0"/>
          </a:p>
        </p:txBody>
      </p:sp>
      <p:sp>
        <p:nvSpPr>
          <p:cNvPr id="17" name="Text 14"/>
          <p:cNvSpPr txBox="1"/>
          <p:nvPr/>
        </p:nvSpPr>
        <p:spPr>
          <a:xfrm>
            <a:off x="4846320" y="2871216"/>
            <a:ext cx="2377440" cy="493776"/>
          </a:xfrm>
          <a:prstGeom prst="rect">
            <a:avLst/>
          </a:prstGeom>
          <a:noFill/>
          <a:ln/>
        </p:spPr>
        <p:txBody>
          <a:bodyPr wrap="square" lIns="0" tIns="0" rIns="0" bIns="0" rtlCol="0" anchor="ctr"/>
          <a:lstStyle/>
          <a:p>
            <a:pPr indent="0" marL="0">
              <a:buNone/>
            </a:pPr>
            <a:r>
              <a:rPr lang="en-US" sz="1200" dirty="0">
                <a:solidFill>
                  <a:srgbClr val="93A8B4"/>
                </a:solidFill>
                <a:latin typeface="Calibri" pitchFamily="34" charset="0"/>
                <a:ea typeface="Calibri" pitchFamily="34" charset="-122"/>
                <a:cs typeface="Calibri" pitchFamily="34" charset="-120"/>
              </a:rPr>
              <a:t>₹ ______________</a:t>
            </a:r>
            <a:endParaRPr lang="en-US" sz="1200" dirty="0"/>
          </a:p>
        </p:txBody>
      </p:sp>
      <p:sp>
        <p:nvSpPr>
          <p:cNvPr id="18" name="Text 15"/>
          <p:cNvSpPr txBox="1"/>
          <p:nvPr/>
        </p:nvSpPr>
        <p:spPr>
          <a:xfrm>
            <a:off x="7452360" y="2871216"/>
            <a:ext cx="3931920" cy="493776"/>
          </a:xfrm>
          <a:prstGeom prst="rect">
            <a:avLst/>
          </a:prstGeom>
          <a:noFill/>
          <a:ln/>
        </p:spPr>
        <p:txBody>
          <a:bodyPr wrap="square" lIns="0" tIns="0" rIns="0" bIns="0" rtlCol="0" anchor="ctr"/>
          <a:lstStyle/>
          <a:p>
            <a:pPr indent="0" marL="0">
              <a:buNone/>
            </a:pPr>
            <a:r>
              <a:rPr lang="en-US" sz="1200" dirty="0">
                <a:solidFill>
                  <a:srgbClr val="0E5F7D"/>
                </a:solidFill>
                <a:latin typeface="Calibri" pitchFamily="34" charset="0"/>
                <a:ea typeface="Calibri" pitchFamily="34" charset="-122"/>
                <a:cs typeface="Calibri" pitchFamily="34" charset="-120"/>
              </a:rPr>
              <a:t>Included — a scored AI round every day, per student</a:t>
            </a:r>
            <a:endParaRPr lang="en-US" sz="1200" dirty="0"/>
          </a:p>
        </p:txBody>
      </p:sp>
      <p:sp>
        <p:nvSpPr>
          <p:cNvPr id="19" name="Shape 16"/>
          <p:cNvSpPr/>
          <p:nvPr/>
        </p:nvSpPr>
        <p:spPr>
          <a:xfrm>
            <a:off x="640080" y="3419856"/>
            <a:ext cx="10908792" cy="493776"/>
          </a:xfrm>
          <a:prstGeom prst="roundRect">
            <a:avLst>
              <a:gd name="adj" fmla="val 12963"/>
            </a:avLst>
          </a:prstGeom>
          <a:solidFill>
            <a:srgbClr val="E7F1F7"/>
          </a:solidFill>
          <a:ln w="12700">
            <a:solidFill>
              <a:srgbClr val="FFFFFF"/>
            </a:solidFill>
            <a:prstDash val="solid"/>
          </a:ln>
        </p:spPr>
      </p:sp>
      <p:sp>
        <p:nvSpPr>
          <p:cNvPr id="20" name="Text 17"/>
          <p:cNvSpPr txBox="1"/>
          <p:nvPr/>
        </p:nvSpPr>
        <p:spPr>
          <a:xfrm>
            <a:off x="868680" y="3419856"/>
            <a:ext cx="3840480" cy="493776"/>
          </a:xfrm>
          <a:prstGeom prst="rect">
            <a:avLst/>
          </a:prstGeom>
          <a:noFill/>
          <a:ln/>
        </p:spPr>
        <p:txBody>
          <a:bodyPr wrap="square" lIns="0" tIns="0" rIns="0" bIns="0" rtlCol="0" anchor="ctr"/>
          <a:lstStyle/>
          <a:p>
            <a:pPr indent="0" marL="0">
              <a:buNone/>
            </a:pPr>
            <a:r>
              <a:rPr lang="en-US" sz="1250" b="1" dirty="0">
                <a:solidFill>
                  <a:srgbClr val="0B4257"/>
                </a:solidFill>
                <a:latin typeface="Calibri" pitchFamily="34" charset="0"/>
                <a:ea typeface="Calibri" pitchFamily="34" charset="-122"/>
                <a:cs typeface="Calibri" pitchFamily="34" charset="-120"/>
              </a:rPr>
              <a:t>Soft-skills &amp; communication trainer</a:t>
            </a:r>
            <a:endParaRPr lang="en-US" sz="1250" dirty="0"/>
          </a:p>
        </p:txBody>
      </p:sp>
      <p:sp>
        <p:nvSpPr>
          <p:cNvPr id="21" name="Text 18"/>
          <p:cNvSpPr txBox="1"/>
          <p:nvPr/>
        </p:nvSpPr>
        <p:spPr>
          <a:xfrm>
            <a:off x="4846320" y="3419856"/>
            <a:ext cx="2377440" cy="493776"/>
          </a:xfrm>
          <a:prstGeom prst="rect">
            <a:avLst/>
          </a:prstGeom>
          <a:noFill/>
          <a:ln/>
        </p:spPr>
        <p:txBody>
          <a:bodyPr wrap="square" lIns="0" tIns="0" rIns="0" bIns="0" rtlCol="0" anchor="ctr"/>
          <a:lstStyle/>
          <a:p>
            <a:pPr indent="0" marL="0">
              <a:buNone/>
            </a:pPr>
            <a:r>
              <a:rPr lang="en-US" sz="1200" dirty="0">
                <a:solidFill>
                  <a:srgbClr val="93A8B4"/>
                </a:solidFill>
                <a:latin typeface="Calibri" pitchFamily="34" charset="0"/>
                <a:ea typeface="Calibri" pitchFamily="34" charset="-122"/>
                <a:cs typeface="Calibri" pitchFamily="34" charset="-120"/>
              </a:rPr>
              <a:t>₹ ______________</a:t>
            </a:r>
            <a:endParaRPr lang="en-US" sz="1200" dirty="0"/>
          </a:p>
        </p:txBody>
      </p:sp>
      <p:sp>
        <p:nvSpPr>
          <p:cNvPr id="22" name="Text 19"/>
          <p:cNvSpPr txBox="1"/>
          <p:nvPr/>
        </p:nvSpPr>
        <p:spPr>
          <a:xfrm>
            <a:off x="7452360" y="3419856"/>
            <a:ext cx="3931920" cy="493776"/>
          </a:xfrm>
          <a:prstGeom prst="rect">
            <a:avLst/>
          </a:prstGeom>
          <a:noFill/>
          <a:ln/>
        </p:spPr>
        <p:txBody>
          <a:bodyPr wrap="square" lIns="0" tIns="0" rIns="0" bIns="0" rtlCol="0" anchor="ctr"/>
          <a:lstStyle/>
          <a:p>
            <a:pPr indent="0" marL="0">
              <a:buNone/>
            </a:pPr>
            <a:r>
              <a:rPr lang="en-US" sz="1200" dirty="0">
                <a:solidFill>
                  <a:srgbClr val="0E5F7D"/>
                </a:solidFill>
                <a:latin typeface="Calibri" pitchFamily="34" charset="0"/>
                <a:ea typeface="Calibri" pitchFamily="34" charset="-122"/>
                <a:cs typeface="Calibri" pitchFamily="34" charset="-120"/>
              </a:rPr>
              <a:t>Included — HR and behavioural mocks</a:t>
            </a:r>
            <a:endParaRPr lang="en-US" sz="1200" dirty="0"/>
          </a:p>
        </p:txBody>
      </p:sp>
      <p:sp>
        <p:nvSpPr>
          <p:cNvPr id="23" name="Shape 20"/>
          <p:cNvSpPr/>
          <p:nvPr/>
        </p:nvSpPr>
        <p:spPr>
          <a:xfrm>
            <a:off x="640080" y="3968496"/>
            <a:ext cx="10908792" cy="493776"/>
          </a:xfrm>
          <a:prstGeom prst="roundRect">
            <a:avLst>
              <a:gd name="adj" fmla="val 12963"/>
            </a:avLst>
          </a:prstGeom>
          <a:solidFill>
            <a:srgbClr val="FFFFFF"/>
          </a:solidFill>
          <a:ln w="12700">
            <a:solidFill>
              <a:srgbClr val="FFFFFF"/>
            </a:solidFill>
            <a:prstDash val="solid"/>
          </a:ln>
        </p:spPr>
      </p:sp>
      <p:sp>
        <p:nvSpPr>
          <p:cNvPr id="24" name="Text 21"/>
          <p:cNvSpPr txBox="1"/>
          <p:nvPr/>
        </p:nvSpPr>
        <p:spPr>
          <a:xfrm>
            <a:off x="868680" y="3968496"/>
            <a:ext cx="3840480" cy="493776"/>
          </a:xfrm>
          <a:prstGeom prst="rect">
            <a:avLst/>
          </a:prstGeom>
          <a:noFill/>
          <a:ln/>
        </p:spPr>
        <p:txBody>
          <a:bodyPr wrap="square" lIns="0" tIns="0" rIns="0" bIns="0" rtlCol="0" anchor="ctr"/>
          <a:lstStyle/>
          <a:p>
            <a:pPr indent="0" marL="0">
              <a:buNone/>
            </a:pPr>
            <a:r>
              <a:rPr lang="en-US" sz="1250" b="1" dirty="0">
                <a:solidFill>
                  <a:srgbClr val="0B4257"/>
                </a:solidFill>
                <a:latin typeface="Calibri" pitchFamily="34" charset="0"/>
                <a:ea typeface="Calibri" pitchFamily="34" charset="-122"/>
                <a:cs typeface="Calibri" pitchFamily="34" charset="-120"/>
              </a:rPr>
              <a:t>Coding assessment platform</a:t>
            </a:r>
            <a:endParaRPr lang="en-US" sz="1250" dirty="0"/>
          </a:p>
        </p:txBody>
      </p:sp>
      <p:sp>
        <p:nvSpPr>
          <p:cNvPr id="25" name="Text 22"/>
          <p:cNvSpPr txBox="1"/>
          <p:nvPr/>
        </p:nvSpPr>
        <p:spPr>
          <a:xfrm>
            <a:off x="4846320" y="3968496"/>
            <a:ext cx="2377440" cy="493776"/>
          </a:xfrm>
          <a:prstGeom prst="rect">
            <a:avLst/>
          </a:prstGeom>
          <a:noFill/>
          <a:ln/>
        </p:spPr>
        <p:txBody>
          <a:bodyPr wrap="square" lIns="0" tIns="0" rIns="0" bIns="0" rtlCol="0" anchor="ctr"/>
          <a:lstStyle/>
          <a:p>
            <a:pPr indent="0" marL="0">
              <a:buNone/>
            </a:pPr>
            <a:r>
              <a:rPr lang="en-US" sz="1200" dirty="0">
                <a:solidFill>
                  <a:srgbClr val="93A8B4"/>
                </a:solidFill>
                <a:latin typeface="Calibri" pitchFamily="34" charset="0"/>
                <a:ea typeface="Calibri" pitchFamily="34" charset="-122"/>
                <a:cs typeface="Calibri" pitchFamily="34" charset="-120"/>
              </a:rPr>
              <a:t>₹ ______________</a:t>
            </a:r>
            <a:endParaRPr lang="en-US" sz="1200" dirty="0"/>
          </a:p>
        </p:txBody>
      </p:sp>
      <p:sp>
        <p:nvSpPr>
          <p:cNvPr id="26" name="Text 23"/>
          <p:cNvSpPr txBox="1"/>
          <p:nvPr/>
        </p:nvSpPr>
        <p:spPr>
          <a:xfrm>
            <a:off x="7452360" y="3968496"/>
            <a:ext cx="3931920" cy="493776"/>
          </a:xfrm>
          <a:prstGeom prst="rect">
            <a:avLst/>
          </a:prstGeom>
          <a:noFill/>
          <a:ln/>
        </p:spPr>
        <p:txBody>
          <a:bodyPr wrap="square" lIns="0" tIns="0" rIns="0" bIns="0" rtlCol="0" anchor="ctr"/>
          <a:lstStyle/>
          <a:p>
            <a:pPr indent="0" marL="0">
              <a:buNone/>
            </a:pPr>
            <a:r>
              <a:rPr lang="en-US" sz="1200" dirty="0">
                <a:solidFill>
                  <a:srgbClr val="0E5F7D"/>
                </a:solidFill>
                <a:latin typeface="Calibri" pitchFamily="34" charset="0"/>
                <a:ea typeface="Calibri" pitchFamily="34" charset="-122"/>
                <a:cs typeface="Calibri" pitchFamily="34" charset="-120"/>
              </a:rPr>
              <a:t>Included — coding round built in</a:t>
            </a:r>
            <a:endParaRPr lang="en-US" sz="1200" dirty="0"/>
          </a:p>
        </p:txBody>
      </p:sp>
      <p:sp>
        <p:nvSpPr>
          <p:cNvPr id="27" name="Shape 24"/>
          <p:cNvSpPr/>
          <p:nvPr/>
        </p:nvSpPr>
        <p:spPr>
          <a:xfrm>
            <a:off x="640080" y="4517136"/>
            <a:ext cx="10908792" cy="493776"/>
          </a:xfrm>
          <a:prstGeom prst="roundRect">
            <a:avLst>
              <a:gd name="adj" fmla="val 12963"/>
            </a:avLst>
          </a:prstGeom>
          <a:solidFill>
            <a:srgbClr val="E7F1F7"/>
          </a:solidFill>
          <a:ln w="12700">
            <a:solidFill>
              <a:srgbClr val="FFFFFF"/>
            </a:solidFill>
            <a:prstDash val="solid"/>
          </a:ln>
        </p:spPr>
      </p:sp>
      <p:sp>
        <p:nvSpPr>
          <p:cNvPr id="28" name="Text 25"/>
          <p:cNvSpPr txBox="1"/>
          <p:nvPr/>
        </p:nvSpPr>
        <p:spPr>
          <a:xfrm>
            <a:off x="868680" y="4517136"/>
            <a:ext cx="3840480" cy="493776"/>
          </a:xfrm>
          <a:prstGeom prst="rect">
            <a:avLst/>
          </a:prstGeom>
          <a:noFill/>
          <a:ln/>
        </p:spPr>
        <p:txBody>
          <a:bodyPr wrap="square" lIns="0" tIns="0" rIns="0" bIns="0" rtlCol="0" anchor="ctr"/>
          <a:lstStyle/>
          <a:p>
            <a:pPr indent="0" marL="0">
              <a:buNone/>
            </a:pPr>
            <a:r>
              <a:rPr lang="en-US" sz="1250" b="1" dirty="0">
                <a:solidFill>
                  <a:srgbClr val="0B4257"/>
                </a:solidFill>
                <a:latin typeface="Calibri" pitchFamily="34" charset="0"/>
                <a:ea typeface="Calibri" pitchFamily="34" charset="-122"/>
                <a:cs typeface="Calibri" pitchFamily="34" charset="-120"/>
              </a:rPr>
              <a:t>Resume / ATS review service</a:t>
            </a:r>
            <a:endParaRPr lang="en-US" sz="1250" dirty="0"/>
          </a:p>
        </p:txBody>
      </p:sp>
      <p:sp>
        <p:nvSpPr>
          <p:cNvPr id="29" name="Text 26"/>
          <p:cNvSpPr txBox="1"/>
          <p:nvPr/>
        </p:nvSpPr>
        <p:spPr>
          <a:xfrm>
            <a:off x="4846320" y="4517136"/>
            <a:ext cx="2377440" cy="493776"/>
          </a:xfrm>
          <a:prstGeom prst="rect">
            <a:avLst/>
          </a:prstGeom>
          <a:noFill/>
          <a:ln/>
        </p:spPr>
        <p:txBody>
          <a:bodyPr wrap="square" lIns="0" tIns="0" rIns="0" bIns="0" rtlCol="0" anchor="ctr"/>
          <a:lstStyle/>
          <a:p>
            <a:pPr indent="0" marL="0">
              <a:buNone/>
            </a:pPr>
            <a:r>
              <a:rPr lang="en-US" sz="1200" dirty="0">
                <a:solidFill>
                  <a:srgbClr val="93A8B4"/>
                </a:solidFill>
                <a:latin typeface="Calibri" pitchFamily="34" charset="0"/>
                <a:ea typeface="Calibri" pitchFamily="34" charset="-122"/>
                <a:cs typeface="Calibri" pitchFamily="34" charset="-120"/>
              </a:rPr>
              <a:t>₹ ______________</a:t>
            </a:r>
            <a:endParaRPr lang="en-US" sz="1200" dirty="0"/>
          </a:p>
        </p:txBody>
      </p:sp>
      <p:sp>
        <p:nvSpPr>
          <p:cNvPr id="30" name="Text 27"/>
          <p:cNvSpPr txBox="1"/>
          <p:nvPr/>
        </p:nvSpPr>
        <p:spPr>
          <a:xfrm>
            <a:off x="7452360" y="4517136"/>
            <a:ext cx="3931920" cy="493776"/>
          </a:xfrm>
          <a:prstGeom prst="rect">
            <a:avLst/>
          </a:prstGeom>
          <a:noFill/>
          <a:ln/>
        </p:spPr>
        <p:txBody>
          <a:bodyPr wrap="square" lIns="0" tIns="0" rIns="0" bIns="0" rtlCol="0" anchor="ctr"/>
          <a:lstStyle/>
          <a:p>
            <a:pPr indent="0" marL="0">
              <a:buNone/>
            </a:pPr>
            <a:r>
              <a:rPr lang="en-US" sz="1200" dirty="0">
                <a:solidFill>
                  <a:srgbClr val="0E5F7D"/>
                </a:solidFill>
                <a:latin typeface="Calibri" pitchFamily="34" charset="0"/>
                <a:ea typeface="Calibri" pitchFamily="34" charset="-122"/>
                <a:cs typeface="Calibri" pitchFamily="34" charset="-120"/>
              </a:rPr>
              <a:t>Included — scored and re-testable</a:t>
            </a:r>
            <a:endParaRPr lang="en-US" sz="1200" dirty="0"/>
          </a:p>
        </p:txBody>
      </p:sp>
      <p:sp>
        <p:nvSpPr>
          <p:cNvPr id="31" name="Shape 28"/>
          <p:cNvSpPr/>
          <p:nvPr/>
        </p:nvSpPr>
        <p:spPr>
          <a:xfrm>
            <a:off x="640080" y="5065776"/>
            <a:ext cx="10908792" cy="493776"/>
          </a:xfrm>
          <a:prstGeom prst="roundRect">
            <a:avLst>
              <a:gd name="adj" fmla="val 12963"/>
            </a:avLst>
          </a:prstGeom>
          <a:solidFill>
            <a:srgbClr val="FFFFFF"/>
          </a:solidFill>
          <a:ln w="12700">
            <a:solidFill>
              <a:srgbClr val="FFFFFF"/>
            </a:solidFill>
            <a:prstDash val="solid"/>
          </a:ln>
        </p:spPr>
      </p:sp>
      <p:sp>
        <p:nvSpPr>
          <p:cNvPr id="32" name="Text 29"/>
          <p:cNvSpPr txBox="1"/>
          <p:nvPr/>
        </p:nvSpPr>
        <p:spPr>
          <a:xfrm>
            <a:off x="868680" y="5065776"/>
            <a:ext cx="3840480" cy="493776"/>
          </a:xfrm>
          <a:prstGeom prst="rect">
            <a:avLst/>
          </a:prstGeom>
          <a:noFill/>
          <a:ln/>
        </p:spPr>
        <p:txBody>
          <a:bodyPr wrap="square" lIns="0" tIns="0" rIns="0" bIns="0" rtlCol="0" anchor="ctr"/>
          <a:lstStyle/>
          <a:p>
            <a:pPr indent="0" marL="0">
              <a:buNone/>
            </a:pPr>
            <a:r>
              <a:rPr lang="en-US" sz="1250" b="1" dirty="0">
                <a:solidFill>
                  <a:srgbClr val="0B4257"/>
                </a:solidFill>
                <a:latin typeface="Calibri" pitchFamily="34" charset="0"/>
                <a:ea typeface="Calibri" pitchFamily="34" charset="-122"/>
                <a:cs typeface="Calibri" pitchFamily="34" charset="-120"/>
              </a:rPr>
              <a:t>Placement-cell staff hours</a:t>
            </a:r>
            <a:endParaRPr lang="en-US" sz="1250" dirty="0"/>
          </a:p>
        </p:txBody>
      </p:sp>
      <p:sp>
        <p:nvSpPr>
          <p:cNvPr id="33" name="Text 30"/>
          <p:cNvSpPr txBox="1"/>
          <p:nvPr/>
        </p:nvSpPr>
        <p:spPr>
          <a:xfrm>
            <a:off x="4846320" y="5065776"/>
            <a:ext cx="2377440" cy="493776"/>
          </a:xfrm>
          <a:prstGeom prst="rect">
            <a:avLst/>
          </a:prstGeom>
          <a:noFill/>
          <a:ln/>
        </p:spPr>
        <p:txBody>
          <a:bodyPr wrap="square" lIns="0" tIns="0" rIns="0" bIns="0" rtlCol="0" anchor="ctr"/>
          <a:lstStyle/>
          <a:p>
            <a:pPr indent="0" marL="0">
              <a:buNone/>
            </a:pPr>
            <a:r>
              <a:rPr lang="en-US" sz="1200" dirty="0">
                <a:solidFill>
                  <a:srgbClr val="93A8B4"/>
                </a:solidFill>
                <a:latin typeface="Calibri" pitchFamily="34" charset="0"/>
                <a:ea typeface="Calibri" pitchFamily="34" charset="-122"/>
                <a:cs typeface="Calibri" pitchFamily="34" charset="-120"/>
              </a:rPr>
              <a:t>₹ ______________</a:t>
            </a:r>
            <a:endParaRPr lang="en-US" sz="1200" dirty="0"/>
          </a:p>
        </p:txBody>
      </p:sp>
      <p:sp>
        <p:nvSpPr>
          <p:cNvPr id="34" name="Text 31"/>
          <p:cNvSpPr txBox="1"/>
          <p:nvPr/>
        </p:nvSpPr>
        <p:spPr>
          <a:xfrm>
            <a:off x="7452360" y="5065776"/>
            <a:ext cx="3931920" cy="493776"/>
          </a:xfrm>
          <a:prstGeom prst="rect">
            <a:avLst/>
          </a:prstGeom>
          <a:noFill/>
          <a:ln/>
        </p:spPr>
        <p:txBody>
          <a:bodyPr wrap="square" lIns="0" tIns="0" rIns="0" bIns="0" rtlCol="0" anchor="ctr"/>
          <a:lstStyle/>
          <a:p>
            <a:pPr indent="0" marL="0">
              <a:buNone/>
            </a:pPr>
            <a:r>
              <a:rPr lang="en-US" sz="1200" dirty="0">
                <a:solidFill>
                  <a:srgbClr val="0E5F7D"/>
                </a:solidFill>
                <a:latin typeface="Calibri" pitchFamily="34" charset="0"/>
                <a:ea typeface="Calibri" pitchFamily="34" charset="-122"/>
                <a:cs typeface="Calibri" pitchFamily="34" charset="-120"/>
              </a:rPr>
              <a:t>Reduced to minutes per drive</a:t>
            </a:r>
            <a:endParaRPr lang="en-US" sz="1200" dirty="0"/>
          </a:p>
        </p:txBody>
      </p:sp>
      <p:sp>
        <p:nvSpPr>
          <p:cNvPr id="35" name="Shape 32"/>
          <p:cNvSpPr/>
          <p:nvPr/>
        </p:nvSpPr>
        <p:spPr>
          <a:xfrm>
            <a:off x="640080" y="5687568"/>
            <a:ext cx="10908792" cy="713232"/>
          </a:xfrm>
          <a:prstGeom prst="roundRect">
            <a:avLst>
              <a:gd name="adj" fmla="val 8974"/>
            </a:avLst>
          </a:prstGeom>
          <a:solidFill>
            <a:srgbClr val="0A6C8E"/>
          </a:solidFill>
          <a:ln/>
        </p:spPr>
      </p:sp>
      <p:sp>
        <p:nvSpPr>
          <p:cNvPr id="36" name="Text 33"/>
          <p:cNvSpPr txBox="1"/>
          <p:nvPr/>
        </p:nvSpPr>
        <p:spPr>
          <a:xfrm>
            <a:off x="960120" y="5687568"/>
            <a:ext cx="10241280"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Total their column, then put it next to ₹2,00,000 for the Computer Science pilot. The comparison does the arguing.</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7F1F7"/>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548640"/>
            <a:ext cx="8229600" cy="274320"/>
          </a:xfrm>
          <a:prstGeom prst="rect">
            <a:avLst/>
          </a:prstGeom>
          <a:noFill/>
          <a:ln/>
        </p:spPr>
        <p:txBody>
          <a:bodyPr wrap="square" lIns="0" tIns="0" rIns="0" bIns="0" rtlCol="0" anchor="ctr"/>
          <a:lstStyle/>
          <a:p>
            <a:pPr indent="0" marL="0">
              <a:buNone/>
            </a:pPr>
            <a:r>
              <a:rPr lang="en-US" sz="1150" b="1" spc="260" kern="0" dirty="0">
                <a:solidFill>
                  <a:srgbClr val="08AF94"/>
                </a:solidFill>
                <a:latin typeface="Calibri" pitchFamily="34" charset="0"/>
                <a:ea typeface="Calibri" pitchFamily="34" charset="-122"/>
                <a:cs typeface="Calibri" pitchFamily="34" charset="-120"/>
              </a:rPr>
              <a:t>APPENDIX · THE RETURN</a:t>
            </a:r>
            <a:endParaRPr lang="en-US" sz="1150" dirty="0"/>
          </a:p>
        </p:txBody>
      </p:sp>
      <p:sp>
        <p:nvSpPr>
          <p:cNvPr id="6" name="Text 3"/>
          <p:cNvSpPr txBox="1"/>
          <p:nvPr/>
        </p:nvSpPr>
        <p:spPr>
          <a:xfrm>
            <a:off x="640080" y="914400"/>
            <a:ext cx="8595360" cy="1417320"/>
          </a:xfrm>
          <a:prstGeom prst="rect">
            <a:avLst/>
          </a:prstGeom>
          <a:noFill/>
          <a:ln/>
        </p:spPr>
        <p:txBody>
          <a:bodyPr wrap="square" lIns="0" tIns="0" rIns="0" bIns="0" rtlCol="0" anchor="t"/>
          <a:lstStyle/>
          <a:p>
            <a:pPr indent="0" marL="0">
              <a:buNone/>
            </a:pPr>
            <a:r>
              <a:rPr lang="en-US" sz="3000" b="1" dirty="0">
                <a:solidFill>
                  <a:srgbClr val="0B4257"/>
                </a:solidFill>
                <a:latin typeface="Calibri" pitchFamily="34" charset="0"/>
                <a:ea typeface="Calibri" pitchFamily="34" charset="-122"/>
                <a:cs typeface="Calibri" pitchFamily="34" charset="-120"/>
              </a:rPr>
              <a:t>The licence does not have to save money.</a:t>
            </a:r>
            <a:endParaRPr lang="en-US" sz="3000" dirty="0"/>
          </a:p>
          <a:p>
            <a:pPr indent="0" marL="0">
              <a:buNone/>
            </a:pPr>
            <a:r>
              <a:rPr lang="en-US" sz="3000" b="1" dirty="0">
                <a:solidFill>
                  <a:srgbClr val="0B4257"/>
                </a:solidFill>
                <a:latin typeface="Calibri" pitchFamily="34" charset="0"/>
                <a:ea typeface="Calibri" pitchFamily="34" charset="-122"/>
                <a:cs typeface="Calibri" pitchFamily="34" charset="-120"/>
              </a:rPr>
              <a:t>It has to move the number.</a:t>
            </a:r>
            <a:endParaRPr lang="en-US" sz="3000" dirty="0"/>
          </a:p>
        </p:txBody>
      </p:sp>
      <p:sp>
        <p:nvSpPr>
          <p:cNvPr id="7" name="Shape 4"/>
          <p:cNvSpPr/>
          <p:nvPr/>
        </p:nvSpPr>
        <p:spPr>
          <a:xfrm>
            <a:off x="640080" y="2788920"/>
            <a:ext cx="5285232" cy="1463040"/>
          </a:xfrm>
          <a:prstGeom prst="roundRect">
            <a:avLst>
              <a:gd name="adj" fmla="val 2188"/>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8" name="Shape 5"/>
          <p:cNvSpPr/>
          <p:nvPr/>
        </p:nvSpPr>
        <p:spPr>
          <a:xfrm>
            <a:off x="932688" y="3081528"/>
            <a:ext cx="128016" cy="128016"/>
          </a:xfrm>
          <a:prstGeom prst="ellipse">
            <a:avLst/>
          </a:prstGeom>
          <a:solidFill>
            <a:srgbClr val="08AF94"/>
          </a:solidFill>
          <a:ln/>
        </p:spPr>
      </p:sp>
      <p:sp>
        <p:nvSpPr>
          <p:cNvPr id="9" name="Text 6"/>
          <p:cNvSpPr txBox="1"/>
          <p:nvPr/>
        </p:nvSpPr>
        <p:spPr>
          <a:xfrm>
            <a:off x="1207008" y="2990088"/>
            <a:ext cx="4480560" cy="320040"/>
          </a:xfrm>
          <a:prstGeom prst="rect">
            <a:avLst/>
          </a:prstGeom>
          <a:noFill/>
          <a:ln/>
        </p:spPr>
        <p:txBody>
          <a:bodyPr wrap="square" lIns="0" tIns="0" rIns="0" bIns="0" rtlCol="0" anchor="ctr"/>
          <a:lstStyle/>
          <a:p>
            <a:pPr indent="0" marL="0">
              <a:buNone/>
            </a:pPr>
            <a:r>
              <a:rPr lang="en-US" sz="1600" b="1" dirty="0">
                <a:solidFill>
                  <a:srgbClr val="0B4257"/>
                </a:solidFill>
                <a:latin typeface="Calibri" pitchFamily="34" charset="0"/>
                <a:ea typeface="Calibri" pitchFamily="34" charset="-122"/>
                <a:cs typeface="Calibri" pitchFamily="34" charset="-120"/>
              </a:rPr>
              <a:t>Placement %</a:t>
            </a:r>
            <a:endParaRPr lang="en-US" sz="1600" dirty="0"/>
          </a:p>
        </p:txBody>
      </p:sp>
      <p:sp>
        <p:nvSpPr>
          <p:cNvPr id="10" name="Text 7"/>
          <p:cNvSpPr txBox="1"/>
          <p:nvPr/>
        </p:nvSpPr>
        <p:spPr>
          <a:xfrm>
            <a:off x="1207008" y="3355848"/>
            <a:ext cx="4480560" cy="822960"/>
          </a:xfrm>
          <a:prstGeom prst="rect">
            <a:avLst/>
          </a:prstGeom>
          <a:noFill/>
          <a:ln/>
        </p:spPr>
        <p:txBody>
          <a:bodyPr wrap="square" lIns="0" tIns="0" rIns="0" bIns="0" rtlCol="0" anchor="ctr"/>
          <a:lstStyle/>
          <a:p>
            <a:pPr indent="0" marL="0">
              <a:lnSpc>
                <a:spcPts val="1700"/>
              </a:lnSpc>
              <a:buNone/>
            </a:pPr>
            <a:r>
              <a:rPr lang="en-US" sz="1250" dirty="0">
                <a:solidFill>
                  <a:srgbClr val="5A7482"/>
                </a:solidFill>
                <a:latin typeface="Calibri" pitchFamily="34" charset="0"/>
                <a:ea typeface="Calibri" pitchFamily="34" charset="-122"/>
                <a:cs typeface="Calibri" pitchFamily="34" charset="-120"/>
              </a:rPr>
              <a:t>Take your batch size and move it two points. Do that arithmetic in the room with their number — those are offers from students they already have.</a:t>
            </a:r>
            <a:endParaRPr lang="en-US" sz="1250" dirty="0"/>
          </a:p>
        </p:txBody>
      </p:sp>
      <p:sp>
        <p:nvSpPr>
          <p:cNvPr id="11" name="Shape 8"/>
          <p:cNvSpPr/>
          <p:nvPr/>
        </p:nvSpPr>
        <p:spPr>
          <a:xfrm>
            <a:off x="6263640" y="2788920"/>
            <a:ext cx="5285232" cy="1463040"/>
          </a:xfrm>
          <a:prstGeom prst="roundRect">
            <a:avLst>
              <a:gd name="adj" fmla="val 2188"/>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2" name="Shape 9"/>
          <p:cNvSpPr/>
          <p:nvPr/>
        </p:nvSpPr>
        <p:spPr>
          <a:xfrm>
            <a:off x="6556248" y="3081528"/>
            <a:ext cx="128016" cy="128016"/>
          </a:xfrm>
          <a:prstGeom prst="ellipse">
            <a:avLst/>
          </a:prstGeom>
          <a:solidFill>
            <a:srgbClr val="08AF94"/>
          </a:solidFill>
          <a:ln/>
        </p:spPr>
      </p:sp>
      <p:sp>
        <p:nvSpPr>
          <p:cNvPr id="13" name="Text 10"/>
          <p:cNvSpPr txBox="1"/>
          <p:nvPr/>
        </p:nvSpPr>
        <p:spPr>
          <a:xfrm>
            <a:off x="6830568" y="2990088"/>
            <a:ext cx="4480560" cy="320040"/>
          </a:xfrm>
          <a:prstGeom prst="rect">
            <a:avLst/>
          </a:prstGeom>
          <a:noFill/>
          <a:ln/>
        </p:spPr>
        <p:txBody>
          <a:bodyPr wrap="square" lIns="0" tIns="0" rIns="0" bIns="0" rtlCol="0" anchor="ctr"/>
          <a:lstStyle/>
          <a:p>
            <a:pPr indent="0" marL="0">
              <a:buNone/>
            </a:pPr>
            <a:r>
              <a:rPr lang="en-US" sz="1600" b="1" dirty="0">
                <a:solidFill>
                  <a:srgbClr val="0B4257"/>
                </a:solidFill>
                <a:latin typeface="Calibri" pitchFamily="34" charset="0"/>
                <a:ea typeface="Calibri" pitchFamily="34" charset="-122"/>
                <a:cs typeface="Calibri" pitchFamily="34" charset="-120"/>
              </a:rPr>
              <a:t>Admissions</a:t>
            </a:r>
            <a:endParaRPr lang="en-US" sz="1600" dirty="0"/>
          </a:p>
        </p:txBody>
      </p:sp>
      <p:sp>
        <p:nvSpPr>
          <p:cNvPr id="14" name="Text 11"/>
          <p:cNvSpPr txBox="1"/>
          <p:nvPr/>
        </p:nvSpPr>
        <p:spPr>
          <a:xfrm>
            <a:off x="6830568" y="3355848"/>
            <a:ext cx="4480560" cy="822960"/>
          </a:xfrm>
          <a:prstGeom prst="rect">
            <a:avLst/>
          </a:prstGeom>
          <a:noFill/>
          <a:ln/>
        </p:spPr>
        <p:txBody>
          <a:bodyPr wrap="square" lIns="0" tIns="0" rIns="0" bIns="0" rtlCol="0" anchor="ctr"/>
          <a:lstStyle/>
          <a:p>
            <a:pPr indent="0" marL="0">
              <a:lnSpc>
                <a:spcPts val="1700"/>
              </a:lnSpc>
              <a:buNone/>
            </a:pPr>
            <a:r>
              <a:rPr lang="en-US" sz="1250" dirty="0">
                <a:solidFill>
                  <a:srgbClr val="5A7482"/>
                </a:solidFill>
                <a:latin typeface="Calibri" pitchFamily="34" charset="0"/>
                <a:ea typeface="Calibri" pitchFamily="34" charset="-122"/>
                <a:cs typeface="Calibri" pitchFamily="34" charset="-120"/>
              </a:rPr>
              <a:t>Placement percentage is the first thing a parent in Indore checks. It is an admissions asset, not a placement metric.</a:t>
            </a:r>
            <a:endParaRPr lang="en-US" sz="1250" dirty="0"/>
          </a:p>
        </p:txBody>
      </p:sp>
      <p:sp>
        <p:nvSpPr>
          <p:cNvPr id="15" name="Shape 12"/>
          <p:cNvSpPr/>
          <p:nvPr/>
        </p:nvSpPr>
        <p:spPr>
          <a:xfrm>
            <a:off x="640080" y="4480560"/>
            <a:ext cx="5285232" cy="1463040"/>
          </a:xfrm>
          <a:prstGeom prst="roundRect">
            <a:avLst>
              <a:gd name="adj" fmla="val 2188"/>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6" name="Shape 13"/>
          <p:cNvSpPr/>
          <p:nvPr/>
        </p:nvSpPr>
        <p:spPr>
          <a:xfrm>
            <a:off x="932688" y="4773168"/>
            <a:ext cx="128016" cy="128016"/>
          </a:xfrm>
          <a:prstGeom prst="ellipse">
            <a:avLst/>
          </a:prstGeom>
          <a:solidFill>
            <a:srgbClr val="08AF94"/>
          </a:solidFill>
          <a:ln/>
        </p:spPr>
      </p:sp>
      <p:sp>
        <p:nvSpPr>
          <p:cNvPr id="17" name="Text 14"/>
          <p:cNvSpPr txBox="1"/>
          <p:nvPr/>
        </p:nvSpPr>
        <p:spPr>
          <a:xfrm>
            <a:off x="1207008" y="4681728"/>
            <a:ext cx="4480560" cy="320040"/>
          </a:xfrm>
          <a:prstGeom prst="rect">
            <a:avLst/>
          </a:prstGeom>
          <a:noFill/>
          <a:ln/>
        </p:spPr>
        <p:txBody>
          <a:bodyPr wrap="square" lIns="0" tIns="0" rIns="0" bIns="0" rtlCol="0" anchor="ctr"/>
          <a:lstStyle/>
          <a:p>
            <a:pPr indent="0" marL="0">
              <a:buNone/>
            </a:pPr>
            <a:r>
              <a:rPr lang="en-US" sz="1600" b="1" dirty="0">
                <a:solidFill>
                  <a:srgbClr val="0B4257"/>
                </a:solidFill>
                <a:latin typeface="Calibri" pitchFamily="34" charset="0"/>
                <a:ea typeface="Calibri" pitchFamily="34" charset="-122"/>
                <a:cs typeface="Calibri" pitchFamily="34" charset="-120"/>
              </a:rPr>
              <a:t>Recruiter trust</a:t>
            </a:r>
            <a:endParaRPr lang="en-US" sz="1600" dirty="0"/>
          </a:p>
        </p:txBody>
      </p:sp>
      <p:sp>
        <p:nvSpPr>
          <p:cNvPr id="18" name="Text 15"/>
          <p:cNvSpPr txBox="1"/>
          <p:nvPr/>
        </p:nvSpPr>
        <p:spPr>
          <a:xfrm>
            <a:off x="1207008" y="5047488"/>
            <a:ext cx="4480560" cy="822960"/>
          </a:xfrm>
          <a:prstGeom prst="rect">
            <a:avLst/>
          </a:prstGeom>
          <a:noFill/>
          <a:ln/>
        </p:spPr>
        <p:txBody>
          <a:bodyPr wrap="square" lIns="0" tIns="0" rIns="0" bIns="0" rtlCol="0" anchor="ctr"/>
          <a:lstStyle/>
          <a:p>
            <a:pPr indent="0" marL="0">
              <a:lnSpc>
                <a:spcPts val="1700"/>
              </a:lnSpc>
              <a:buNone/>
            </a:pPr>
            <a:r>
              <a:rPr lang="en-US" sz="1250" dirty="0">
                <a:solidFill>
                  <a:srgbClr val="5A7482"/>
                </a:solidFill>
                <a:latin typeface="Calibri" pitchFamily="34" charset="0"/>
                <a:ea typeface="Calibri" pitchFamily="34" charset="-122"/>
                <a:cs typeface="Calibri" pitchFamily="34" charset="-120"/>
              </a:rPr>
              <a:t>Send a pre-qualified, readiness-ranked shortlist and companies come back next year with more roles.</a:t>
            </a:r>
            <a:endParaRPr lang="en-US" sz="1250" dirty="0"/>
          </a:p>
        </p:txBody>
      </p:sp>
      <p:sp>
        <p:nvSpPr>
          <p:cNvPr id="19" name="Shape 16"/>
          <p:cNvSpPr/>
          <p:nvPr/>
        </p:nvSpPr>
        <p:spPr>
          <a:xfrm>
            <a:off x="6263640" y="4480560"/>
            <a:ext cx="5285232" cy="1463040"/>
          </a:xfrm>
          <a:prstGeom prst="roundRect">
            <a:avLst>
              <a:gd name="adj" fmla="val 2188"/>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20" name="Shape 17"/>
          <p:cNvSpPr/>
          <p:nvPr/>
        </p:nvSpPr>
        <p:spPr>
          <a:xfrm>
            <a:off x="6556248" y="4773168"/>
            <a:ext cx="128016" cy="128016"/>
          </a:xfrm>
          <a:prstGeom prst="ellipse">
            <a:avLst/>
          </a:prstGeom>
          <a:solidFill>
            <a:srgbClr val="08AF94"/>
          </a:solidFill>
          <a:ln/>
        </p:spPr>
      </p:sp>
      <p:sp>
        <p:nvSpPr>
          <p:cNvPr id="21" name="Text 18"/>
          <p:cNvSpPr txBox="1"/>
          <p:nvPr/>
        </p:nvSpPr>
        <p:spPr>
          <a:xfrm>
            <a:off x="6830568" y="4681728"/>
            <a:ext cx="4480560" cy="320040"/>
          </a:xfrm>
          <a:prstGeom prst="rect">
            <a:avLst/>
          </a:prstGeom>
          <a:noFill/>
          <a:ln/>
        </p:spPr>
        <p:txBody>
          <a:bodyPr wrap="square" lIns="0" tIns="0" rIns="0" bIns="0" rtlCol="0" anchor="ctr"/>
          <a:lstStyle/>
          <a:p>
            <a:pPr indent="0" marL="0">
              <a:buNone/>
            </a:pPr>
            <a:r>
              <a:rPr lang="en-US" sz="1600" b="1" dirty="0">
                <a:solidFill>
                  <a:srgbClr val="0B4257"/>
                </a:solidFill>
                <a:latin typeface="Calibri" pitchFamily="34" charset="0"/>
                <a:ea typeface="Calibri" pitchFamily="34" charset="-122"/>
                <a:cs typeface="Calibri" pitchFamily="34" charset="-120"/>
              </a:rPr>
              <a:t>Accreditation</a:t>
            </a:r>
            <a:endParaRPr lang="en-US" sz="1600" dirty="0"/>
          </a:p>
        </p:txBody>
      </p:sp>
      <p:sp>
        <p:nvSpPr>
          <p:cNvPr id="22" name="Text 19"/>
          <p:cNvSpPr txBox="1"/>
          <p:nvPr/>
        </p:nvSpPr>
        <p:spPr>
          <a:xfrm>
            <a:off x="6830568" y="5047488"/>
            <a:ext cx="4480560" cy="822960"/>
          </a:xfrm>
          <a:prstGeom prst="rect">
            <a:avLst/>
          </a:prstGeom>
          <a:noFill/>
          <a:ln/>
        </p:spPr>
        <p:txBody>
          <a:bodyPr wrap="square" lIns="0" tIns="0" rIns="0" bIns="0" rtlCol="0" anchor="ctr"/>
          <a:lstStyle/>
          <a:p>
            <a:pPr indent="0" marL="0">
              <a:lnSpc>
                <a:spcPts val="1700"/>
              </a:lnSpc>
              <a:buNone/>
            </a:pPr>
            <a:r>
              <a:rPr lang="en-US" sz="1250" dirty="0">
                <a:solidFill>
                  <a:srgbClr val="5A7482"/>
                </a:solidFill>
                <a:latin typeface="Calibri" pitchFamily="34" charset="0"/>
                <a:ea typeface="Calibri" pitchFamily="34" charset="-122"/>
                <a:cs typeface="Calibri" pitchFamily="34" charset="-120"/>
              </a:rPr>
              <a:t>Graduation outcomes and placement data carry weight in NIRF and NBA submissions — and it is already exportable.</a:t>
            </a:r>
            <a:endParaRPr lang="en-US" sz="1250" dirty="0"/>
          </a:p>
        </p:txBody>
      </p:sp>
      <p:sp>
        <p:nvSpPr>
          <p:cNvPr id="23" name="Text 20"/>
          <p:cNvSpPr txBox="1"/>
          <p:nvPr/>
        </p:nvSpPr>
        <p:spPr>
          <a:xfrm>
            <a:off x="640080" y="5989320"/>
            <a:ext cx="10881360" cy="411480"/>
          </a:xfrm>
          <a:prstGeom prst="rect">
            <a:avLst/>
          </a:prstGeom>
          <a:noFill/>
          <a:ln/>
        </p:spPr>
        <p:txBody>
          <a:bodyPr wrap="square" lIns="0" tIns="0" rIns="0" bIns="0" rtlCol="0" anchor="ctr"/>
          <a:lstStyle/>
          <a:p>
            <a:pPr indent="0" marL="0">
              <a:buNone/>
            </a:pPr>
            <a:r>
              <a:rPr lang="en-US" sz="1500" b="1" i="1" dirty="0">
                <a:solidFill>
                  <a:srgbClr val="0E5F7D"/>
                </a:solidFill>
                <a:latin typeface="Calibri" pitchFamily="34" charset="0"/>
                <a:ea typeface="Calibri" pitchFamily="34" charset="-122"/>
                <a:cs typeface="Calibri" pitchFamily="34" charset="-120"/>
              </a:rPr>
              <a:t>One additional placed student justifies more of this licence than any feature in this deck.</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384048"/>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APPENDIX · OBJECTION HANDLING</a:t>
            </a:r>
            <a:endParaRPr lang="en-US" sz="1150" dirty="0"/>
          </a:p>
        </p:txBody>
      </p:sp>
      <p:sp>
        <p:nvSpPr>
          <p:cNvPr id="6" name="Text 3"/>
          <p:cNvSpPr txBox="1"/>
          <p:nvPr/>
        </p:nvSpPr>
        <p:spPr>
          <a:xfrm>
            <a:off x="640080" y="640080"/>
            <a:ext cx="8595360" cy="960120"/>
          </a:xfrm>
          <a:prstGeom prst="rect">
            <a:avLst/>
          </a:prstGeom>
          <a:noFill/>
          <a:ln/>
        </p:spPr>
        <p:txBody>
          <a:bodyPr wrap="square" lIns="0" tIns="0" rIns="0" bIns="0" rtlCol="0" anchor="t"/>
          <a:lstStyle/>
          <a:p>
            <a:pPr indent="0" marL="0">
              <a:buNone/>
            </a:pPr>
            <a:r>
              <a:rPr lang="en-US" sz="2900" b="1" dirty="0">
                <a:solidFill>
                  <a:srgbClr val="0B4257"/>
                </a:solidFill>
                <a:latin typeface="Calibri" pitchFamily="34" charset="0"/>
                <a:ea typeface="Calibri" pitchFamily="34" charset="-122"/>
                <a:cs typeface="Calibri" pitchFamily="34" charset="-120"/>
              </a:rPr>
              <a:t>Your data, your tenant, your control</a:t>
            </a:r>
            <a:endParaRPr lang="en-US" sz="2900" dirty="0"/>
          </a:p>
        </p:txBody>
      </p:sp>
      <p:sp>
        <p:nvSpPr>
          <p:cNvPr id="7" name="Text 4"/>
          <p:cNvSpPr txBox="1"/>
          <p:nvPr/>
        </p:nvSpPr>
        <p:spPr>
          <a:xfrm>
            <a:off x="640080" y="1609344"/>
            <a:ext cx="10881360" cy="384048"/>
          </a:xfrm>
          <a:prstGeom prst="rect">
            <a:avLst/>
          </a:prstGeom>
          <a:noFill/>
          <a:ln/>
        </p:spPr>
        <p:txBody>
          <a:bodyPr wrap="square" lIns="0" tIns="0" rIns="0" bIns="0" rtlCol="0" anchor="t"/>
          <a:lstStyle/>
          <a:p>
            <a:pPr indent="0" marL="0">
              <a:buNone/>
            </a:pPr>
            <a:r>
              <a:rPr lang="en-US" sz="1450" dirty="0">
                <a:solidFill>
                  <a:srgbClr val="5A7482"/>
                </a:solidFill>
                <a:latin typeface="Calibri" pitchFamily="34" charset="0"/>
                <a:ea typeface="Calibri" pitchFamily="34" charset="-122"/>
                <a:cs typeface="Calibri" pitchFamily="34" charset="-120"/>
              </a:rPr>
              <a:t>The questions your IT head and your Director will ask — answered before they ask them.</a:t>
            </a:r>
            <a:endParaRPr lang="en-US" sz="1450" dirty="0"/>
          </a:p>
        </p:txBody>
      </p:sp>
      <p:sp>
        <p:nvSpPr>
          <p:cNvPr id="8" name="Shape 5"/>
          <p:cNvSpPr/>
          <p:nvPr/>
        </p:nvSpPr>
        <p:spPr>
          <a:xfrm>
            <a:off x="640080" y="2103120"/>
            <a:ext cx="5285232" cy="1737360"/>
          </a:xfrm>
          <a:prstGeom prst="roundRect">
            <a:avLst>
              <a:gd name="adj" fmla="val 1842"/>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9" name="Text 6"/>
          <p:cNvSpPr txBox="1"/>
          <p:nvPr/>
        </p:nvSpPr>
        <p:spPr>
          <a:xfrm>
            <a:off x="960120" y="2322576"/>
            <a:ext cx="4663440" cy="384048"/>
          </a:xfrm>
          <a:prstGeom prst="rect">
            <a:avLst/>
          </a:prstGeom>
          <a:noFill/>
          <a:ln/>
        </p:spPr>
        <p:txBody>
          <a:bodyPr wrap="square" lIns="0" tIns="0" rIns="0" bIns="0" rtlCol="0" anchor="ctr"/>
          <a:lstStyle/>
          <a:p>
            <a:pPr indent="0" marL="0">
              <a:buNone/>
            </a:pPr>
            <a:r>
              <a:rPr lang="en-US" sz="1550" b="1" dirty="0">
                <a:solidFill>
                  <a:srgbClr val="0991BE"/>
                </a:solidFill>
                <a:latin typeface="Calibri" pitchFamily="34" charset="0"/>
                <a:ea typeface="Calibri" pitchFamily="34" charset="-122"/>
                <a:cs typeface="Calibri" pitchFamily="34" charset="-120"/>
              </a:rPr>
              <a:t>Who can see our student data?</a:t>
            </a:r>
            <a:endParaRPr lang="en-US" sz="1550" dirty="0"/>
          </a:p>
        </p:txBody>
      </p:sp>
      <p:sp>
        <p:nvSpPr>
          <p:cNvPr id="10" name="Text 7"/>
          <p:cNvSpPr txBox="1"/>
          <p:nvPr/>
        </p:nvSpPr>
        <p:spPr>
          <a:xfrm>
            <a:off x="960120" y="2761488"/>
            <a:ext cx="4709160" cy="960120"/>
          </a:xfrm>
          <a:prstGeom prst="rect">
            <a:avLst/>
          </a:prstGeom>
          <a:noFill/>
          <a:ln/>
        </p:spPr>
        <p:txBody>
          <a:bodyPr wrap="square" lIns="0" tIns="0" rIns="0" bIns="0" rtlCol="0" anchor="ctr"/>
          <a:lstStyle/>
          <a:p>
            <a:pPr indent="0" marL="0">
              <a:lnSpc>
                <a:spcPts val="1600"/>
              </a:lnSpc>
              <a:buNone/>
            </a:pPr>
            <a:r>
              <a:rPr lang="en-US" sz="1200" dirty="0">
                <a:solidFill>
                  <a:srgbClr val="5A7482"/>
                </a:solidFill>
                <a:latin typeface="Calibri" pitchFamily="34" charset="0"/>
                <a:ea typeface="Calibri" pitchFamily="34" charset="-122"/>
                <a:cs typeface="Calibri" pitchFamily="34" charset="-120"/>
              </a:rPr>
              <a:t>Your college is a separate tenant. HODs are scoped to their own branch, the TPO to your campus. No other college can see anything of yours.</a:t>
            </a:r>
            <a:endParaRPr lang="en-US" sz="1200" dirty="0"/>
          </a:p>
        </p:txBody>
      </p:sp>
      <p:sp>
        <p:nvSpPr>
          <p:cNvPr id="11" name="Shape 8"/>
          <p:cNvSpPr/>
          <p:nvPr/>
        </p:nvSpPr>
        <p:spPr>
          <a:xfrm>
            <a:off x="6263640" y="2103120"/>
            <a:ext cx="5285232" cy="1737360"/>
          </a:xfrm>
          <a:prstGeom prst="roundRect">
            <a:avLst>
              <a:gd name="adj" fmla="val 1842"/>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2" name="Text 9"/>
          <p:cNvSpPr txBox="1"/>
          <p:nvPr/>
        </p:nvSpPr>
        <p:spPr>
          <a:xfrm>
            <a:off x="6583680" y="2322576"/>
            <a:ext cx="4663440" cy="384048"/>
          </a:xfrm>
          <a:prstGeom prst="rect">
            <a:avLst/>
          </a:prstGeom>
          <a:noFill/>
          <a:ln/>
        </p:spPr>
        <p:txBody>
          <a:bodyPr wrap="square" lIns="0" tIns="0" rIns="0" bIns="0" rtlCol="0" anchor="ctr"/>
          <a:lstStyle/>
          <a:p>
            <a:pPr indent="0" marL="0">
              <a:buNone/>
            </a:pPr>
            <a:r>
              <a:rPr lang="en-US" sz="1550" b="1" dirty="0">
                <a:solidFill>
                  <a:srgbClr val="0991BE"/>
                </a:solidFill>
                <a:latin typeface="Calibri" pitchFamily="34" charset="0"/>
                <a:ea typeface="Calibri" pitchFamily="34" charset="-122"/>
                <a:cs typeface="Calibri" pitchFamily="34" charset="-120"/>
              </a:rPr>
              <a:t>Do you own our students afterwards?</a:t>
            </a:r>
            <a:endParaRPr lang="en-US" sz="1550" dirty="0"/>
          </a:p>
        </p:txBody>
      </p:sp>
      <p:sp>
        <p:nvSpPr>
          <p:cNvPr id="13" name="Text 10"/>
          <p:cNvSpPr txBox="1"/>
          <p:nvPr/>
        </p:nvSpPr>
        <p:spPr>
          <a:xfrm>
            <a:off x="6583680" y="2761488"/>
            <a:ext cx="4709160" cy="960120"/>
          </a:xfrm>
          <a:prstGeom prst="rect">
            <a:avLst/>
          </a:prstGeom>
          <a:noFill/>
          <a:ln/>
        </p:spPr>
        <p:txBody>
          <a:bodyPr wrap="square" lIns="0" tIns="0" rIns="0" bIns="0" rtlCol="0" anchor="ctr"/>
          <a:lstStyle/>
          <a:p>
            <a:pPr indent="0" marL="0">
              <a:lnSpc>
                <a:spcPts val="1600"/>
              </a:lnSpc>
              <a:buNone/>
            </a:pPr>
            <a:r>
              <a:rPr lang="en-US" sz="1200" dirty="0">
                <a:solidFill>
                  <a:srgbClr val="5A7482"/>
                </a:solidFill>
                <a:latin typeface="Calibri" pitchFamily="34" charset="0"/>
                <a:ea typeface="Calibri" pitchFamily="34" charset="-122"/>
                <a:cs typeface="Calibri" pitchFamily="34" charset="-120"/>
              </a:rPr>
              <a:t>No. The roster, scores, and history belong to the institution. Exportable to CSV at any time, by you, without asking us.</a:t>
            </a:r>
            <a:endParaRPr lang="en-US" sz="1200" dirty="0"/>
          </a:p>
        </p:txBody>
      </p:sp>
      <p:sp>
        <p:nvSpPr>
          <p:cNvPr id="14" name="Shape 11"/>
          <p:cNvSpPr/>
          <p:nvPr/>
        </p:nvSpPr>
        <p:spPr>
          <a:xfrm>
            <a:off x="640080" y="4069080"/>
            <a:ext cx="5285232" cy="1737360"/>
          </a:xfrm>
          <a:prstGeom prst="roundRect">
            <a:avLst>
              <a:gd name="adj" fmla="val 1842"/>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5" name="Text 12"/>
          <p:cNvSpPr txBox="1"/>
          <p:nvPr/>
        </p:nvSpPr>
        <p:spPr>
          <a:xfrm>
            <a:off x="960120" y="4288536"/>
            <a:ext cx="4663440" cy="384048"/>
          </a:xfrm>
          <a:prstGeom prst="rect">
            <a:avLst/>
          </a:prstGeom>
          <a:noFill/>
          <a:ln/>
        </p:spPr>
        <p:txBody>
          <a:bodyPr wrap="square" lIns="0" tIns="0" rIns="0" bIns="0" rtlCol="0" anchor="ctr"/>
          <a:lstStyle/>
          <a:p>
            <a:pPr indent="0" marL="0">
              <a:buNone/>
            </a:pPr>
            <a:r>
              <a:rPr lang="en-US" sz="1550" b="1" dirty="0">
                <a:solidFill>
                  <a:srgbClr val="0991BE"/>
                </a:solidFill>
                <a:latin typeface="Calibri" pitchFamily="34" charset="0"/>
                <a:ea typeface="Calibri" pitchFamily="34" charset="-122"/>
                <a:cs typeface="Calibri" pitchFamily="34" charset="-120"/>
              </a:rPr>
              <a:t>What about the Fear → Fearless data?</a:t>
            </a:r>
            <a:endParaRPr lang="en-US" sz="1550" dirty="0"/>
          </a:p>
        </p:txBody>
      </p:sp>
      <p:sp>
        <p:nvSpPr>
          <p:cNvPr id="16" name="Text 13"/>
          <p:cNvSpPr txBox="1"/>
          <p:nvPr/>
        </p:nvSpPr>
        <p:spPr>
          <a:xfrm>
            <a:off x="960120" y="4727448"/>
            <a:ext cx="4709160" cy="960120"/>
          </a:xfrm>
          <a:prstGeom prst="rect">
            <a:avLst/>
          </a:prstGeom>
          <a:noFill/>
          <a:ln/>
        </p:spPr>
        <p:txBody>
          <a:bodyPr wrap="square" lIns="0" tIns="0" rIns="0" bIns="0" rtlCol="0" anchor="ctr"/>
          <a:lstStyle/>
          <a:p>
            <a:pPr indent="0" marL="0">
              <a:lnSpc>
                <a:spcPts val="1600"/>
              </a:lnSpc>
              <a:buNone/>
            </a:pPr>
            <a:r>
              <a:rPr lang="en-US" sz="1200" dirty="0">
                <a:solidFill>
                  <a:srgbClr val="5A7482"/>
                </a:solidFill>
                <a:latin typeface="Calibri" pitchFamily="34" charset="0"/>
                <a:ea typeface="Calibri" pitchFamily="34" charset="-122"/>
                <a:cs typeface="Calibri" pitchFamily="34" charset="-120"/>
              </a:rPr>
              <a:t>It is private to the student and never surfaces to TPO or HOD. It is a preparation tool, not a clinical assessment, and we will align the escalation wording with your student-welfare policy at onboarding.</a:t>
            </a:r>
            <a:endParaRPr lang="en-US" sz="1200" dirty="0"/>
          </a:p>
        </p:txBody>
      </p:sp>
      <p:sp>
        <p:nvSpPr>
          <p:cNvPr id="17" name="Shape 14"/>
          <p:cNvSpPr/>
          <p:nvPr/>
        </p:nvSpPr>
        <p:spPr>
          <a:xfrm>
            <a:off x="6263640" y="4069080"/>
            <a:ext cx="5285232" cy="1737360"/>
          </a:xfrm>
          <a:prstGeom prst="roundRect">
            <a:avLst>
              <a:gd name="adj" fmla="val 1842"/>
            </a:avLst>
          </a:prstGeom>
          <a:solidFill>
            <a:srgbClr val="FFFFFF"/>
          </a:solidFill>
          <a:ln w="9525">
            <a:solidFill>
              <a:srgbClr val="D9E6ED"/>
            </a:solidFill>
            <a:prstDash val="solid"/>
          </a:ln>
          <a:effectLst>
            <a:outerShdw sx="100000" sy="100000" kx="0" ky="0" algn="bl" rotWithShape="0" blurRad="177800" dist="38100" dir="5400000">
              <a:srgbClr val="0B4257">
                <a:alpha val="14000"/>
              </a:srgbClr>
            </a:outerShdw>
          </a:effectLst>
        </p:spPr>
      </p:sp>
      <p:sp>
        <p:nvSpPr>
          <p:cNvPr id="18" name="Text 15"/>
          <p:cNvSpPr txBox="1"/>
          <p:nvPr/>
        </p:nvSpPr>
        <p:spPr>
          <a:xfrm>
            <a:off x="6583680" y="4288536"/>
            <a:ext cx="4663440" cy="384048"/>
          </a:xfrm>
          <a:prstGeom prst="rect">
            <a:avLst/>
          </a:prstGeom>
          <a:noFill/>
          <a:ln/>
        </p:spPr>
        <p:txBody>
          <a:bodyPr wrap="square" lIns="0" tIns="0" rIns="0" bIns="0" rtlCol="0" anchor="ctr"/>
          <a:lstStyle/>
          <a:p>
            <a:pPr indent="0" marL="0">
              <a:buNone/>
            </a:pPr>
            <a:r>
              <a:rPr lang="en-US" sz="1550" b="1" dirty="0">
                <a:solidFill>
                  <a:srgbClr val="0991BE"/>
                </a:solidFill>
                <a:latin typeface="Calibri" pitchFamily="34" charset="0"/>
                <a:ea typeface="Calibri" pitchFamily="34" charset="-122"/>
                <a:cs typeface="Calibri" pitchFamily="34" charset="-120"/>
              </a:rPr>
              <a:t>How do accounts get created?</a:t>
            </a:r>
            <a:endParaRPr lang="en-US" sz="1550" dirty="0"/>
          </a:p>
        </p:txBody>
      </p:sp>
      <p:sp>
        <p:nvSpPr>
          <p:cNvPr id="19" name="Text 16"/>
          <p:cNvSpPr txBox="1"/>
          <p:nvPr/>
        </p:nvSpPr>
        <p:spPr>
          <a:xfrm>
            <a:off x="6583680" y="4727448"/>
            <a:ext cx="4709160" cy="960120"/>
          </a:xfrm>
          <a:prstGeom prst="rect">
            <a:avLst/>
          </a:prstGeom>
          <a:noFill/>
          <a:ln/>
        </p:spPr>
        <p:txBody>
          <a:bodyPr wrap="square" lIns="0" tIns="0" rIns="0" bIns="0" rtlCol="0" anchor="ctr"/>
          <a:lstStyle/>
          <a:p>
            <a:pPr indent="0" marL="0">
              <a:lnSpc>
                <a:spcPts val="1600"/>
              </a:lnSpc>
              <a:buNone/>
            </a:pPr>
            <a:r>
              <a:rPr lang="en-US" sz="1200" dirty="0">
                <a:solidFill>
                  <a:srgbClr val="5A7482"/>
                </a:solidFill>
                <a:latin typeface="Calibri" pitchFamily="34" charset="0"/>
                <a:ea typeface="Calibri" pitchFamily="34" charset="-122"/>
                <a:cs typeface="Calibri" pitchFamily="34" charset="-120"/>
              </a:rPr>
              <a:t>Invite and self-activation. Every user sets their own password from their own email — no shared credential sheets anywhere on campus.</a:t>
            </a:r>
            <a:endParaRPr lang="en-US" sz="1200" dirty="0"/>
          </a:p>
        </p:txBody>
      </p:sp>
      <p:sp>
        <p:nvSpPr>
          <p:cNvPr id="20" name="Text 17"/>
          <p:cNvSpPr txBox="1"/>
          <p:nvPr/>
        </p:nvSpPr>
        <p:spPr>
          <a:xfrm>
            <a:off x="640080" y="6126480"/>
            <a:ext cx="10881360" cy="365760"/>
          </a:xfrm>
          <a:prstGeom prst="rect">
            <a:avLst/>
          </a:prstGeom>
          <a:noFill/>
          <a:ln/>
        </p:spPr>
        <p:txBody>
          <a:bodyPr wrap="square" lIns="0" tIns="0" rIns="0" bIns="0" rtlCol="0" anchor="ctr"/>
          <a:lstStyle/>
          <a:p>
            <a:pPr indent="0" marL="0">
              <a:buNone/>
            </a:pPr>
            <a:r>
              <a:rPr lang="en-US" sz="1300" b="1" dirty="0">
                <a:solidFill>
                  <a:srgbClr val="0E5F7D"/>
                </a:solidFill>
                <a:latin typeface="Calibri" pitchFamily="34" charset="0"/>
                <a:ea typeface="Calibri" pitchFamily="34" charset="-122"/>
                <a:cs typeface="Calibri" pitchFamily="34" charset="-120"/>
              </a:rPr>
              <a:t>Raise these yourself before the room does. Volunteering the boundary is what makes people believe it.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APPENDIX · PLATFORM · MENTORMUNI OPERATIONS</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Your college is provisioned as its own tenant</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Isolated by design</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Your college is created as a separate organization with its own students, departments, and data boundary.</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Plan, seats, validity</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Subscription and seat count are attached at provisioning — you never share a pool with another campus.</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Then we hand over the keys</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An activation link creates your Org Admin. From that moment the placement office runs the portal, not us.</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60-platform-admin-login.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C"/>
        </a:solidFill>
      </p:bgPr>
    </p:bg>
    <p:spTree>
      <p:nvGrpSpPr>
        <p:cNvPr id="1" name=""/>
        <p:cNvGrpSpPr/>
        <p:nvPr/>
      </p:nvGrpSpPr>
      <p:grpSpPr>
        <a:xfrm>
          <a:off x="0" y="0"/>
          <a:ext cx="0" cy="0"/>
          <a:chOff x="0" y="0"/>
          <a:chExt cx="0" cy="0"/>
        </a:xfrm>
      </p:grpSpPr>
      <p:pic>
        <p:nvPicPr>
          <p:cNvPr id="2" name="Image 0" descr="/private/tmp/claude-501/-Users-rahul-Downloads-Frontend/d0ec5f7e-3815-469d-b386-d6cd0373fe94/scratchpad/logo-sm.png">    </p:cNvPr>
          <p:cNvPicPr>
            <a:picLocks noChangeAspect="1"/>
          </p:cNvPicPr>
          <p:nvPr/>
        </p:nvPicPr>
        <p:blipFill>
          <a:blip r:embed="rId1"/>
          <a:stretch>
            <a:fillRect/>
          </a:stretch>
        </p:blipFill>
        <p:spPr>
          <a:xfrm>
            <a:off x="9400032" y="310896"/>
            <a:ext cx="420624" cy="420624"/>
          </a:xfrm>
          <a:prstGeom prst="rect">
            <a:avLst/>
          </a:prstGeom>
        </p:spPr>
      </p:pic>
      <p:sp>
        <p:nvSpPr>
          <p:cNvPr id="3" name="Text 0"/>
          <p:cNvSpPr txBox="1"/>
          <p:nvPr/>
        </p:nvSpPr>
        <p:spPr>
          <a:xfrm>
            <a:off x="9875520" y="274320"/>
            <a:ext cx="1673352" cy="237744"/>
          </a:xfrm>
          <a:prstGeom prst="rect">
            <a:avLst/>
          </a:prstGeom>
          <a:noFill/>
          <a:ln/>
        </p:spPr>
        <p:txBody>
          <a:bodyPr wrap="square" lIns="0" tIns="0" rIns="0" bIns="0" rtlCol="0" anchor="ctr"/>
          <a:lstStyle/>
          <a:p>
            <a:pPr algn="r" indent="0" marL="0">
              <a:buNone/>
            </a:pPr>
            <a:r>
              <a:rPr lang="en-US" sz="1050" b="1" dirty="0">
                <a:solidFill>
                  <a:srgbClr val="0B4257"/>
                </a:solidFill>
                <a:latin typeface="Calibri" pitchFamily="34" charset="0"/>
                <a:ea typeface="Calibri" pitchFamily="34" charset="-122"/>
                <a:cs typeface="Calibri" pitchFamily="34" charset="-120"/>
              </a:rPr>
              <a:t>MentorMuni</a:t>
            </a:r>
            <a:endParaRPr lang="en-US" sz="1050" dirty="0"/>
          </a:p>
        </p:txBody>
      </p:sp>
      <p:sp>
        <p:nvSpPr>
          <p:cNvPr id="4" name="Text 1"/>
          <p:cNvSpPr txBox="1"/>
          <p:nvPr/>
        </p:nvSpPr>
        <p:spPr>
          <a:xfrm>
            <a:off x="9875520" y="512064"/>
            <a:ext cx="1673352" cy="384048"/>
          </a:xfrm>
          <a:prstGeom prst="rect">
            <a:avLst/>
          </a:prstGeom>
          <a:noFill/>
          <a:ln/>
        </p:spPr>
        <p:txBody>
          <a:bodyPr wrap="square" lIns="0" tIns="0" rIns="0" bIns="0" rtlCol="0" anchor="ctr"/>
          <a:lstStyle/>
          <a:p>
            <a:pPr algn="r" indent="0" marL="0">
              <a:lnSpc>
                <a:spcPts val="900"/>
              </a:lnSpc>
              <a:buNone/>
            </a:pPr>
            <a:r>
              <a:rPr lang="en-US" sz="700" dirty="0">
                <a:solidFill>
                  <a:srgbClr val="5A7482"/>
                </a:solidFill>
                <a:latin typeface="Calibri" pitchFamily="34" charset="0"/>
                <a:ea typeface="Calibri" pitchFamily="34" charset="-122"/>
                <a:cs typeface="Calibri" pitchFamily="34" charset="-120"/>
              </a:rPr>
              <a:t>Placement Platform for Engineering Colleges</a:t>
            </a:r>
            <a:endParaRPr lang="en-US" sz="700" dirty="0"/>
          </a:p>
        </p:txBody>
      </p:sp>
      <p:sp>
        <p:nvSpPr>
          <p:cNvPr id="5" name="Text 2"/>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50" b="1" spc="260" kern="0" dirty="0">
                <a:solidFill>
                  <a:srgbClr val="0991BE"/>
                </a:solidFill>
                <a:latin typeface="Calibri" pitchFamily="34" charset="0"/>
                <a:ea typeface="Calibri" pitchFamily="34" charset="-122"/>
                <a:cs typeface="Calibri" pitchFamily="34" charset="-120"/>
              </a:rPr>
              <a:t>APPENDIX · STUDENT PORTAL · AI VOICE MENTOR</a:t>
            </a:r>
            <a:endParaRPr lang="en-US" sz="1150" dirty="0"/>
          </a:p>
        </p:txBody>
      </p:sp>
      <p:sp>
        <p:nvSpPr>
          <p:cNvPr id="6" name="Text 3"/>
          <p:cNvSpPr txBox="1"/>
          <p:nvPr/>
        </p:nvSpPr>
        <p:spPr>
          <a:xfrm>
            <a:off x="640080" y="685800"/>
            <a:ext cx="3977640" cy="1371600"/>
          </a:xfrm>
          <a:prstGeom prst="rect">
            <a:avLst/>
          </a:prstGeom>
          <a:noFill/>
          <a:ln/>
        </p:spPr>
        <p:txBody>
          <a:bodyPr wrap="square" lIns="0" tIns="0" rIns="0" bIns="0" rtlCol="0" anchor="t"/>
          <a:lstStyle/>
          <a:p>
            <a:pPr indent="0" marL="0">
              <a:lnSpc>
                <a:spcPts val="3000"/>
              </a:lnSpc>
              <a:buNone/>
            </a:pPr>
            <a:r>
              <a:rPr lang="en-US" sz="2500" b="1" dirty="0">
                <a:solidFill>
                  <a:srgbClr val="0B4257"/>
                </a:solidFill>
                <a:latin typeface="Calibri" pitchFamily="34" charset="0"/>
                <a:ea typeface="Calibri" pitchFamily="34" charset="-122"/>
                <a:cs typeface="Calibri" pitchFamily="34" charset="-120"/>
              </a:rPr>
              <a:t>A mentor that knows the student, available at 2am</a:t>
            </a:r>
            <a:endParaRPr lang="en-US" sz="2500" dirty="0"/>
          </a:p>
        </p:txBody>
      </p:sp>
      <p:sp>
        <p:nvSpPr>
          <p:cNvPr id="7" name="Shape 4"/>
          <p:cNvSpPr/>
          <p:nvPr/>
        </p:nvSpPr>
        <p:spPr>
          <a:xfrm>
            <a:off x="640080" y="2212848"/>
            <a:ext cx="329184" cy="329184"/>
          </a:xfrm>
          <a:prstGeom prst="ellipse">
            <a:avLst/>
          </a:prstGeom>
          <a:solidFill>
            <a:srgbClr val="0991BE"/>
          </a:solidFill>
          <a:ln/>
        </p:spPr>
      </p:sp>
      <p:sp>
        <p:nvSpPr>
          <p:cNvPr id="8" name="Text 5"/>
          <p:cNvSpPr txBox="1"/>
          <p:nvPr/>
        </p:nvSpPr>
        <p:spPr>
          <a:xfrm>
            <a:off x="640080" y="22128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6"/>
          <p:cNvSpPr txBox="1"/>
          <p:nvPr/>
        </p:nvSpPr>
        <p:spPr>
          <a:xfrm>
            <a:off x="1097280" y="2185416"/>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Context-aware, not a chatbot</a:t>
            </a:r>
            <a:endParaRPr lang="en-US" sz="1450" dirty="0"/>
          </a:p>
        </p:txBody>
      </p:sp>
      <p:sp>
        <p:nvSpPr>
          <p:cNvPr id="10" name="Text 7"/>
          <p:cNvSpPr txBox="1"/>
          <p:nvPr/>
        </p:nvSpPr>
        <p:spPr>
          <a:xfrm>
            <a:off x="1097280" y="2523744"/>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It already knows their baseline scores, weak areas, 90-day plan, and coding results before they speak.</a:t>
            </a:r>
            <a:endParaRPr lang="en-US" sz="1150" dirty="0"/>
          </a:p>
        </p:txBody>
      </p:sp>
      <p:sp>
        <p:nvSpPr>
          <p:cNvPr id="11" name="Shape 8"/>
          <p:cNvSpPr/>
          <p:nvPr/>
        </p:nvSpPr>
        <p:spPr>
          <a:xfrm>
            <a:off x="640080" y="3456432"/>
            <a:ext cx="329184" cy="329184"/>
          </a:xfrm>
          <a:prstGeom prst="ellipse">
            <a:avLst/>
          </a:prstGeom>
          <a:solidFill>
            <a:srgbClr val="08AF94"/>
          </a:solidFill>
          <a:ln/>
        </p:spPr>
      </p:sp>
      <p:sp>
        <p:nvSpPr>
          <p:cNvPr id="12" name="Text 9"/>
          <p:cNvSpPr txBox="1"/>
          <p:nvPr/>
        </p:nvSpPr>
        <p:spPr>
          <a:xfrm>
            <a:off x="640080" y="3456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0"/>
          <p:cNvSpPr txBox="1"/>
          <p:nvPr/>
        </p:nvSpPr>
        <p:spPr>
          <a:xfrm>
            <a:off x="1097280" y="3429000"/>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Live voice, not a text box</a:t>
            </a:r>
            <a:endParaRPr lang="en-US" sz="1450" dirty="0"/>
          </a:p>
        </p:txBody>
      </p:sp>
      <p:sp>
        <p:nvSpPr>
          <p:cNvPr id="14" name="Text 11"/>
          <p:cNvSpPr txBox="1"/>
          <p:nvPr/>
        </p:nvSpPr>
        <p:spPr>
          <a:xfrm>
            <a:off x="1097280" y="3767328"/>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The same realtime voice engine as the mock interviews — so speaking under pressure becomes normal.</a:t>
            </a:r>
            <a:endParaRPr lang="en-US" sz="1150" dirty="0"/>
          </a:p>
        </p:txBody>
      </p:sp>
      <p:sp>
        <p:nvSpPr>
          <p:cNvPr id="15" name="Shape 12"/>
          <p:cNvSpPr/>
          <p:nvPr/>
        </p:nvSpPr>
        <p:spPr>
          <a:xfrm>
            <a:off x="640080" y="4700016"/>
            <a:ext cx="329184" cy="329184"/>
          </a:xfrm>
          <a:prstGeom prst="ellipse">
            <a:avLst/>
          </a:prstGeom>
          <a:solidFill>
            <a:srgbClr val="C2660A"/>
          </a:solidFill>
          <a:ln/>
        </p:spPr>
      </p:sp>
      <p:sp>
        <p:nvSpPr>
          <p:cNvPr id="16" name="Text 13"/>
          <p:cNvSpPr txBox="1"/>
          <p:nvPr/>
        </p:nvSpPr>
        <p:spPr>
          <a:xfrm>
            <a:off x="640080" y="47000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1097280" y="4672584"/>
            <a:ext cx="3291840" cy="310896"/>
          </a:xfrm>
          <a:prstGeom prst="rect">
            <a:avLst/>
          </a:prstGeom>
          <a:noFill/>
          <a:ln/>
        </p:spPr>
        <p:txBody>
          <a:bodyPr wrap="square" lIns="0" tIns="0" rIns="0" bIns="0" rtlCol="0" anchor="ctr"/>
          <a:lstStyle/>
          <a:p>
            <a:pPr indent="0" marL="0">
              <a:buNone/>
            </a:pPr>
            <a:r>
              <a:rPr lang="en-US" sz="1450" b="1" dirty="0">
                <a:solidFill>
                  <a:srgbClr val="0B4257"/>
                </a:solidFill>
                <a:latin typeface="Calibri" pitchFamily="34" charset="0"/>
                <a:ea typeface="Calibri" pitchFamily="34" charset="-122"/>
                <a:cs typeface="Calibri" pitchFamily="34" charset="-120"/>
              </a:rPr>
              <a:t>Mentor capacity without hiring</a:t>
            </a:r>
            <a:endParaRPr lang="en-US" sz="1450" dirty="0"/>
          </a:p>
        </p:txBody>
      </p:sp>
      <p:sp>
        <p:nvSpPr>
          <p:cNvPr id="18" name="Text 15"/>
          <p:cNvSpPr txBox="1"/>
          <p:nvPr/>
        </p:nvSpPr>
        <p:spPr>
          <a:xfrm>
            <a:off x="1097280" y="5010912"/>
            <a:ext cx="3337560" cy="822960"/>
          </a:xfrm>
          <a:prstGeom prst="rect">
            <a:avLst/>
          </a:prstGeom>
          <a:noFill/>
          <a:ln/>
        </p:spPr>
        <p:txBody>
          <a:bodyPr wrap="square" lIns="0" tIns="0" rIns="0" bIns="0" rtlCol="0" anchor="ctr"/>
          <a:lstStyle/>
          <a:p>
            <a:pPr indent="0" marL="0">
              <a:lnSpc>
                <a:spcPts val="1550"/>
              </a:lnSpc>
              <a:buNone/>
            </a:pPr>
            <a:r>
              <a:rPr lang="en-US" sz="1150" dirty="0">
                <a:solidFill>
                  <a:srgbClr val="5A7482"/>
                </a:solidFill>
                <a:latin typeface="Calibri" pitchFamily="34" charset="0"/>
                <a:ea typeface="Calibri" pitchFamily="34" charset="-122"/>
                <a:cs typeface="Calibri" pitchFamily="34" charset="-120"/>
              </a:rPr>
              <a:t>First-line guidance for six hundred students without recruiting a single additional trainer.</a:t>
            </a:r>
            <a:endParaRPr lang="en-US" sz="1150" dirty="0"/>
          </a:p>
        </p:txBody>
      </p:sp>
      <p:sp>
        <p:nvSpPr>
          <p:cNvPr id="19" name="Shape 16"/>
          <p:cNvSpPr/>
          <p:nvPr/>
        </p:nvSpPr>
        <p:spPr>
          <a:xfrm>
            <a:off x="4837176" y="1152144"/>
            <a:ext cx="6830568" cy="4310253"/>
          </a:xfrm>
          <a:prstGeom prst="roundRect">
            <a:avLst>
              <a:gd name="adj" fmla="val 424"/>
            </a:avLst>
          </a:prstGeom>
          <a:solidFill>
            <a:srgbClr val="FFFFFF"/>
          </a:solidFill>
          <a:ln w="12700">
            <a:solidFill>
              <a:srgbClr val="C9DCE6"/>
            </a:solidFill>
            <a:prstDash val="solid"/>
          </a:ln>
          <a:effectLst>
            <a:outerShdw sx="100000" sy="100000" kx="0" ky="0" algn="bl" rotWithShape="0" blurRad="254000" dist="63500" dir="5400000">
              <a:srgbClr val="0B4257">
                <a:alpha val="20000"/>
              </a:srgbClr>
            </a:outerShdw>
          </a:effectLst>
        </p:spPr>
      </p:sp>
      <p:pic>
        <p:nvPicPr>
          <p:cNvPr id="20" name="Image 1" descr="/private/tmp/claude-501/-Users-rahul-Downloads-Frontend/d0ec5f7e-3815-469d-b386-d6cd0373fe94/scratchpad/shots/48-student-mentor.jpg">    </p:cNvPr>
          <p:cNvPicPr>
            <a:picLocks noChangeAspect="1"/>
          </p:cNvPicPr>
          <p:nvPr/>
        </p:nvPicPr>
        <p:blipFill>
          <a:blip r:embed="rId2"/>
          <a:stretch>
            <a:fillRect/>
          </a:stretch>
        </p:blipFill>
        <p:spPr>
          <a:xfrm>
            <a:off x="4892040" y="1207008"/>
            <a:ext cx="6720840" cy="42005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MentorMuni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MentorMuni — Placement Platform for Engineering Colleges</dc:title>
  <dc:subject>PptxGenJS Presentation</dc:subject>
  <dc:creator>MentorMuni</dc:creator>
  <cp:lastModifiedBy>MentorMuni</cp:lastModifiedBy>
  <cp:revision>1</cp:revision>
  <dcterms:created xsi:type="dcterms:W3CDTF">2026-08-29T10:38:33Z</dcterms:created>
  <dcterms:modified xsi:type="dcterms:W3CDTF">2026-08-29T10:38:33Z</dcterms:modified>
</cp:coreProperties>
</file>